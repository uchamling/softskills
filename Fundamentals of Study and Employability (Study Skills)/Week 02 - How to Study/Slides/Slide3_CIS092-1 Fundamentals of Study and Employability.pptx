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  <p:sldId id="272" r:id="rId18"/>
    <p:sldId id="275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undo redo custSel delSld modSld sldOrd">
      <pc:chgData name="Rai, Upama" userId="d8ca7f89-5e54-445b-9d24-0c0dc93119ec" providerId="ADAL" clId="{23F3D788-E39F-4307-9F13-A8E13E4C9956}" dt="2026-09-24T17:17:17.040" v="174" actId="20577"/>
      <pc:docMkLst>
        <pc:docMk/>
      </pc:docMkLst>
      <pc:sldChg chg="addSp delSp modSp mod ord">
        <pc:chgData name="Rai, Upama" userId="d8ca7f89-5e54-445b-9d24-0c0dc93119ec" providerId="ADAL" clId="{23F3D788-E39F-4307-9F13-A8E13E4C9956}" dt="2026-09-19T15:32:12.645" v="153"/>
        <pc:sldMkLst>
          <pc:docMk/>
          <pc:sldMk cId="1583413079" sldId="256"/>
        </pc:sldMkLst>
        <pc:spChg chg="mod">
          <ac:chgData name="Rai, Upama" userId="d8ca7f89-5e54-445b-9d24-0c0dc93119ec" providerId="ADAL" clId="{23F3D788-E39F-4307-9F13-A8E13E4C9956}" dt="2026-09-17T01:22:36.518" v="0"/>
          <ac:spMkLst>
            <pc:docMk/>
            <pc:sldMk cId="1583413079" sldId="256"/>
            <ac:spMk id="2" creationId="{0B3E48EF-0F05-E2DB-6C94-65DA6C6CA71F}"/>
          </ac:spMkLst>
        </pc:spChg>
        <pc:spChg chg="add mod">
          <ac:chgData name="Rai, Upama" userId="d8ca7f89-5e54-445b-9d24-0c0dc93119ec" providerId="ADAL" clId="{23F3D788-E39F-4307-9F13-A8E13E4C9956}" dt="2026-09-17T01:29:30.928" v="12" actId="27636"/>
          <ac:spMkLst>
            <pc:docMk/>
            <pc:sldMk cId="1583413079" sldId="256"/>
            <ac:spMk id="7" creationId="{3E3834C9-FF6A-1E25-F997-64A46AC5EC05}"/>
          </ac:spMkLst>
        </pc:spChg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1169698715" sldId="257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3458886312" sldId="258"/>
        </pc:sldMkLst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2279668294" sldId="259"/>
        </pc:sldMkLst>
        <pc:spChg chg="mod">
          <ac:chgData name="Rai, Upama" userId="d8ca7f89-5e54-445b-9d24-0c0dc93119ec" providerId="ADAL" clId="{23F3D788-E39F-4307-9F13-A8E13E4C9956}" dt="2026-09-17T01:30:27.956" v="14" actId="1076"/>
          <ac:spMkLst>
            <pc:docMk/>
            <pc:sldMk cId="2279668294" sldId="259"/>
            <ac:spMk id="2" creationId="{A5D7D233-646C-7278-8003-9148135DE965}"/>
          </ac:spMkLst>
        </pc:spChg>
        <pc:spChg chg="mod">
          <ac:chgData name="Rai, Upama" userId="d8ca7f89-5e54-445b-9d24-0c0dc93119ec" providerId="ADAL" clId="{23F3D788-E39F-4307-9F13-A8E13E4C9956}" dt="2026-09-17T04:45:19.351" v="125" actId="255"/>
          <ac:spMkLst>
            <pc:docMk/>
            <pc:sldMk cId="2279668294" sldId="259"/>
            <ac:spMk id="3" creationId="{C5C2E2C3-40A4-08BE-EFBC-69CC41EF45B2}"/>
          </ac:spMkLst>
        </pc:spChg>
        <pc:graphicFrameChg chg="mod">
          <ac:chgData name="Rai, Upama" userId="d8ca7f89-5e54-445b-9d24-0c0dc93119ec" providerId="ADAL" clId="{23F3D788-E39F-4307-9F13-A8E13E4C9956}" dt="2026-09-17T04:45:27.935" v="126" actId="1076"/>
          <ac:graphicFrameMkLst>
            <pc:docMk/>
            <pc:sldMk cId="2279668294" sldId="259"/>
            <ac:graphicFrameMk id="4" creationId="{10178933-D43D-D13F-D5AA-C395AA0634D2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1284949124" sldId="260"/>
        </pc:sldMkLst>
        <pc:spChg chg="mod">
          <ac:chgData name="Rai, Upama" userId="d8ca7f89-5e54-445b-9d24-0c0dc93119ec" providerId="ADAL" clId="{23F3D788-E39F-4307-9F13-A8E13E4C9956}" dt="2026-09-17T01:30:42.789" v="17" actId="1076"/>
          <ac:spMkLst>
            <pc:docMk/>
            <pc:sldMk cId="1284949124" sldId="260"/>
            <ac:spMk id="2" creationId="{8469F887-E658-1788-4718-7BAC8745B1CA}"/>
          </ac:spMkLst>
        </pc:spChg>
        <pc:spChg chg="mod">
          <ac:chgData name="Rai, Upama" userId="d8ca7f89-5e54-445b-9d24-0c0dc93119ec" providerId="ADAL" clId="{23F3D788-E39F-4307-9F13-A8E13E4C9956}" dt="2026-09-17T01:30:40.712" v="16" actId="1076"/>
          <ac:spMkLst>
            <pc:docMk/>
            <pc:sldMk cId="1284949124" sldId="260"/>
            <ac:spMk id="3" creationId="{3FAF0C34-2B48-97CC-947F-940E75388315}"/>
          </ac:spMkLst>
        </pc:spChg>
        <pc:graphicFrameChg chg="mod">
          <ac:chgData name="Rai, Upama" userId="d8ca7f89-5e54-445b-9d24-0c0dc93119ec" providerId="ADAL" clId="{23F3D788-E39F-4307-9F13-A8E13E4C9956}" dt="2026-09-17T01:30:49.367" v="19" actId="1076"/>
          <ac:graphicFrameMkLst>
            <pc:docMk/>
            <pc:sldMk cId="1284949124" sldId="260"/>
            <ac:graphicFrameMk id="4" creationId="{61491AFC-5A5F-7591-65EE-89EBCBA1B173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1605042930" sldId="261"/>
        </pc:sldMkLst>
        <pc:spChg chg="mod">
          <ac:chgData name="Rai, Upama" userId="d8ca7f89-5e54-445b-9d24-0c0dc93119ec" providerId="ADAL" clId="{23F3D788-E39F-4307-9F13-A8E13E4C9956}" dt="2026-09-17T01:30:54.081" v="20" actId="1076"/>
          <ac:spMkLst>
            <pc:docMk/>
            <pc:sldMk cId="1605042930" sldId="261"/>
            <ac:spMk id="2" creationId="{08FC9122-6239-F9B3-3745-F7F5F712C088}"/>
          </ac:spMkLst>
        </pc:spChg>
        <pc:spChg chg="mod">
          <ac:chgData name="Rai, Upama" userId="d8ca7f89-5e54-445b-9d24-0c0dc93119ec" providerId="ADAL" clId="{23F3D788-E39F-4307-9F13-A8E13E4C9956}" dt="2026-09-17T04:45:58.666" v="128" actId="27636"/>
          <ac:spMkLst>
            <pc:docMk/>
            <pc:sldMk cId="1605042930" sldId="261"/>
            <ac:spMk id="3" creationId="{E7CB622F-08C8-4BCE-2A9E-E67C0F0D4323}"/>
          </ac:spMkLst>
        </pc:spChg>
        <pc:graphicFrameChg chg="mod modGraphic">
          <ac:chgData name="Rai, Upama" userId="d8ca7f89-5e54-445b-9d24-0c0dc93119ec" providerId="ADAL" clId="{23F3D788-E39F-4307-9F13-A8E13E4C9956}" dt="2026-09-17T04:46:35.986" v="131" actId="1076"/>
          <ac:graphicFrameMkLst>
            <pc:docMk/>
            <pc:sldMk cId="1605042930" sldId="261"/>
            <ac:graphicFrameMk id="8" creationId="{018F2204-E0F6-B9EB-C57C-ACAABBD5288F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2227170989" sldId="262"/>
        </pc:sldMkLst>
        <pc:spChg chg="mod">
          <ac:chgData name="Rai, Upama" userId="d8ca7f89-5e54-445b-9d24-0c0dc93119ec" providerId="ADAL" clId="{23F3D788-E39F-4307-9F13-A8E13E4C9956}" dt="2026-09-17T01:33:58.088" v="92" actId="1076"/>
          <ac:spMkLst>
            <pc:docMk/>
            <pc:sldMk cId="2227170989" sldId="262"/>
            <ac:spMk id="2" creationId="{2EBF111C-C690-9FF9-B548-5EFD869AA5DA}"/>
          </ac:spMkLst>
        </pc:spChg>
        <pc:graphicFrameChg chg="mod modGraphic">
          <ac:chgData name="Rai, Upama" userId="d8ca7f89-5e54-445b-9d24-0c0dc93119ec" providerId="ADAL" clId="{23F3D788-E39F-4307-9F13-A8E13E4C9956}" dt="2026-09-17T04:46:47.727" v="132" actId="255"/>
          <ac:graphicFrameMkLst>
            <pc:docMk/>
            <pc:sldMk cId="2227170989" sldId="262"/>
            <ac:graphicFrameMk id="4" creationId="{417FA632-67D2-8F10-9558-DFD733438A7A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18870505" sldId="263"/>
        </pc:sldMkLst>
        <pc:spChg chg="mod">
          <ac:chgData name="Rai, Upama" userId="d8ca7f89-5e54-445b-9d24-0c0dc93119ec" providerId="ADAL" clId="{23F3D788-E39F-4307-9F13-A8E13E4C9956}" dt="2026-09-17T01:34:47.312" v="106" actId="1076"/>
          <ac:spMkLst>
            <pc:docMk/>
            <pc:sldMk cId="18870505" sldId="263"/>
            <ac:spMk id="2" creationId="{3531A910-A38D-E581-99BB-86F498565A6D}"/>
          </ac:spMkLst>
        </pc:spChg>
        <pc:spChg chg="mod">
          <ac:chgData name="Rai, Upama" userId="d8ca7f89-5e54-445b-9d24-0c0dc93119ec" providerId="ADAL" clId="{23F3D788-E39F-4307-9F13-A8E13E4C9956}" dt="2026-09-17T01:34:49.496" v="107" actId="1076"/>
          <ac:spMkLst>
            <pc:docMk/>
            <pc:sldMk cId="18870505" sldId="263"/>
            <ac:spMk id="3" creationId="{23F79EB1-C0DC-9D4A-B443-F8817984D21C}"/>
          </ac:spMkLst>
        </pc:spChg>
        <pc:graphicFrameChg chg="mod modGraphic">
          <ac:chgData name="Rai, Upama" userId="d8ca7f89-5e54-445b-9d24-0c0dc93119ec" providerId="ADAL" clId="{23F3D788-E39F-4307-9F13-A8E13E4C9956}" dt="2026-09-17T01:35:01.530" v="109" actId="255"/>
          <ac:graphicFrameMkLst>
            <pc:docMk/>
            <pc:sldMk cId="18870505" sldId="263"/>
            <ac:graphicFrameMk id="6" creationId="{1DF6033F-9795-EFEB-150A-F61C49150AAB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3715711385" sldId="264"/>
        </pc:sldMkLst>
        <pc:spChg chg="mod">
          <ac:chgData name="Rai, Upama" userId="d8ca7f89-5e54-445b-9d24-0c0dc93119ec" providerId="ADAL" clId="{23F3D788-E39F-4307-9F13-A8E13E4C9956}" dt="2026-09-17T01:35:09.694" v="110" actId="1076"/>
          <ac:spMkLst>
            <pc:docMk/>
            <pc:sldMk cId="3715711385" sldId="264"/>
            <ac:spMk id="2" creationId="{B08E694C-3C7B-86E5-F510-C1C1B7EB8153}"/>
          </ac:spMkLst>
        </pc:spChg>
        <pc:spChg chg="mod">
          <ac:chgData name="Rai, Upama" userId="d8ca7f89-5e54-445b-9d24-0c0dc93119ec" providerId="ADAL" clId="{23F3D788-E39F-4307-9F13-A8E13E4C9956}" dt="2026-09-17T01:35:12.048" v="111" actId="1076"/>
          <ac:spMkLst>
            <pc:docMk/>
            <pc:sldMk cId="3715711385" sldId="264"/>
            <ac:spMk id="3" creationId="{0A76AEC7-5155-BD8C-A7E1-86DBBF3B828A}"/>
          </ac:spMkLst>
        </pc:spChg>
        <pc:graphicFrameChg chg="mod modGraphic">
          <ac:chgData name="Rai, Upama" userId="d8ca7f89-5e54-445b-9d24-0c0dc93119ec" providerId="ADAL" clId="{23F3D788-E39F-4307-9F13-A8E13E4C9956}" dt="2026-09-17T04:47:00.692" v="133" actId="255"/>
          <ac:graphicFrameMkLst>
            <pc:docMk/>
            <pc:sldMk cId="3715711385" sldId="264"/>
            <ac:graphicFrameMk id="4" creationId="{492E8CC3-76A7-99FD-7E06-A8409DD84602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2637206153" sldId="265"/>
        </pc:sldMkLst>
        <pc:spChg chg="mod">
          <ac:chgData name="Rai, Upama" userId="d8ca7f89-5e54-445b-9d24-0c0dc93119ec" providerId="ADAL" clId="{23F3D788-E39F-4307-9F13-A8E13E4C9956}" dt="2026-09-17T01:35:24.711" v="113" actId="1076"/>
          <ac:spMkLst>
            <pc:docMk/>
            <pc:sldMk cId="2637206153" sldId="265"/>
            <ac:spMk id="2" creationId="{54A225C9-C668-C3F5-BAA8-3E0A948894D4}"/>
          </ac:spMkLst>
        </pc:spChg>
        <pc:spChg chg="mod">
          <ac:chgData name="Rai, Upama" userId="d8ca7f89-5e54-445b-9d24-0c0dc93119ec" providerId="ADAL" clId="{23F3D788-E39F-4307-9F13-A8E13E4C9956}" dt="2026-09-17T01:35:27.759" v="114" actId="1076"/>
          <ac:spMkLst>
            <pc:docMk/>
            <pc:sldMk cId="2637206153" sldId="265"/>
            <ac:spMk id="3" creationId="{5F4976D3-A161-4B27-AE64-6303F0C4201C}"/>
          </ac:spMkLst>
        </pc:spChg>
        <pc:graphicFrameChg chg="mod modGraphic">
          <ac:chgData name="Rai, Upama" userId="d8ca7f89-5e54-445b-9d24-0c0dc93119ec" providerId="ADAL" clId="{23F3D788-E39F-4307-9F13-A8E13E4C9956}" dt="2026-09-17T04:47:08.743" v="134" actId="255"/>
          <ac:graphicFrameMkLst>
            <pc:docMk/>
            <pc:sldMk cId="2637206153" sldId="265"/>
            <ac:graphicFrameMk id="4" creationId="{2230DC6E-01B3-CF79-7E8E-8F2C9043DD1E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626101752" sldId="266"/>
        </pc:sldMkLst>
        <pc:spChg chg="mod">
          <ac:chgData name="Rai, Upama" userId="d8ca7f89-5e54-445b-9d24-0c0dc93119ec" providerId="ADAL" clId="{23F3D788-E39F-4307-9F13-A8E13E4C9956}" dt="2026-09-17T01:35:41.375" v="116" actId="1076"/>
          <ac:spMkLst>
            <pc:docMk/>
            <pc:sldMk cId="626101752" sldId="266"/>
            <ac:spMk id="2" creationId="{FB67154C-1A90-5DD7-BEEB-D5AE0343F04D}"/>
          </ac:spMkLst>
        </pc:spChg>
        <pc:spChg chg="mod">
          <ac:chgData name="Rai, Upama" userId="d8ca7f89-5e54-445b-9d24-0c0dc93119ec" providerId="ADAL" clId="{23F3D788-E39F-4307-9F13-A8E13E4C9956}" dt="2026-09-17T01:35:44.536" v="117" actId="1076"/>
          <ac:spMkLst>
            <pc:docMk/>
            <pc:sldMk cId="626101752" sldId="266"/>
            <ac:spMk id="3" creationId="{0E0A1955-C09E-5DC7-5E6E-ABAF8D3F1191}"/>
          </ac:spMkLst>
        </pc:spChg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36040432" sldId="267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2882024546" sldId="268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2566520690" sldId="269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3912312834" sldId="270"/>
        </pc:sldMkLst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2333989819" sldId="271"/>
        </pc:sldMkLst>
        <pc:spChg chg="mod">
          <ac:chgData name="Rai, Upama" userId="d8ca7f89-5e54-445b-9d24-0c0dc93119ec" providerId="ADAL" clId="{23F3D788-E39F-4307-9F13-A8E13E4C9956}" dt="2026-09-17T01:36:22.340" v="120" actId="20577"/>
          <ac:spMkLst>
            <pc:docMk/>
            <pc:sldMk cId="2333989819" sldId="271"/>
            <ac:spMk id="2" creationId="{BBD715D7-B8B9-8A52-2073-A6A44AFD24CF}"/>
          </ac:spMkLst>
        </pc:spChg>
        <pc:graphicFrameChg chg="mod">
          <ac:chgData name="Rai, Upama" userId="d8ca7f89-5e54-445b-9d24-0c0dc93119ec" providerId="ADAL" clId="{23F3D788-E39F-4307-9F13-A8E13E4C9956}" dt="2026-09-17T01:36:18.542" v="118" actId="21"/>
          <ac:graphicFrameMkLst>
            <pc:docMk/>
            <pc:sldMk cId="2333989819" sldId="271"/>
            <ac:graphicFrameMk id="4" creationId="{7050F494-B71C-470C-27E6-FDC5FD7E5867}"/>
          </ac:graphicFrameMkLst>
        </pc:graphicFrameChg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2678713062" sldId="272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1140977897" sldId="273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1311448766" sldId="274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2567124339" sldId="275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702245124" sldId="276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1227786971" sldId="277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4026830026" sldId="278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1582364625" sldId="279"/>
        </pc:sldMkLst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3856126925" sldId="280"/>
        </pc:sldMkLst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4201378025" sldId="281"/>
        </pc:sldMkLst>
        <pc:graphicFrameChg chg="modGraphic">
          <ac:chgData name="Rai, Upama" userId="d8ca7f89-5e54-445b-9d24-0c0dc93119ec" providerId="ADAL" clId="{23F3D788-E39F-4307-9F13-A8E13E4C9956}" dt="2026-09-19T15:27:28.896" v="135" actId="255"/>
          <ac:graphicFrameMkLst>
            <pc:docMk/>
            <pc:sldMk cId="4201378025" sldId="281"/>
            <ac:graphicFrameMk id="4" creationId="{D914BAC0-E6D8-8AE0-4B0B-DE780A92BFA6}"/>
          </ac:graphicFrameMkLst>
        </pc:graphicFrameChg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2944962037" sldId="282"/>
        </pc:sldMkLst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3525106133" sldId="283"/>
        </pc:sldMkLst>
        <pc:spChg chg="mod">
          <ac:chgData name="Rai, Upama" userId="d8ca7f89-5e54-445b-9d24-0c0dc93119ec" providerId="ADAL" clId="{23F3D788-E39F-4307-9F13-A8E13E4C9956}" dt="2026-09-19T15:29:01.323" v="147" actId="1076"/>
          <ac:spMkLst>
            <pc:docMk/>
            <pc:sldMk cId="3525106133" sldId="283"/>
            <ac:spMk id="2" creationId="{9FE7B3A9-6214-BE65-800D-BD52EF52D37B}"/>
          </ac:spMkLst>
        </pc:spChg>
        <pc:graphicFrameChg chg="mod modGraphic">
          <ac:chgData name="Rai, Upama" userId="d8ca7f89-5e54-445b-9d24-0c0dc93119ec" providerId="ADAL" clId="{23F3D788-E39F-4307-9F13-A8E13E4C9956}" dt="2026-09-19T15:29:00.632" v="146" actId="1076"/>
          <ac:graphicFrameMkLst>
            <pc:docMk/>
            <pc:sldMk cId="3525106133" sldId="283"/>
            <ac:graphicFrameMk id="4" creationId="{590EF178-206B-3910-703E-B79EC540E22D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704935809" sldId="284"/>
        </pc:sldMkLst>
        <pc:spChg chg="mod">
          <ac:chgData name="Rai, Upama" userId="d8ca7f89-5e54-445b-9d24-0c0dc93119ec" providerId="ADAL" clId="{23F3D788-E39F-4307-9F13-A8E13E4C9956}" dt="2026-09-19T15:28:59.774" v="145" actId="1076"/>
          <ac:spMkLst>
            <pc:docMk/>
            <pc:sldMk cId="704935809" sldId="284"/>
            <ac:spMk id="2" creationId="{A41411C7-A51D-462C-059D-7205E2430BB7}"/>
          </ac:spMkLst>
        </pc:spChg>
        <pc:graphicFrameChg chg="mod">
          <ac:chgData name="Rai, Upama" userId="d8ca7f89-5e54-445b-9d24-0c0dc93119ec" providerId="ADAL" clId="{23F3D788-E39F-4307-9F13-A8E13E4C9956}" dt="2026-09-19T15:28:56.987" v="144" actId="1076"/>
          <ac:graphicFrameMkLst>
            <pc:docMk/>
            <pc:sldMk cId="704935809" sldId="284"/>
            <ac:graphicFrameMk id="4" creationId="{2F0FC096-1FD7-1EF5-6559-2E32121AC412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24T17:17:17.040" v="174" actId="20577"/>
        <pc:sldMkLst>
          <pc:docMk/>
          <pc:sldMk cId="508783315" sldId="285"/>
        </pc:sldMkLst>
        <pc:spChg chg="mod">
          <ac:chgData name="Rai, Upama" userId="d8ca7f89-5e54-445b-9d24-0c0dc93119ec" providerId="ADAL" clId="{23F3D788-E39F-4307-9F13-A8E13E4C9956}" dt="2026-09-19T15:29:34.386" v="148" actId="1076"/>
          <ac:spMkLst>
            <pc:docMk/>
            <pc:sldMk cId="508783315" sldId="285"/>
            <ac:spMk id="2" creationId="{6452A1C4-EB5C-4881-745B-CFBA72B6EAED}"/>
          </ac:spMkLst>
        </pc:spChg>
        <pc:graphicFrameChg chg="mod modGraphic">
          <ac:chgData name="Rai, Upama" userId="d8ca7f89-5e54-445b-9d24-0c0dc93119ec" providerId="ADAL" clId="{23F3D788-E39F-4307-9F13-A8E13E4C9956}" dt="2026-09-24T17:17:17.040" v="174" actId="20577"/>
          <ac:graphicFrameMkLst>
            <pc:docMk/>
            <pc:sldMk cId="508783315" sldId="285"/>
            <ac:graphicFrameMk id="4" creationId="{6BDD4A96-189E-97B4-B578-EC5B9632464E}"/>
          </ac:graphicFrameMkLst>
        </pc:graphicFrameChg>
      </pc:sldChg>
      <pc:sldChg chg="addSp delSp modSp mod ord">
        <pc:chgData name="Rai, Upama" userId="d8ca7f89-5e54-445b-9d24-0c0dc93119ec" providerId="ADAL" clId="{23F3D788-E39F-4307-9F13-A8E13E4C9956}" dt="2026-09-20T04:25:03.773" v="169" actId="478"/>
        <pc:sldMkLst>
          <pc:docMk/>
          <pc:sldMk cId="1918084923" sldId="286"/>
        </pc:sldMkLst>
        <pc:graphicFrameChg chg="add modGraphic">
          <ac:chgData name="Rai, Upama" userId="d8ca7f89-5e54-445b-9d24-0c0dc93119ec" providerId="ADAL" clId="{23F3D788-E39F-4307-9F13-A8E13E4C9956}" dt="2026-09-19T15:32:57.515" v="154" actId="27309"/>
          <ac:graphicFrameMkLst>
            <pc:docMk/>
            <pc:sldMk cId="1918084923" sldId="286"/>
            <ac:graphicFrameMk id="51" creationId="{816CBA80-9BBE-424B-A3C3-56FFC70B0531}"/>
          </ac:graphicFrameMkLst>
        </pc:graphicFrameChg>
        <pc:graphicFrameChg chg="add modGraphic">
          <ac:chgData name="Rai, Upama" userId="d8ca7f89-5e54-445b-9d24-0c0dc93119ec" providerId="ADAL" clId="{23F3D788-E39F-4307-9F13-A8E13E4C9956}" dt="2026-09-19T15:32:57.515" v="154" actId="27309"/>
          <ac:graphicFrameMkLst>
            <pc:docMk/>
            <pc:sldMk cId="1918084923" sldId="286"/>
            <ac:graphicFrameMk id="57" creationId="{37335F66-A854-F94E-C85E-38E168DFDA3E}"/>
          </ac:graphicFrameMkLst>
        </pc:graphicFrameChg>
        <pc:graphicFrameChg chg="add modGraphic">
          <ac:chgData name="Rai, Upama" userId="d8ca7f89-5e54-445b-9d24-0c0dc93119ec" providerId="ADAL" clId="{23F3D788-E39F-4307-9F13-A8E13E4C9956}" dt="2026-09-19T15:32:57.515" v="154" actId="27309"/>
          <ac:graphicFrameMkLst>
            <pc:docMk/>
            <pc:sldMk cId="1918084923" sldId="286"/>
            <ac:graphicFrameMk id="61" creationId="{28B132D4-15E5-DEF8-E72E-77495DD57319}"/>
          </ac:graphicFrameMkLst>
        </pc:graphicFrameChg>
        <pc:graphicFrameChg chg="add modGraphic">
          <ac:chgData name="Rai, Upama" userId="d8ca7f89-5e54-445b-9d24-0c0dc93119ec" providerId="ADAL" clId="{23F3D788-E39F-4307-9F13-A8E13E4C9956}" dt="2026-09-19T15:32:57.515" v="154" actId="27309"/>
          <ac:graphicFrameMkLst>
            <pc:docMk/>
            <pc:sldMk cId="1918084923" sldId="286"/>
            <ac:graphicFrameMk id="67" creationId="{1B4AE708-E68A-E883-C709-730D13125430}"/>
          </ac:graphicFrameMkLst>
        </pc:graphicFrameChg>
        <pc:graphicFrameChg chg="add modGraphic">
          <ac:chgData name="Rai, Upama" userId="d8ca7f89-5e54-445b-9d24-0c0dc93119ec" providerId="ADAL" clId="{23F3D788-E39F-4307-9F13-A8E13E4C9956}" dt="2026-09-19T15:32:57.515" v="154" actId="27309"/>
          <ac:graphicFrameMkLst>
            <pc:docMk/>
            <pc:sldMk cId="1918084923" sldId="286"/>
            <ac:graphicFrameMk id="69" creationId="{EAAAB358-936B-46BA-ADE4-0E437C18015B}"/>
          </ac:graphicFrameMkLst>
        </pc:graphicFrameChg>
      </pc:sldChg>
      <pc:sldChg chg="modSp mod ord">
        <pc:chgData name="Rai, Upama" userId="d8ca7f89-5e54-445b-9d24-0c0dc93119ec" providerId="ADAL" clId="{23F3D788-E39F-4307-9F13-A8E13E4C9956}" dt="2026-09-19T15:32:12.645" v="153"/>
        <pc:sldMkLst>
          <pc:docMk/>
          <pc:sldMk cId="3513838718" sldId="287"/>
        </pc:sldMkLst>
        <pc:graphicFrameChg chg="mod">
          <ac:chgData name="Rai, Upama" userId="d8ca7f89-5e54-445b-9d24-0c0dc93119ec" providerId="ADAL" clId="{23F3D788-E39F-4307-9F13-A8E13E4C9956}" dt="2026-09-19T15:30:49.011" v="150" actId="1076"/>
          <ac:graphicFrameMkLst>
            <pc:docMk/>
            <pc:sldMk cId="3513838718" sldId="287"/>
            <ac:graphicFrameMk id="4" creationId="{04A86BEE-9D71-BF31-5ED3-A35DDA7D1873}"/>
          </ac:graphicFrameMkLst>
        </pc:graphicFrameChg>
      </pc:sldChg>
      <pc:sldChg chg="ord">
        <pc:chgData name="Rai, Upama" userId="d8ca7f89-5e54-445b-9d24-0c0dc93119ec" providerId="ADAL" clId="{23F3D788-E39F-4307-9F13-A8E13E4C9956}" dt="2026-09-19T15:32:12.645" v="153"/>
        <pc:sldMkLst>
          <pc:docMk/>
          <pc:sldMk cId="1070222181" sldId="288"/>
        </pc:sldMkLst>
      </pc:sldChg>
      <pc:sldChg chg="del ord">
        <pc:chgData name="Rai, Upama" userId="d8ca7f89-5e54-445b-9d24-0c0dc93119ec" providerId="ADAL" clId="{23F3D788-E39F-4307-9F13-A8E13E4C9956}" dt="2026-09-24T17:17:01.228" v="173" actId="47"/>
        <pc:sldMkLst>
          <pc:docMk/>
          <pc:sldMk cId="2934311116" sldId="289"/>
        </pc:sldMkLst>
      </pc:sldChg>
      <pc:sldChg chg="modSp del mod ord">
        <pc:chgData name="Rai, Upama" userId="d8ca7f89-5e54-445b-9d24-0c0dc93119ec" providerId="ADAL" clId="{23F3D788-E39F-4307-9F13-A8E13E4C9956}" dt="2026-09-24T17:16:55.079" v="172" actId="47"/>
        <pc:sldMkLst>
          <pc:docMk/>
          <pc:sldMk cId="648319073" sldId="290"/>
        </pc:sldMkLst>
      </pc:sldChg>
      <pc:sldChg chg="modSp mod ord">
        <pc:chgData name="Rai, Upama" userId="d8ca7f89-5e54-445b-9d24-0c0dc93119ec" providerId="ADAL" clId="{23F3D788-E39F-4307-9F13-A8E13E4C9956}" dt="2026-09-22T05:21:24.533" v="171" actId="1076"/>
        <pc:sldMkLst>
          <pc:docMk/>
          <pc:sldMk cId="1526762312" sldId="291"/>
        </pc:sldMkLst>
        <pc:spChg chg="mod">
          <ac:chgData name="Rai, Upama" userId="d8ca7f89-5e54-445b-9d24-0c0dc93119ec" providerId="ADAL" clId="{23F3D788-E39F-4307-9F13-A8E13E4C9956}" dt="2026-09-22T05:21:24.533" v="171" actId="1076"/>
          <ac:spMkLst>
            <pc:docMk/>
            <pc:sldMk cId="1526762312" sldId="291"/>
            <ac:spMk id="2" creationId="{42A28D2F-9BD5-1D3B-0ECA-11788D20DE7D}"/>
          </ac:spMkLst>
        </pc:spChg>
        <pc:graphicFrameChg chg="mod">
          <ac:chgData name="Rai, Upama" userId="d8ca7f89-5e54-445b-9d24-0c0dc93119ec" providerId="ADAL" clId="{23F3D788-E39F-4307-9F13-A8E13E4C9956}" dt="2026-09-20T05:08:50.838" v="170" actId="1076"/>
          <ac:graphicFrameMkLst>
            <pc:docMk/>
            <pc:sldMk cId="1526762312" sldId="291"/>
            <ac:graphicFrameMk id="4" creationId="{71C4235D-3655-A769-349D-B0612807377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645A3-EF82-4235-A5E9-93A29A32584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D77FB-100C-48E6-9F30-8EA6658CF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6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D77FB-100C-48E6-9F30-8EA6658CF0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77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C007-C6DE-22E7-BABC-D7ACB5B7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5A5B9-ADBE-3EF7-12A6-9CBB1DAE6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3D6DD-B437-B4A2-1A76-34DE1959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1F0AF-C1CB-1AE4-42A0-8A499B8A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9B1D8-D172-98B3-32ED-FC2B6E3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7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D0CC-CDE1-492E-D14C-9F55A019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1C8B4-F5C9-3110-D9C4-78BA1087C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FAA43-41EA-E406-5031-9DB462A4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D62EA-CB4A-AAA3-27CA-0351CD49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A6ED7-2D23-488A-B164-DCA67098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5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D52A-6343-75B4-FC0F-7D4F315F7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70E5C-C1F5-1EB5-58EE-DBCD3B72C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6751-AEA9-BE71-1BAA-D157DCE1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F3C2B-7772-7BCA-3BF0-C4199975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8FDC5-63B5-906F-9851-1D3B9FC9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77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36C3-D134-FBC3-550F-AAFD49AF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D70F-C3A2-9FCC-19D3-E7F95621E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72359-6AD4-5240-1B45-7A136C79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16799-D6BC-C0DA-4443-13F4AD76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BE90A-E568-FD62-57FF-0B441F5D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DBEF6-4299-D05A-65DD-111FF1D0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6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B393-437F-2256-E226-D0A85C9E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7754F-EE58-51B2-3E54-47C6EADA4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50DDC-A5D4-137C-37DF-340207792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BCAF5-1736-C071-3D3C-1F9D87983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37222A-115A-65C6-A98D-6B41629DE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8FEF2-0498-9207-5EAE-C7D196A2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390E1-7F79-A0F4-BC0D-887C5EBC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1C1BE-7C74-0CDB-A693-E6AB22A0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1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1DF5-EC3B-F5F6-F6D4-D69773CE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FEC96-4007-E35A-EB35-6A59FAA4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319B0-FF20-95E1-2412-FF15758A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40ACE-414F-0ED6-78F1-E0FD970C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A086D-4E29-4865-2719-EC0C08E0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F1CB3-AF1A-B296-2A0F-53A0D42D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25DA-F238-99DE-2F47-30C8AE01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CF25-7BB5-B2C3-4DA5-1CC75E1D7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69BE-1DD2-534E-4455-387AB19CA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95DD3-B914-58E3-79D8-06BD62134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14C8C-B31F-1624-CE83-BF34F842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37E4A-BE70-E1A9-C911-78417BDC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67401-DCC0-FD77-017E-F38C3677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353A-1172-C25E-67E5-5918A58A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0B824-B13A-9F8E-B7D7-5652B7EFF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017B8-611F-BE68-D883-D36B6D30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438BD-AF3E-4E4F-DEE4-E18769C3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65A92-1A89-DB65-2061-47200593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B81DC-1AF7-28DA-E91B-728C4482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7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A0CB-81FC-ECBC-44B9-B88069C1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A02FC-3A90-46B6-D76A-44A304D89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6099A-18B0-E084-3B40-2B388B28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5E9D-8EAA-2D70-AF30-5F8B6D01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52518-A7B1-9CEF-75B7-C1F1DF82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7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43800-6A8B-F144-C6F3-541A933A3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40F3B-62C1-913C-B951-576C6690E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2E16-913A-53DE-A5CC-9E39ED7F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32AEB-087F-07D4-D18A-6854C9A9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69CD8-55FF-0D05-82A5-EE02BCE8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93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A366C-AF8D-F86C-F14F-FAAC784B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56653-1F6C-7EA8-CAAE-6334F1DC0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4F57C-8FFB-9AED-8CC3-29AD1C184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574CC-F922-4A1A-BB0C-8FE5C94A74E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D4DCB-7D9C-3F1C-5C0E-FA971922D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C83B-A0F5-7111-1C28-314A0D417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F85A7-8FF3-44A9-A59E-CF527244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4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kihow.com/Take-Cornell-Note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39" Type="http://schemas.openxmlformats.org/officeDocument/2006/relationships/image" Target="../media/image14.png"/><Relationship Id="rId34" Type="http://schemas.openxmlformats.org/officeDocument/2006/relationships/image" Target="../media/image33.png"/><Relationship Id="rId42" Type="http://schemas.openxmlformats.org/officeDocument/2006/relationships/image" Target="../media/image37.png"/><Relationship Id="rId47" Type="http://schemas.openxmlformats.org/officeDocument/2006/relationships/image" Target="../media/image18.png"/><Relationship Id="rId50" Type="http://schemas.openxmlformats.org/officeDocument/2006/relationships/image" Target="../media/image41.png"/><Relationship Id="rId25" Type="http://schemas.openxmlformats.org/officeDocument/2006/relationships/image" Target="../media/image7.png"/><Relationship Id="rId33" Type="http://schemas.openxmlformats.org/officeDocument/2006/relationships/image" Target="../media/image11.png"/><Relationship Id="rId38" Type="http://schemas.openxmlformats.org/officeDocument/2006/relationships/image" Target="../media/image35.png"/><Relationship Id="rId46" Type="http://schemas.openxmlformats.org/officeDocument/2006/relationships/image" Target="../media/image39.png"/><Relationship Id="rId2" Type="http://schemas.openxmlformats.org/officeDocument/2006/relationships/image" Target="../media/image6.png"/><Relationship Id="rId29" Type="http://schemas.openxmlformats.org/officeDocument/2006/relationships/image" Target="../media/image9.png"/><Relationship Id="rId41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8.png"/><Relationship Id="rId32" Type="http://schemas.openxmlformats.org/officeDocument/2006/relationships/image" Target="../media/image32.png"/><Relationship Id="rId37" Type="http://schemas.openxmlformats.org/officeDocument/2006/relationships/image" Target="../media/image13.png"/><Relationship Id="rId40" Type="http://schemas.openxmlformats.org/officeDocument/2006/relationships/image" Target="../media/image36.png"/><Relationship Id="rId45" Type="http://schemas.openxmlformats.org/officeDocument/2006/relationships/image" Target="../media/image17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31" Type="http://schemas.openxmlformats.org/officeDocument/2006/relationships/image" Target="../media/image10.png"/><Relationship Id="rId44" Type="http://schemas.openxmlformats.org/officeDocument/2006/relationships/image" Target="../media/image38.png"/><Relationship Id="rId27" Type="http://schemas.openxmlformats.org/officeDocument/2006/relationships/image" Target="../media/image8.png"/><Relationship Id="rId30" Type="http://schemas.openxmlformats.org/officeDocument/2006/relationships/image" Target="../media/image31.png"/><Relationship Id="rId35" Type="http://schemas.openxmlformats.org/officeDocument/2006/relationships/image" Target="../media/image12.png"/><Relationship Id="rId43" Type="http://schemas.openxmlformats.org/officeDocument/2006/relationships/image" Target="../media/image16.png"/><Relationship Id="rId48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48EF-0F05-E2DB-6C94-65DA6C6CA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CIS092-1 Fundamentals of Study and Employability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E3834C9-FF6A-1E25-F997-64A46AC5E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Session duration: 2 hours </a:t>
            </a:r>
          </a:p>
          <a:p>
            <a:r>
              <a:rPr lang="en-US" dirty="0"/>
              <a:t>Session theme: How to Study – Learning Styles, Note Taking, use of VLE, mind mapping, time management</a:t>
            </a:r>
          </a:p>
          <a:p>
            <a:r>
              <a:rPr lang="en-US" dirty="0"/>
              <a:t>Lecturer: Upama Rai Cohort: Level 3 / Foundation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13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F85C-95F1-6137-B9E8-81BFD4AB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Study Effectively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9A64-2FE0-E670-73C5-5E3613C8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Topics:</a:t>
            </a:r>
          </a:p>
          <a:p>
            <a:pPr lvl="1"/>
            <a:r>
              <a:rPr lang="en-US" dirty="0"/>
              <a:t>Learning preferences</a:t>
            </a:r>
          </a:p>
          <a:p>
            <a:pPr lvl="1"/>
            <a:r>
              <a:rPr lang="en-US" dirty="0"/>
              <a:t>Active learning</a:t>
            </a:r>
          </a:p>
          <a:p>
            <a:pPr lvl="1"/>
            <a:r>
              <a:rPr lang="en-US" dirty="0"/>
              <a:t>Note-taking</a:t>
            </a:r>
          </a:p>
          <a:p>
            <a:pPr lvl="1"/>
            <a:r>
              <a:rPr lang="en-US" dirty="0"/>
              <a:t>Mind mapping</a:t>
            </a:r>
          </a:p>
          <a:p>
            <a:pPr lvl="1"/>
            <a:r>
              <a:rPr lang="en-US" dirty="0"/>
              <a:t>Time management</a:t>
            </a:r>
          </a:p>
          <a:p>
            <a:pPr lvl="1"/>
            <a:r>
              <a:rPr lang="en-US" dirty="0"/>
              <a:t>Using the VLE effectively</a:t>
            </a:r>
          </a:p>
        </p:txBody>
      </p:sp>
    </p:spTree>
    <p:extLst>
      <p:ext uri="{BB962C8B-B14F-4D97-AF65-F5344CB8AC3E}">
        <p14:creationId xmlns:p14="http://schemas.microsoft.com/office/powerpoint/2010/main" val="1169698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7E8A-11E1-C483-BB58-B099E4BD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0F6D-8F0F-34BE-7CFB-2A8F2782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lesson, students should be able to:</a:t>
            </a:r>
          </a:p>
          <a:p>
            <a:pPr lvl="1"/>
            <a:r>
              <a:rPr lang="en-US" dirty="0"/>
              <a:t>identify their preferred ways of learning</a:t>
            </a:r>
          </a:p>
          <a:p>
            <a:pPr lvl="1"/>
            <a:r>
              <a:rPr lang="en-US" dirty="0"/>
              <a:t>distinguish between active and passive learning</a:t>
            </a:r>
          </a:p>
          <a:p>
            <a:pPr lvl="1"/>
            <a:r>
              <a:rPr lang="en-US" dirty="0"/>
              <a:t>use an effective note-taking method</a:t>
            </a:r>
          </a:p>
          <a:p>
            <a:pPr lvl="1"/>
            <a:r>
              <a:rPr lang="en-US" dirty="0" err="1"/>
              <a:t>organise</a:t>
            </a:r>
            <a:r>
              <a:rPr lang="en-US" dirty="0"/>
              <a:t> information using a mind map</a:t>
            </a:r>
          </a:p>
          <a:p>
            <a:pPr lvl="1"/>
            <a:r>
              <a:rPr lang="en-US" dirty="0"/>
              <a:t>create a realistic study plan</a:t>
            </a:r>
          </a:p>
          <a:p>
            <a:pPr lvl="1"/>
            <a:r>
              <a:rPr lang="en-US" dirty="0"/>
              <a:t>use the VLE responsibly and </a:t>
            </a:r>
          </a:p>
          <a:p>
            <a:pPr lvl="1"/>
            <a:r>
              <a:rPr lang="en-US" dirty="0"/>
              <a:t>Independently identify personal study habits that need improvement</a:t>
            </a:r>
          </a:p>
        </p:txBody>
      </p:sp>
    </p:spTree>
    <p:extLst>
      <p:ext uri="{BB962C8B-B14F-4D97-AF65-F5344CB8AC3E}">
        <p14:creationId xmlns:p14="http://schemas.microsoft.com/office/powerpoint/2010/main" val="345888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D233-646C-7278-8003-9148135DE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794"/>
            <a:ext cx="10515600" cy="1325563"/>
          </a:xfrm>
        </p:spPr>
        <p:txBody>
          <a:bodyPr/>
          <a:lstStyle/>
          <a:p>
            <a:r>
              <a:rPr lang="en-US" dirty="0"/>
              <a:t>What Does “How to Study”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E2C3-40A4-08BE-EFBC-69CC41EF4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08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Studying is more than attending classes or reading notes.</a:t>
            </a:r>
          </a:p>
          <a:p>
            <a:pPr marL="0" indent="0">
              <a:buNone/>
            </a:pPr>
            <a:endParaRPr lang="en-US" sz="500" dirty="0"/>
          </a:p>
          <a:p>
            <a:pPr marL="457200" lvl="1" indent="0">
              <a:buNone/>
            </a:pPr>
            <a:r>
              <a:rPr lang="en-US" dirty="0"/>
              <a:t>Effective studying involves:</a:t>
            </a:r>
          </a:p>
          <a:p>
            <a:pPr lvl="2"/>
            <a:r>
              <a:rPr lang="en-US" dirty="0"/>
              <a:t>understanding information</a:t>
            </a:r>
          </a:p>
          <a:p>
            <a:pPr lvl="2"/>
            <a:r>
              <a:rPr lang="en-US" dirty="0"/>
              <a:t>selecting important ideas</a:t>
            </a:r>
          </a:p>
          <a:p>
            <a:pPr lvl="2"/>
            <a:r>
              <a:rPr lang="en-US" dirty="0" err="1"/>
              <a:t>organising</a:t>
            </a:r>
            <a:r>
              <a:rPr lang="en-US" dirty="0"/>
              <a:t> knowledge</a:t>
            </a:r>
          </a:p>
          <a:p>
            <a:pPr lvl="2"/>
            <a:r>
              <a:rPr lang="en-US" dirty="0" err="1"/>
              <a:t>practising</a:t>
            </a:r>
            <a:r>
              <a:rPr lang="en-US" dirty="0"/>
              <a:t> and applying learning</a:t>
            </a:r>
          </a:p>
          <a:p>
            <a:pPr lvl="2"/>
            <a:r>
              <a:rPr lang="en-US" dirty="0"/>
              <a:t>managing time and deadlines</a:t>
            </a:r>
          </a:p>
          <a:p>
            <a:pPr lvl="2"/>
            <a:r>
              <a:rPr lang="en-US" dirty="0"/>
              <a:t>reviewing progress</a:t>
            </a:r>
          </a:p>
          <a:p>
            <a:pPr lvl="2"/>
            <a:r>
              <a:rPr lang="en-US" dirty="0"/>
              <a:t>asking for help when necessary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178933-D43D-D13F-D5AA-C395AA063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72257"/>
              </p:ext>
            </p:extLst>
          </p:nvPr>
        </p:nvGraphicFramePr>
        <p:xfrm>
          <a:off x="883920" y="5231909"/>
          <a:ext cx="10515600" cy="69151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55046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400" b="0" i="0" dirty="0">
                          <a:effectLst/>
                          <a:latin typeface="Segoe UI" panose="020B0502040204020203" pitchFamily="34" charset="0"/>
                        </a:rPr>
                        <a:t>What is the difference between </a:t>
                      </a:r>
                      <a:r>
                        <a:rPr lang="en-US" sz="2400" b="1" i="0" dirty="0">
                          <a:effectLst/>
                          <a:latin typeface="Segoe UI" panose="020B0502040204020203" pitchFamily="34" charset="0"/>
                        </a:rPr>
                        <a:t>studying hard</a:t>
                      </a:r>
                      <a:r>
                        <a:rPr lang="en-US" sz="2400" b="0" i="0" dirty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sz="2400" b="1" i="0" dirty="0">
                          <a:effectLst/>
                          <a:latin typeface="Segoe UI" panose="020B0502040204020203" pitchFamily="34" charset="0"/>
                        </a:rPr>
                        <a:t>studying effectively</a:t>
                      </a:r>
                      <a:r>
                        <a:rPr lang="en-US" sz="2400" b="0" i="0" dirty="0">
                          <a:effectLst/>
                          <a:latin typeface="Segoe UI" panose="020B0502040204020203" pitchFamily="34" charset="0"/>
                        </a:rPr>
                        <a:t>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2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23662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66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F887-E658-1788-4718-7BAC8745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861"/>
            <a:ext cx="10515600" cy="1325563"/>
          </a:xfrm>
        </p:spPr>
        <p:txBody>
          <a:bodyPr/>
          <a:lstStyle/>
          <a:p>
            <a:r>
              <a:rPr lang="en-US" dirty="0"/>
              <a:t>Your Current Study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F0C34-2B48-97CC-947F-940E75388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2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Ask yourself:</a:t>
            </a:r>
          </a:p>
          <a:p>
            <a:pPr lvl="1"/>
            <a:r>
              <a:rPr lang="en-US" dirty="0"/>
              <a:t>Where do I usually study?</a:t>
            </a:r>
          </a:p>
          <a:p>
            <a:pPr lvl="1"/>
            <a:r>
              <a:rPr lang="en-US" dirty="0"/>
              <a:t>When do I study best?</a:t>
            </a:r>
          </a:p>
          <a:p>
            <a:pPr lvl="1"/>
            <a:r>
              <a:rPr lang="en-US" dirty="0"/>
              <a:t>What normally distracts me?</a:t>
            </a:r>
          </a:p>
          <a:p>
            <a:pPr lvl="1"/>
            <a:r>
              <a:rPr lang="en-US" dirty="0"/>
              <a:t>Do I plan my study time?</a:t>
            </a:r>
          </a:p>
          <a:p>
            <a:pPr lvl="1"/>
            <a:r>
              <a:rPr lang="en-US" dirty="0"/>
              <a:t>Do I review my notes after class?</a:t>
            </a:r>
          </a:p>
          <a:p>
            <a:pPr lvl="1"/>
            <a:r>
              <a:rPr lang="en-US" dirty="0"/>
              <a:t>Do I study continuously or only before an assessment?</a:t>
            </a:r>
          </a:p>
          <a:p>
            <a:pPr lvl="1"/>
            <a:r>
              <a:rPr lang="en-US" dirty="0"/>
              <a:t>Which study method helps me remember information?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491AFC-5A5F-7591-65EE-89EBCBA1B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95120"/>
              </p:ext>
            </p:extLst>
          </p:nvPr>
        </p:nvGraphicFramePr>
        <p:xfrm>
          <a:off x="904701" y="5316277"/>
          <a:ext cx="10515600" cy="105727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659258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Individual activity: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Write down one effective study habit and one habit you need to improve.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8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09435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94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9122-6239-F9B3-3745-F7F5F712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434"/>
            <a:ext cx="10515600" cy="1325563"/>
          </a:xfrm>
        </p:spPr>
        <p:txBody>
          <a:bodyPr/>
          <a:lstStyle/>
          <a:p>
            <a:r>
              <a:rPr lang="en-US" dirty="0"/>
              <a:t>Understanding Learning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B622F-08C8-4BCE-2A9E-E67C0F0D4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05" y="153388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Prefer different ways of engaging with information.</a:t>
            </a:r>
          </a:p>
          <a:p>
            <a:pPr marL="0" indent="0">
              <a:buNone/>
            </a:pPr>
            <a:endParaRPr lang="en-US" sz="500" dirty="0"/>
          </a:p>
          <a:p>
            <a:r>
              <a:rPr lang="en-US" dirty="0"/>
              <a:t>Common preferences include: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Visual: </a:t>
            </a:r>
          </a:p>
          <a:p>
            <a:pPr marL="1371600" lvl="3" indent="0">
              <a:buNone/>
            </a:pPr>
            <a:r>
              <a:rPr lang="en-US" dirty="0"/>
              <a:t>diagrams, </a:t>
            </a:r>
            <a:r>
              <a:rPr lang="en-US" dirty="0" err="1"/>
              <a:t>colours</a:t>
            </a:r>
            <a:r>
              <a:rPr lang="en-US" dirty="0"/>
              <a:t>, charts and demonstrations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Auditory: </a:t>
            </a:r>
          </a:p>
          <a:p>
            <a:pPr marL="1371600" lvl="3" indent="0">
              <a:buNone/>
            </a:pPr>
            <a:r>
              <a:rPr lang="en-US" dirty="0"/>
              <a:t>explanations, discussions and speaking aloud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Reading/Writing: </a:t>
            </a:r>
          </a:p>
          <a:p>
            <a:pPr marL="1371600" lvl="3" indent="0">
              <a:buNone/>
            </a:pPr>
            <a:r>
              <a:rPr lang="en-US" dirty="0"/>
              <a:t>textbooks, written notes, definitions and summaries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Kinesthetic: </a:t>
            </a:r>
          </a:p>
          <a:p>
            <a:pPr marL="1371600" lvl="3" indent="0">
              <a:buNone/>
            </a:pPr>
            <a:r>
              <a:rPr lang="en-US" dirty="0"/>
              <a:t>practice, examples, activities and demonstrations(learning by doing)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are commonly described using the </a:t>
            </a:r>
            <a:r>
              <a:rPr lang="en-US" b="1" dirty="0"/>
              <a:t>VARK</a:t>
            </a:r>
            <a:r>
              <a:rPr lang="en-US" dirty="0"/>
              <a:t> model.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8F2204-E0F6-B9EB-C57C-ACAABBD52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91516"/>
              </p:ext>
            </p:extLst>
          </p:nvPr>
        </p:nvGraphicFramePr>
        <p:xfrm>
          <a:off x="780010" y="5458259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6746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Learning preferences are not fixed labels. Students should use different methods depending on the subject and task.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36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4263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04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111C-C690-9FF9-B548-5EFD869A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818"/>
            <a:ext cx="10515600" cy="1325563"/>
          </a:xfrm>
        </p:spPr>
        <p:txBody>
          <a:bodyPr/>
          <a:lstStyle/>
          <a:p>
            <a:r>
              <a:rPr lang="en-US" dirty="0"/>
              <a:t>Applying Different Learning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7FA632-67D2-8F10-9558-DFD733438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700412"/>
              </p:ext>
            </p:extLst>
          </p:nvPr>
        </p:nvGraphicFramePr>
        <p:xfrm>
          <a:off x="838200" y="1483924"/>
          <a:ext cx="10515600" cy="48615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23642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Visual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Draw diagrams or flowcharts.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Use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colours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to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organise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information.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Convert notes into charts or mind maps.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sz="5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Auditory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 the topic aloud.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Participate in discussions.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Ask and answer questions.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sz="5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Reading/Writing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Create summaries.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Write definitions in your own words.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Use lists, headings and written questions.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sz="5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Kinesthetic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Complete practical exercises.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Use real examples.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Build, test or demonstrate something.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91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Example: </a:t>
                      </a:r>
                      <a:r>
                        <a:rPr lang="en-US" sz="1800" dirty="0"/>
                        <a:t>When learning programming, a student may read the concept, watch a demonstration, discuss it and then write the code.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0604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17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A910-A38D-E581-99BB-86F49856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965"/>
            <a:ext cx="10515600" cy="1325563"/>
          </a:xfrm>
        </p:spPr>
        <p:txBody>
          <a:bodyPr/>
          <a:lstStyle/>
          <a:p>
            <a:r>
              <a:rPr lang="en-US" dirty="0"/>
              <a:t>Active Learning and Passive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9EB1-C0DC-9D4A-B443-F8817984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334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Active learning</a:t>
            </a:r>
          </a:p>
          <a:p>
            <a:pPr lvl="2"/>
            <a:r>
              <a:rPr lang="en-US" dirty="0"/>
              <a:t>explaining ideas in your own words</a:t>
            </a:r>
          </a:p>
          <a:p>
            <a:pPr lvl="2"/>
            <a:r>
              <a:rPr lang="en-US" dirty="0"/>
              <a:t>completing practice questions</a:t>
            </a:r>
          </a:p>
          <a:p>
            <a:pPr lvl="2"/>
            <a:r>
              <a:rPr lang="en-US" dirty="0"/>
              <a:t>discussing concepts</a:t>
            </a:r>
          </a:p>
          <a:p>
            <a:pPr lvl="2"/>
            <a:r>
              <a:rPr lang="en-US" dirty="0"/>
              <a:t>applying knowledge to examples</a:t>
            </a:r>
          </a:p>
          <a:p>
            <a:pPr lvl="2"/>
            <a:r>
              <a:rPr lang="en-US" dirty="0"/>
              <a:t>creating summaries or diagrams</a:t>
            </a:r>
          </a:p>
          <a:p>
            <a:pPr lvl="2"/>
            <a:r>
              <a:rPr lang="en-US" dirty="0"/>
              <a:t>testing yourself without looking at the answer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Passive learning</a:t>
            </a:r>
          </a:p>
          <a:p>
            <a:pPr lvl="2"/>
            <a:r>
              <a:rPr lang="en-US" dirty="0"/>
              <a:t>listening without making notes</a:t>
            </a:r>
          </a:p>
          <a:p>
            <a:pPr lvl="2"/>
            <a:r>
              <a:rPr lang="en-US" dirty="0"/>
              <a:t>copying information without thinking</a:t>
            </a:r>
          </a:p>
          <a:p>
            <a:pPr lvl="2"/>
            <a:r>
              <a:rPr lang="en-US" dirty="0"/>
              <a:t>reading without asking questions</a:t>
            </a:r>
          </a:p>
          <a:p>
            <a:pPr lvl="2"/>
            <a:r>
              <a:rPr lang="en-US" dirty="0"/>
              <a:t>watching a video without </a:t>
            </a:r>
            <a:r>
              <a:rPr lang="en-US" dirty="0" err="1"/>
              <a:t>practising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F6033F-9795-EFEB-150A-F61C49150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029249"/>
              </p:ext>
            </p:extLst>
          </p:nvPr>
        </p:nvGraphicFramePr>
        <p:xfrm>
          <a:off x="917171" y="5607888"/>
          <a:ext cx="10515600" cy="63817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64728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Learning becomes more effective when students actively do something with the information.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587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2402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0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694C-3C7B-86E5-F510-C1C1B7EB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434"/>
            <a:ext cx="10515600" cy="1325563"/>
          </a:xfrm>
        </p:spPr>
        <p:txBody>
          <a:bodyPr/>
          <a:lstStyle/>
          <a:p>
            <a:r>
              <a:rPr lang="en-US" dirty="0"/>
              <a:t>The Active Study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AEC7-5155-BD8C-A7E1-86DBBF3B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68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effective study cycle can include:</a:t>
            </a:r>
          </a:p>
          <a:p>
            <a:pPr lvl="1"/>
            <a:r>
              <a:rPr lang="en-US" dirty="0"/>
              <a:t>Preview the topic before class.</a:t>
            </a:r>
          </a:p>
          <a:p>
            <a:pPr lvl="1"/>
            <a:r>
              <a:rPr lang="en-US" dirty="0"/>
              <a:t>Participate during the lesson.</a:t>
            </a:r>
          </a:p>
          <a:p>
            <a:pPr lvl="1"/>
            <a:r>
              <a:rPr lang="en-US" dirty="0"/>
              <a:t>Take meaningful notes.</a:t>
            </a:r>
          </a:p>
          <a:p>
            <a:pPr lvl="1"/>
            <a:r>
              <a:rPr lang="en-US" dirty="0"/>
              <a:t>Review the notes soon after class.</a:t>
            </a:r>
          </a:p>
          <a:p>
            <a:pPr lvl="1"/>
            <a:r>
              <a:rPr lang="en-US" dirty="0" err="1"/>
              <a:t>Practise</a:t>
            </a:r>
            <a:r>
              <a:rPr lang="en-US" dirty="0"/>
              <a:t> using questions or activities.</a:t>
            </a:r>
          </a:p>
          <a:p>
            <a:pPr lvl="1"/>
            <a:r>
              <a:rPr lang="en-US" dirty="0"/>
              <a:t>Check what you can remember.</a:t>
            </a:r>
          </a:p>
          <a:p>
            <a:pPr lvl="1"/>
            <a:r>
              <a:rPr lang="en-US" dirty="0"/>
              <a:t>Improve areas you do not understand.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2E8CC3-76A7-99FD-7E06-A8409DD84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531859"/>
              </p:ext>
            </p:extLst>
          </p:nvPr>
        </p:nvGraphicFramePr>
        <p:xfrm>
          <a:off x="838200" y="5323320"/>
          <a:ext cx="10515600" cy="66865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6193392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Which step do students most commonly ignore?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179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0640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711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25C9-C668-C3F5-BAA8-3E0A9488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216"/>
            <a:ext cx="10515600" cy="1325563"/>
          </a:xfrm>
        </p:spPr>
        <p:txBody>
          <a:bodyPr/>
          <a:lstStyle/>
          <a:p>
            <a:r>
              <a:rPr lang="en-US" dirty="0"/>
              <a:t>Why Note-Taking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976D3-A161-4B27-AE64-6303F0C4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4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Effective notes help students to:</a:t>
            </a:r>
          </a:p>
          <a:p>
            <a:pPr lvl="1"/>
            <a:r>
              <a:rPr lang="en-US" dirty="0"/>
              <a:t>identify important information</a:t>
            </a:r>
          </a:p>
          <a:p>
            <a:pPr lvl="1"/>
            <a:r>
              <a:rPr lang="en-US" dirty="0"/>
              <a:t>remain focused during lessons</a:t>
            </a:r>
          </a:p>
          <a:p>
            <a:pPr lvl="1"/>
            <a:r>
              <a:rPr lang="en-US" dirty="0"/>
              <a:t>understand difficult concepts</a:t>
            </a:r>
          </a:p>
          <a:p>
            <a:pPr lvl="1"/>
            <a:r>
              <a:rPr lang="en-US" dirty="0"/>
              <a:t>connect new and previous knowledge</a:t>
            </a:r>
          </a:p>
          <a:p>
            <a:pPr lvl="1"/>
            <a:r>
              <a:rPr lang="en-US" dirty="0"/>
              <a:t>prepare for assessments</a:t>
            </a:r>
          </a:p>
          <a:p>
            <a:pPr lvl="1"/>
            <a:r>
              <a:rPr lang="en-US" dirty="0"/>
              <a:t>remember questions that need clarification</a:t>
            </a:r>
          </a:p>
          <a:p>
            <a:pPr lvl="1"/>
            <a:r>
              <a:rPr lang="en-US" dirty="0"/>
              <a:t>revise more efficiently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30DC6E-01B3-CF79-7E8E-8F2C9043D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37788"/>
              </p:ext>
            </p:extLst>
          </p:nvPr>
        </p:nvGraphicFramePr>
        <p:xfrm>
          <a:off x="917171" y="5261019"/>
          <a:ext cx="10515600" cy="85915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26558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University guidance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recognises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that notes are created for different purposes and that students should select an appropriate method and tool for each situation.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133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75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206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154C-1A90-5DD7-BEEB-D5AE0343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841"/>
            <a:ext cx="10515600" cy="1325563"/>
          </a:xfrm>
        </p:spPr>
        <p:txBody>
          <a:bodyPr/>
          <a:lstStyle/>
          <a:p>
            <a:r>
              <a:rPr lang="en-US" dirty="0"/>
              <a:t>Ineffective and Effective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1955-C09E-5DC7-5E6E-ABAF8D3F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05" y="155961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Effective notes</a:t>
            </a:r>
          </a:p>
          <a:p>
            <a:pPr lvl="1"/>
            <a:r>
              <a:rPr lang="en-US" dirty="0"/>
              <a:t>focus on key ideas</a:t>
            </a:r>
          </a:p>
          <a:p>
            <a:pPr lvl="1"/>
            <a:r>
              <a:rPr lang="en-US" dirty="0"/>
              <a:t>use clear headings</a:t>
            </a:r>
          </a:p>
          <a:p>
            <a:pPr lvl="1"/>
            <a:r>
              <a:rPr lang="en-US" dirty="0"/>
              <a:t>include definitions and examples</a:t>
            </a:r>
          </a:p>
          <a:p>
            <a:pPr lvl="1"/>
            <a:r>
              <a:rPr lang="en-US" dirty="0"/>
              <a:t>use abbreviations appropriately</a:t>
            </a:r>
          </a:p>
          <a:p>
            <a:pPr lvl="1"/>
            <a:r>
              <a:rPr lang="en-US" dirty="0"/>
              <a:t>record questions</a:t>
            </a:r>
          </a:p>
          <a:p>
            <a:pPr lvl="1"/>
            <a:r>
              <a:rPr lang="en-US" dirty="0"/>
              <a:t>distinguish your ideas from source information</a:t>
            </a:r>
          </a:p>
          <a:p>
            <a:pPr lvl="1"/>
            <a:r>
              <a:rPr lang="en-US" dirty="0" err="1"/>
              <a:t>summarise</a:t>
            </a:r>
            <a:r>
              <a:rPr lang="en-US" dirty="0"/>
              <a:t> information in your own words</a:t>
            </a:r>
          </a:p>
          <a:p>
            <a:pPr lvl="1"/>
            <a:r>
              <a:rPr lang="en-US" dirty="0"/>
              <a:t>review and improve notes after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Ineffective notes</a:t>
            </a:r>
          </a:p>
          <a:p>
            <a:pPr lvl="1"/>
            <a:r>
              <a:rPr lang="en-US" dirty="0"/>
              <a:t>copying every word</a:t>
            </a:r>
          </a:p>
          <a:p>
            <a:pPr lvl="1"/>
            <a:r>
              <a:rPr lang="en-US" dirty="0"/>
              <a:t>writing without understanding</a:t>
            </a:r>
          </a:p>
          <a:p>
            <a:pPr lvl="1"/>
            <a:r>
              <a:rPr lang="en-US" dirty="0"/>
              <a:t>highlighting almost everything</a:t>
            </a:r>
          </a:p>
          <a:p>
            <a:pPr lvl="1"/>
            <a:r>
              <a:rPr lang="en-US" dirty="0"/>
              <a:t>having no headings or organization</a:t>
            </a:r>
          </a:p>
          <a:p>
            <a:pPr lvl="1"/>
            <a:r>
              <a:rPr lang="en-US" dirty="0"/>
              <a:t>copying directly from a source without identifying it</a:t>
            </a:r>
          </a:p>
          <a:p>
            <a:pPr lvl="1"/>
            <a:r>
              <a:rPr lang="en-US" dirty="0"/>
              <a:t>never reviewing the notes</a:t>
            </a:r>
          </a:p>
        </p:txBody>
      </p:sp>
    </p:spTree>
    <p:extLst>
      <p:ext uri="{BB962C8B-B14F-4D97-AF65-F5344CB8AC3E}">
        <p14:creationId xmlns:p14="http://schemas.microsoft.com/office/powerpoint/2010/main" val="626101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AF89-151F-51A3-457F-CC4135CA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889" y="119465"/>
            <a:ext cx="10515600" cy="1325563"/>
          </a:xfrm>
        </p:spPr>
        <p:txBody>
          <a:bodyPr/>
          <a:lstStyle/>
          <a:p>
            <a:r>
              <a:rPr lang="en-US" dirty="0"/>
              <a:t>The Cornell Note-Taking Method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F00779-8694-9017-3324-2B8ECAABF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381374"/>
              </p:ext>
            </p:extLst>
          </p:nvPr>
        </p:nvGraphicFramePr>
        <p:xfrm>
          <a:off x="838200" y="1280160"/>
          <a:ext cx="10515600" cy="5577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011007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Divide the page into four areas: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 Title and date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Write the topic, module and date.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2. Main notes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Record: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key ideas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explanations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Definitions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3. Cue or question column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Write: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keywords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possible test questions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points requiring clarification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4. Summary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Write a short summary of the lesson in your own words.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Your existing course plan already identifies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Cornell notes 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 the principal note-taking activity.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46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3116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312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6D6AEBA-9E84-BD59-5682-68B760D66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6382" y="643466"/>
            <a:ext cx="6362092" cy="556683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576C187-229C-8561-2AD2-75441274EB6E}"/>
              </a:ext>
            </a:extLst>
          </p:cNvPr>
          <p:cNvSpPr txBox="1"/>
          <p:nvPr/>
        </p:nvSpPr>
        <p:spPr>
          <a:xfrm>
            <a:off x="1693445" y="235127"/>
            <a:ext cx="609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How to Take Cornell Notes (with Pictures) - </a:t>
            </a:r>
            <a:r>
              <a:rPr lang="en-US" dirty="0" err="1">
                <a:hlinkClick r:id="rId4"/>
              </a:rPr>
              <a:t>wikiHow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0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C647EB-7A14-CCC0-AEDB-0E0E2CF7A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617" y="643466"/>
            <a:ext cx="4091622" cy="556683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02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A683D1-3472-45F6-E693-440AF538C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369" y="643466"/>
            <a:ext cx="4008119" cy="556683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6520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15D7-B8B9-8A52-2073-A6A44AF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Cornell Notes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50F494-B71C-470C-27E6-FDC5FD7E5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500778"/>
              </p:ext>
            </p:extLst>
          </p:nvPr>
        </p:nvGraphicFramePr>
        <p:xfrm>
          <a:off x="751764" y="1860871"/>
          <a:ext cx="10515600" cy="453688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8449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Topic: Time Management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Cue or questions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is procrastination?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Why should tasks be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prioritised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?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makes a plan realistic?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Main notes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Procrastination means unnecessarily delaying a task.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Tasks can be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organised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according to importance and urgency.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 realistic plan includes classes, study, travel, meals and rest.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Summary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Effective time management requires students to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prioritise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important work, begin early and create a balanced plan.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43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95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98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1529-54D0-8230-21B5-C4AB2CD4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Mind Mapping?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2FD8-9BFF-44D9-02DC-7A9018A5E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mind map is a visual method of </a:t>
            </a:r>
            <a:r>
              <a:rPr lang="en-US" dirty="0" err="1"/>
              <a:t>organising</a:t>
            </a:r>
            <a:r>
              <a:rPr lang="en-US" dirty="0"/>
              <a:t> information around one central topic.</a:t>
            </a:r>
          </a:p>
          <a:p>
            <a:pPr marL="0" indent="0">
              <a:buNone/>
            </a:pPr>
            <a:r>
              <a:rPr lang="en-US" dirty="0"/>
              <a:t>A mind map usually contains: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one central topic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main branches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supporting ideas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Keywords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Colours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symbols or simple images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connections between ideas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Mind mapping can be used as a visual approach to note-taking and study.</a:t>
            </a:r>
          </a:p>
        </p:txBody>
      </p:sp>
    </p:spTree>
    <p:extLst>
      <p:ext uri="{BB962C8B-B14F-4D97-AF65-F5344CB8AC3E}">
        <p14:creationId xmlns:p14="http://schemas.microsoft.com/office/powerpoint/2010/main" val="267871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3CE3-430B-3F78-DC75-B4612A2A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594" y="236406"/>
            <a:ext cx="10515600" cy="1325563"/>
          </a:xfrm>
        </p:spPr>
        <p:txBody>
          <a:bodyPr/>
          <a:lstStyle/>
          <a:p>
            <a:r>
              <a:rPr lang="en-US" dirty="0"/>
              <a:t>How to Create a Mind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FB06B-5E63-B618-EF1D-AB08F79D5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806" y="130721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the main topic in the </a:t>
            </a:r>
            <a:r>
              <a:rPr lang="en-US" dirty="0" err="1"/>
              <a:t>centre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Add branches for the main ideas.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Add smaller branches for supporting information.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Use keywords instead of long paragraphs.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dirty="0" err="1"/>
              <a:t>colours</a:t>
            </a:r>
            <a:r>
              <a:rPr lang="en-US" dirty="0"/>
              <a:t> to separate categories.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Add examples, symbols or images.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Review whether the relationships are clear.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8FEBBE-B293-8B9B-B80B-518E97611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65066"/>
              </p:ext>
            </p:extLst>
          </p:nvPr>
        </p:nvGraphicFramePr>
        <p:xfrm>
          <a:off x="874594" y="4299769"/>
          <a:ext cx="10515600" cy="2621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10215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 central topic:</a:t>
                      </a:r>
                      <a:b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“How to Study Effectively”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Possible branches: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learning preferences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note-taking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mind mapping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VLE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revision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2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04948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124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B13D0-79DC-F655-3F19-2BDBEEB4A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08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7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7B846D-1050-00B3-4776-E3353096D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343" r="-2" b="9027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48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C71B-F8AB-6FD9-08A1-228E51A10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or Mind Map?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4DE467-6B1E-0B9A-BAFF-E147591A32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549740"/>
              </p:ext>
            </p:extLst>
          </p:nvPr>
        </p:nvGraphicFramePr>
        <p:xfrm>
          <a:off x="838200" y="1729226"/>
          <a:ext cx="10515600" cy="41910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1013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Use linear notes when: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information follows a clear order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detailed explanations are required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definitions and examples must be recorded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the lecturer presents information step by step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Use a mind map when: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 need to see the overall topic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ideas are connected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 are planning an assignment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 are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summarising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a large topic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 are preparing for revision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5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Good practice:</a:t>
                      </a:r>
                      <a:b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Students can first create notes and then convert the key information into a mind map.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97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2135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245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AF77-935C-1810-BA00-D51C6336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Time Management Matters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2B10E3-9B65-C70E-B73C-21611DC08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591303"/>
              </p:ext>
            </p:extLst>
          </p:nvPr>
        </p:nvGraphicFramePr>
        <p:xfrm>
          <a:off x="892791" y="1873665"/>
          <a:ext cx="10515600" cy="3291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47635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Effective time management helps students to: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meet deadlines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attend classes and complete independent study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reduce last-minute pressure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balance study and personal responsibilities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make time for rest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complete work to a better standard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monitor academic progress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University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study-skills guidance 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links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time management 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with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meeting deadlines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completing readings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balancing university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personal life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. 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50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8238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786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003B-29F8-4F1B-7827-9A2E8F17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Time-Management Problems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43D1CA-444E-507D-6B5B-E0EC3767A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4203"/>
              </p:ext>
            </p:extLst>
          </p:nvPr>
        </p:nvGraphicFramePr>
        <p:xfrm>
          <a:off x="838200" y="1737471"/>
          <a:ext cx="10515600" cy="32004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36592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Students may experience: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procrastination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distractions from phones or social media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unclear priorities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unrealistic timetables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starting assessments too late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forgetting deadlines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spending too long on small tasks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trying to complete several tasks simultaneously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failing to include rest and travel time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39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Think-Pair-Share: Which problem affects university students most, and why?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2742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830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D2BF-5498-17E1-8697-3208B429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62"/>
            <a:ext cx="10515600" cy="1325563"/>
          </a:xfrm>
        </p:spPr>
        <p:txBody>
          <a:bodyPr/>
          <a:lstStyle/>
          <a:p>
            <a:r>
              <a:rPr lang="en-US" dirty="0"/>
              <a:t>Urgent and Important Tasks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1EAE6B-84C0-AA2E-BEBC-D287076FF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035413"/>
              </p:ext>
            </p:extLst>
          </p:nvPr>
        </p:nvGraphicFramePr>
        <p:xfrm>
          <a:off x="883692" y="1142372"/>
          <a:ext cx="10515600" cy="59040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231243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Tasks can be divided into four categories: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 Urgent and important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Do these tasks first.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An assignment due tomorrow.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2. Important but not urgent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Plan when to complete them.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Research for an assignment due in three weeks.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3. Urgent but less important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Complete quickly, schedule or seek appropriate support.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A routine message requiring a simple response.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4. Neither urgent nor important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Reduce or remove these activities.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Unplanned social-media scrolling during study time.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98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8801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364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69B3-50C9-B796-0B7A-C4088E65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Realistic Study Timetable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554FD8-629E-951C-A23A-022CDEC5D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179378"/>
              </p:ext>
            </p:extLst>
          </p:nvPr>
        </p:nvGraphicFramePr>
        <p:xfrm>
          <a:off x="884499" y="1547944"/>
          <a:ext cx="10515600" cy="45720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011527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useful weekly timetable should include: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classes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independent study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assignment work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revision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travel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meals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exercise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family responsibilities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rest and sleep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short productive breaks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spare time for unexpected tasks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Important:</a:t>
                      </a:r>
                      <a:b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Do not fill every available hour. A timetable must be realistic and flexible.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35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8173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126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1D28-F150-415D-551C-CBE3932C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40" y="127844"/>
            <a:ext cx="10515600" cy="1325563"/>
          </a:xfrm>
        </p:spPr>
        <p:txBody>
          <a:bodyPr/>
          <a:lstStyle/>
          <a:p>
            <a:r>
              <a:rPr lang="en-US" dirty="0"/>
              <a:t>Breaking Down a Large Assignment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14BAC0-E6D8-8AE0-4B0B-DE780A92B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082245"/>
              </p:ext>
            </p:extLst>
          </p:nvPr>
        </p:nvGraphicFramePr>
        <p:xfrm>
          <a:off x="728240" y="1325372"/>
          <a:ext cx="10515600" cy="490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949251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Instead of writing: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“Complete my assignment”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Break it into manageable tasks: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 the assessment brief.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Identify the required sections.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Search for appropriate sources.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 and make notes.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Create an outline.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Write the first draft.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Add references.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edit and proofread.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check the submission requirements.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submit before the deadline.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Key principle:</a:t>
                      </a:r>
                      <a:b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large task becomes manageable when it is divided into smaller actions.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64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16841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378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B087-DA9D-12D3-F5C2-689EC98D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02" y="330401"/>
            <a:ext cx="10515600" cy="1325563"/>
          </a:xfrm>
        </p:spPr>
        <p:txBody>
          <a:bodyPr/>
          <a:lstStyle/>
          <a:p>
            <a:r>
              <a:rPr lang="en-US" dirty="0"/>
              <a:t>Managing Procrastination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590B90-F388-D8DE-ACED-4514F8ECD9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642282"/>
              </p:ext>
            </p:extLst>
          </p:nvPr>
        </p:nvGraphicFramePr>
        <p:xfrm>
          <a:off x="838200" y="1553731"/>
          <a:ext cx="10515600" cy="408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227855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To reduce procrastination: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begin with one small task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remove distractions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set a clear study goal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use a timer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work in focused blocks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take planned breaks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prepare your study materials in advance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reward progress rather than waiting for perfection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ask for help before the problem becomes serious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 study pattern: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25 minutes of focused study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5-minute break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repeat as appropriate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396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0390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962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B3A9-6214-BE65-800D-BD52EF52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26" y="266740"/>
            <a:ext cx="10515600" cy="1325563"/>
          </a:xfrm>
        </p:spPr>
        <p:txBody>
          <a:bodyPr/>
          <a:lstStyle/>
          <a:p>
            <a:r>
              <a:rPr lang="en-US" dirty="0"/>
              <a:t>What Is a VLE?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0EF178-206B-3910-703E-B79EC540E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234219"/>
              </p:ext>
            </p:extLst>
          </p:nvPr>
        </p:nvGraphicFramePr>
        <p:xfrm>
          <a:off x="838200" y="1365440"/>
          <a:ext cx="10515600" cy="54925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61672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VLE means Virtual Learning Environment.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285750" indent="-28575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VLE is the institution’s online learning platform.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It may be used to access: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module information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lecture slides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reading materials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announcements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assessment instructions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submission areas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discussion forums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feedback and grades</a:t>
                      </a:r>
                    </a:p>
                    <a:p>
                      <a:pPr marL="342900" lvl="0" indent="-342900" fontAlgn="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calendars and deadlines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84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6023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106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11C7-A51D-462C-059D-7205E243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77" y="365125"/>
            <a:ext cx="10515600" cy="1325563"/>
          </a:xfrm>
        </p:spPr>
        <p:txBody>
          <a:bodyPr/>
          <a:lstStyle/>
          <a:p>
            <a:r>
              <a:rPr lang="en-US" dirty="0"/>
              <a:t>Using the VLE Responsibly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0FC096-1FD7-1EF5-6559-2E32121AC4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142568"/>
              </p:ext>
            </p:extLst>
          </p:nvPr>
        </p:nvGraphicFramePr>
        <p:xfrm>
          <a:off x="838200" y="1690688"/>
          <a:ext cx="10515600" cy="40233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351015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Students should: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check announcements regularly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 the module and assessment information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download relevant learning materials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check deadlines carefully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 the correct submission area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keep files clearly named and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organised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review submission confirmation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participate respectfully in online discussions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ask for support when technical problems occur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Key message:</a:t>
                      </a:r>
                      <a:b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Downloading resources is not the same as learning. Students must read, understand and use them.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74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0464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935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A1C4-EB5C-4881-745B-CFBA72B6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01" y="93067"/>
            <a:ext cx="10515600" cy="1325563"/>
          </a:xfrm>
        </p:spPr>
        <p:txBody>
          <a:bodyPr/>
          <a:lstStyle/>
          <a:p>
            <a:r>
              <a:rPr lang="en-US" dirty="0" err="1"/>
              <a:t>Organising</a:t>
            </a:r>
            <a:r>
              <a:rPr lang="en-US" dirty="0"/>
              <a:t> Digital Study Materials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DD4A96-189E-97B4-B578-EC5B96324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42435"/>
              </p:ext>
            </p:extLst>
          </p:nvPr>
        </p:nvGraphicFramePr>
        <p:xfrm>
          <a:off x="838200" y="1095653"/>
          <a:ext cx="10515600" cy="5669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391025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Create a separate folder for each module.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 structure: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Fundamentals of Study and Employability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Lecture Slides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Class Activities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Homework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Portfolio Evidence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Reading Materials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Assessment Brief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>
                          <a:effectLst/>
                          <a:latin typeface="Segoe UI" panose="020B0502040204020203" pitchFamily="34" charset="0"/>
                        </a:rPr>
                        <a:t>Draftss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Final Submission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 clear filenames: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Week_02_Cornell_Notes.docx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Time_Management_Plan.docx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Study_Skills_Reflection.docx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Avoid filenames such as: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document1.docx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new final.docx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final </a:t>
                      </a:r>
                      <a:r>
                        <a:rPr lang="en-US" sz="1800" b="0" i="0" dirty="0" err="1">
                          <a:effectLst/>
                          <a:latin typeface="Courier New" panose="02070309020205020404" pitchFamily="49" charset="0"/>
                        </a:rPr>
                        <a:t>final</a:t>
                      </a:r>
                      <a:r>
                        <a:rPr lang="en-US" sz="1800" b="0" i="0" dirty="0">
                          <a:effectLst/>
                          <a:latin typeface="Courier New" panose="02070309020205020404" pitchFamily="49" charset="0"/>
                        </a:rPr>
                        <a:t> latest.docx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52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98966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783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0A37-ACCE-C197-7A8B-9054AD8D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8" y="370913"/>
            <a:ext cx="10515600" cy="1325563"/>
          </a:xfrm>
        </p:spPr>
        <p:txBody>
          <a:bodyPr/>
          <a:lstStyle/>
          <a:p>
            <a:r>
              <a:rPr lang="en-US" dirty="0"/>
              <a:t>Practical Activity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3EB514-E400-FC15-D12F-A30FE01D0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988618"/>
              </p:ext>
            </p:extLst>
          </p:nvPr>
        </p:nvGraphicFramePr>
        <p:xfrm>
          <a:off x="838200" y="1766898"/>
          <a:ext cx="10515600" cy="34747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95185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Study Skills Challenge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Complete the following tasks individually: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 or listen to a short explanation provided by the lecturer.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Create Cornell notes from the explanation.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Identify the most important ideas.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Convert the notes into a mind map.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Write one question that tests understanding.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Identify which method helped you understand the topic better.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Explain why that method was useful.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Your course plan already connects note comparison, Cornell notes and conversion of notes into a mind map.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74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0978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9" name="Slide Zoom 48">
                <a:extLst>
                  <a:ext uri="{FF2B5EF4-FFF2-40B4-BE49-F238E27FC236}">
                    <a16:creationId xmlns:a16="http://schemas.microsoft.com/office/drawing/2014/main" id="{48F3CC7E-3AF7-BDEE-5951-F4643AD550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0873698"/>
                  </p:ext>
                </p:extLst>
              </p:nvPr>
            </p:nvGraphicFramePr>
            <p:xfrm>
              <a:off x="7090410" y="4903470"/>
              <a:ext cx="3048000" cy="1714500"/>
            </p:xfrm>
            <a:graphic>
              <a:graphicData uri="http://schemas.microsoft.com/office/powerpoint/2016/slidezoom">
                <pslz:sldZm>
                  <pslz:sldZmObj sldId="277" cId="1227786971">
                    <pslz:zmPr id="{24215C52-D61C-4130-A305-E5F8DFA92F3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9" name="Slide Zoom 48">
                <a:extLst>
                  <a:ext uri="{FF2B5EF4-FFF2-40B4-BE49-F238E27FC236}">
                    <a16:creationId xmlns:a16="http://schemas.microsoft.com/office/drawing/2014/main" id="{48F3CC7E-3AF7-BDEE-5951-F4643AD550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90410" y="49034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1" name="Slide Zoom 50">
                <a:extLst>
                  <a:ext uri="{FF2B5EF4-FFF2-40B4-BE49-F238E27FC236}">
                    <a16:creationId xmlns:a16="http://schemas.microsoft.com/office/drawing/2014/main" id="{816CBA80-9BBE-424B-A3C3-56FFC70B05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1242980"/>
                  </p:ext>
                </p:extLst>
              </p:nvPr>
            </p:nvGraphicFramePr>
            <p:xfrm>
              <a:off x="7242810" y="5055870"/>
              <a:ext cx="3048000" cy="1714500"/>
            </p:xfrm>
            <a:graphic>
              <a:graphicData uri="http://schemas.microsoft.com/office/powerpoint/2016/slidezoom">
                <pslz:sldZm>
                  <pslz:sldZmObj sldId="278" cId="4026830026">
                    <pslz:zmPr id="{3D43FED9-3470-4447-AA65-168A7D363943}" returnToParent="0" transitionDur="1000">
                      <p166:blipFill xmlns:p166="http://schemas.microsoft.com/office/powerpoint/2016/6/main">
                        <a:blip r:embed="rId2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1" name="Slide Zoom 50">
                <a:extLst>
                  <a:ext uri="{FF2B5EF4-FFF2-40B4-BE49-F238E27FC236}">
                    <a16:creationId xmlns:a16="http://schemas.microsoft.com/office/drawing/2014/main" id="{816CBA80-9BBE-424B-A3C3-56FFC70B05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42810" y="50558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3" name="Slide Zoom 52">
                <a:extLst>
                  <a:ext uri="{FF2B5EF4-FFF2-40B4-BE49-F238E27FC236}">
                    <a16:creationId xmlns:a16="http://schemas.microsoft.com/office/drawing/2014/main" id="{F9C93633-79F8-D993-2C09-B0D85A7F1B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1345912"/>
                  </p:ext>
                </p:extLst>
              </p:nvPr>
            </p:nvGraphicFramePr>
            <p:xfrm>
              <a:off x="7395210" y="5208270"/>
              <a:ext cx="3048000" cy="1714500"/>
            </p:xfrm>
            <a:graphic>
              <a:graphicData uri="http://schemas.microsoft.com/office/powerpoint/2016/slidezoom">
                <pslz:sldZm>
                  <pslz:sldZmObj sldId="279" cId="1582364625">
                    <pslz:zmPr id="{3E849254-3A6C-41B4-B269-6E7DD79C19C2}" returnToParent="0" transitionDur="1000">
                      <p166:blipFill xmlns:p166="http://schemas.microsoft.com/office/powerpoint/2016/6/main">
                        <a:blip r:embed="rId2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3" name="Slide Zoom 52">
                <a:extLst>
                  <a:ext uri="{FF2B5EF4-FFF2-40B4-BE49-F238E27FC236}">
                    <a16:creationId xmlns:a16="http://schemas.microsoft.com/office/drawing/2014/main" id="{F9C93633-79F8-D993-2C09-B0D85A7F1B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95210" y="52082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5" name="Slide Zoom 54">
                <a:extLst>
                  <a:ext uri="{FF2B5EF4-FFF2-40B4-BE49-F238E27FC236}">
                    <a16:creationId xmlns:a16="http://schemas.microsoft.com/office/drawing/2014/main" id="{2793F608-4F07-BE03-C639-E20584C0EB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7466289"/>
                  </p:ext>
                </p:extLst>
              </p:nvPr>
            </p:nvGraphicFramePr>
            <p:xfrm>
              <a:off x="7547610" y="5360670"/>
              <a:ext cx="3048000" cy="1714500"/>
            </p:xfrm>
            <a:graphic>
              <a:graphicData uri="http://schemas.microsoft.com/office/powerpoint/2016/slidezoom">
                <pslz:sldZm>
                  <pslz:sldZmObj sldId="280" cId="3856126925">
                    <pslz:zmPr id="{2AA21BD6-66CA-4573-BDC1-F9CE651BA12B}" returnToParent="0" transitionDur="1000">
                      <p166:blipFill xmlns:p166="http://schemas.microsoft.com/office/powerpoint/2016/6/main">
                        <a:blip r:embed="rId2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5" name="Slide Zoom 54">
                <a:extLst>
                  <a:ext uri="{FF2B5EF4-FFF2-40B4-BE49-F238E27FC236}">
                    <a16:creationId xmlns:a16="http://schemas.microsoft.com/office/drawing/2014/main" id="{2793F608-4F07-BE03-C639-E20584C0EB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47610" y="53606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7" name="Slide Zoom 56">
                <a:extLst>
                  <a:ext uri="{FF2B5EF4-FFF2-40B4-BE49-F238E27FC236}">
                    <a16:creationId xmlns:a16="http://schemas.microsoft.com/office/drawing/2014/main" id="{37335F66-A854-F94E-C85E-38E168DFDA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81094688"/>
                  </p:ext>
                </p:extLst>
              </p:nvPr>
            </p:nvGraphicFramePr>
            <p:xfrm>
              <a:off x="7700010" y="5513070"/>
              <a:ext cx="3048000" cy="1714500"/>
            </p:xfrm>
            <a:graphic>
              <a:graphicData uri="http://schemas.microsoft.com/office/powerpoint/2016/slidezoom">
                <pslz:sldZm>
                  <pslz:sldZmObj sldId="281" cId="4201378025">
                    <pslz:zmPr id="{BD991DC2-30B0-400E-BCC3-9B061A61F91B}" returnToParent="0" transitionDur="1000">
                      <p166:blipFill xmlns:p166="http://schemas.microsoft.com/office/powerpoint/2016/6/main">
                        <a:blip r:embed="rId3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7" name="Slide Zoom 56">
                <a:extLst>
                  <a:ext uri="{FF2B5EF4-FFF2-40B4-BE49-F238E27FC236}">
                    <a16:creationId xmlns:a16="http://schemas.microsoft.com/office/drawing/2014/main" id="{37335F66-A854-F94E-C85E-38E168DFDA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00010" y="55130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9" name="Slide Zoom 58">
                <a:extLst>
                  <a:ext uri="{FF2B5EF4-FFF2-40B4-BE49-F238E27FC236}">
                    <a16:creationId xmlns:a16="http://schemas.microsoft.com/office/drawing/2014/main" id="{61EF001D-E888-E437-97DD-69E03BF720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4538008"/>
                  </p:ext>
                </p:extLst>
              </p:nvPr>
            </p:nvGraphicFramePr>
            <p:xfrm>
              <a:off x="7852410" y="5665470"/>
              <a:ext cx="3048000" cy="1714500"/>
            </p:xfrm>
            <a:graphic>
              <a:graphicData uri="http://schemas.microsoft.com/office/powerpoint/2016/slidezoom">
                <pslz:sldZm>
                  <pslz:sldZmObj sldId="282" cId="2944962037">
                    <pslz:zmPr id="{2ADDB901-988A-4200-AE23-2C1DF87A45EF}" returnToParent="0" transitionDur="1000">
                      <p166:blipFill xmlns:p166="http://schemas.microsoft.com/office/powerpoint/2016/6/main">
                        <a:blip r:embed="rId3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9" name="Slide Zoom 58">
                <a:extLst>
                  <a:ext uri="{FF2B5EF4-FFF2-40B4-BE49-F238E27FC236}">
                    <a16:creationId xmlns:a16="http://schemas.microsoft.com/office/drawing/2014/main" id="{61EF001D-E888-E437-97DD-69E03BF720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52410" y="56654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1" name="Slide Zoom 60">
                <a:extLst>
                  <a:ext uri="{FF2B5EF4-FFF2-40B4-BE49-F238E27FC236}">
                    <a16:creationId xmlns:a16="http://schemas.microsoft.com/office/drawing/2014/main" id="{28B132D4-15E5-DEF8-E72E-77495DD573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7232986"/>
                  </p:ext>
                </p:extLst>
              </p:nvPr>
            </p:nvGraphicFramePr>
            <p:xfrm>
              <a:off x="8004810" y="5817870"/>
              <a:ext cx="3048000" cy="1714500"/>
            </p:xfrm>
            <a:graphic>
              <a:graphicData uri="http://schemas.microsoft.com/office/powerpoint/2016/slidezoom">
                <pslz:sldZm>
                  <pslz:sldZmObj sldId="283" cId="3525106133">
                    <pslz:zmPr id="{A25DDB68-98B7-4D0A-801C-7163A5B9C918}" returnToParent="0" transitionDur="1000">
                      <p166:blipFill xmlns:p166="http://schemas.microsoft.com/office/powerpoint/2016/6/main">
                        <a:blip r:embed="rId3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1" name="Slide Zoom 60">
                <a:extLst>
                  <a:ext uri="{FF2B5EF4-FFF2-40B4-BE49-F238E27FC236}">
                    <a16:creationId xmlns:a16="http://schemas.microsoft.com/office/drawing/2014/main" id="{28B132D4-15E5-DEF8-E72E-77495DD573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04810" y="58178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3" name="Slide Zoom 62">
                <a:extLst>
                  <a:ext uri="{FF2B5EF4-FFF2-40B4-BE49-F238E27FC236}">
                    <a16:creationId xmlns:a16="http://schemas.microsoft.com/office/drawing/2014/main" id="{B6C2CC56-12FF-FC0C-6E43-E3B8DE5334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56464866"/>
                  </p:ext>
                </p:extLst>
              </p:nvPr>
            </p:nvGraphicFramePr>
            <p:xfrm>
              <a:off x="8157210" y="5970270"/>
              <a:ext cx="3048000" cy="1714500"/>
            </p:xfrm>
            <a:graphic>
              <a:graphicData uri="http://schemas.microsoft.com/office/powerpoint/2016/slidezoom">
                <pslz:sldZm>
                  <pslz:sldZmObj sldId="284" cId="704935809">
                    <pslz:zmPr id="{4B4625D1-E9F1-4737-8B81-776DC1054890}" returnToParent="0" transitionDur="1000">
                      <p166:blipFill xmlns:p166="http://schemas.microsoft.com/office/powerpoint/2016/6/main">
                        <a:blip r:embed="rId3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3" name="Slide Zoom 62">
                <a:extLst>
                  <a:ext uri="{FF2B5EF4-FFF2-40B4-BE49-F238E27FC236}">
                    <a16:creationId xmlns:a16="http://schemas.microsoft.com/office/drawing/2014/main" id="{B6C2CC56-12FF-FC0C-6E43-E3B8DE5334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157210" y="59702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5" name="Slide Zoom 64">
                <a:extLst>
                  <a:ext uri="{FF2B5EF4-FFF2-40B4-BE49-F238E27FC236}">
                    <a16:creationId xmlns:a16="http://schemas.microsoft.com/office/drawing/2014/main" id="{DBA2833A-B11F-F763-D784-6724D04E86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6643032"/>
                  </p:ext>
                </p:extLst>
              </p:nvPr>
            </p:nvGraphicFramePr>
            <p:xfrm>
              <a:off x="8309610" y="6122670"/>
              <a:ext cx="3048000" cy="1714500"/>
            </p:xfrm>
            <a:graphic>
              <a:graphicData uri="http://schemas.microsoft.com/office/powerpoint/2016/slidezoom">
                <pslz:sldZm>
                  <pslz:sldZmObj sldId="285" cId="508783315">
                    <pslz:zmPr id="{D0E1B002-05BF-4E50-BEE3-D6F6DA708941}" returnToParent="0" transitionDur="1000">
                      <p166:blipFill xmlns:p166="http://schemas.microsoft.com/office/powerpoint/2016/6/main">
                        <a:blip r:embed="rId3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5" name="Slide Zoom 64">
                <a:extLst>
                  <a:ext uri="{FF2B5EF4-FFF2-40B4-BE49-F238E27FC236}">
                    <a16:creationId xmlns:a16="http://schemas.microsoft.com/office/drawing/2014/main" id="{DBA2833A-B11F-F763-D784-6724D04E86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09610" y="61226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7" name="Slide Zoom 66">
                <a:extLst>
                  <a:ext uri="{FF2B5EF4-FFF2-40B4-BE49-F238E27FC236}">
                    <a16:creationId xmlns:a16="http://schemas.microsoft.com/office/drawing/2014/main" id="{1B4AE708-E68A-E883-C709-730D131254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9035276"/>
                  </p:ext>
                </p:extLst>
              </p:nvPr>
            </p:nvGraphicFramePr>
            <p:xfrm>
              <a:off x="8462010" y="6275070"/>
              <a:ext cx="3048000" cy="1714500"/>
            </p:xfrm>
            <a:graphic>
              <a:graphicData uri="http://schemas.microsoft.com/office/powerpoint/2016/slidezoom">
                <pslz:sldZm>
                  <pslz:sldZmObj sldId="287" cId="3513838718">
                    <pslz:zmPr id="{6EED3845-5A8B-429C-9271-E61EC95F4C6A}" returnToParent="0" transitionDur="1000">
                      <p166:blipFill xmlns:p166="http://schemas.microsoft.com/office/powerpoint/2016/6/main">
                        <a:blip r:embed="rId4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7" name="Slide Zoom 66">
                <a:extLst>
                  <a:ext uri="{FF2B5EF4-FFF2-40B4-BE49-F238E27FC236}">
                    <a16:creationId xmlns:a16="http://schemas.microsoft.com/office/drawing/2014/main" id="{1B4AE708-E68A-E883-C709-730D131254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62010" y="62750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9" name="Slide Zoom 68">
                <a:extLst>
                  <a:ext uri="{FF2B5EF4-FFF2-40B4-BE49-F238E27FC236}">
                    <a16:creationId xmlns:a16="http://schemas.microsoft.com/office/drawing/2014/main" id="{EAAAB358-936B-46BA-ADE4-0E437C1801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7978445"/>
                  </p:ext>
                </p:extLst>
              </p:nvPr>
            </p:nvGraphicFramePr>
            <p:xfrm>
              <a:off x="8614410" y="6427470"/>
              <a:ext cx="3048000" cy="1714500"/>
            </p:xfrm>
            <a:graphic>
              <a:graphicData uri="http://schemas.microsoft.com/office/powerpoint/2016/slidezoom">
                <pslz:sldZm>
                  <pslz:sldZmObj sldId="288" cId="1070222181">
                    <pslz:zmPr id="{8D82F3B8-72AC-4FD0-B852-8F1662A93EB4}" returnToParent="0" transitionDur="1000">
                      <p166:blipFill xmlns:p166="http://schemas.microsoft.com/office/powerpoint/2016/6/main">
                        <a:blip r:embed="rId4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9" name="Slide Zoom 68">
                <a:extLst>
                  <a:ext uri="{FF2B5EF4-FFF2-40B4-BE49-F238E27FC236}">
                    <a16:creationId xmlns:a16="http://schemas.microsoft.com/office/drawing/2014/main" id="{EAAAB358-936B-46BA-ADE4-0E437C1801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614410" y="64274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1" name="Slide Zoom 70">
                <a:extLst>
                  <a:ext uri="{FF2B5EF4-FFF2-40B4-BE49-F238E27FC236}">
                    <a16:creationId xmlns:a16="http://schemas.microsoft.com/office/drawing/2014/main" id="{8E05077C-38E0-B2DA-567B-2A2A11C21F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6091695"/>
                  </p:ext>
                </p:extLst>
              </p:nvPr>
            </p:nvGraphicFramePr>
            <p:xfrm>
              <a:off x="8766810" y="6579870"/>
              <a:ext cx="3048000" cy="1714500"/>
            </p:xfrm>
            <a:graphic>
              <a:graphicData uri="http://schemas.microsoft.com/office/powerpoint/2016/slidezoom">
                <pslz:sldZm>
                  <pslz:sldZmObj sldId="291" cId="1526762312">
                    <pslz:zmPr id="{398DF6AA-7F91-42A8-AB7E-2B22B6D24C8F}" returnToParent="0" transitionDur="1000">
                      <p166:blipFill xmlns:p166="http://schemas.microsoft.com/office/powerpoint/2016/6/main">
                        <a:blip r:embed="rId4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1" name="Slide Zoom 70">
                <a:extLst>
                  <a:ext uri="{FF2B5EF4-FFF2-40B4-BE49-F238E27FC236}">
                    <a16:creationId xmlns:a16="http://schemas.microsoft.com/office/drawing/2014/main" id="{8E05077C-38E0-B2DA-567B-2A2A11C21F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766810" y="65798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3" name="Slide Zoom 72">
                <a:extLst>
                  <a:ext uri="{FF2B5EF4-FFF2-40B4-BE49-F238E27FC236}">
                    <a16:creationId xmlns:a16="http://schemas.microsoft.com/office/drawing/2014/main" id="{D2C5F6D5-4214-8E43-6A1F-4613AB5B59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4464963"/>
                  </p:ext>
                </p:extLst>
              </p:nvPr>
            </p:nvGraphicFramePr>
            <p:xfrm>
              <a:off x="8919210" y="6732270"/>
              <a:ext cx="3048000" cy="1714500"/>
            </p:xfrm>
            <a:graphic>
              <a:graphicData uri="http://schemas.microsoft.com/office/powerpoint/2016/slidezoom">
                <pslz:sldZm>
                  <pslz:sldZmObj sldId="289" cId="2934311116">
                    <pslz:zmPr id="{7759715A-87DC-46F5-9A8D-669CFA81CBE5}" returnToParent="0" transitionDur="1000">
                      <p166:blipFill xmlns:p166="http://schemas.microsoft.com/office/powerpoint/2016/6/main">
                        <a:blip r:embed="rId4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3" name="Slide Zoom 72">
                <a:extLst>
                  <a:ext uri="{FF2B5EF4-FFF2-40B4-BE49-F238E27FC236}">
                    <a16:creationId xmlns:a16="http://schemas.microsoft.com/office/drawing/2014/main" id="{D2C5F6D5-4214-8E43-6A1F-4613AB5B59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919210" y="67322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5" name="Slide Zoom 74">
                <a:extLst>
                  <a:ext uri="{FF2B5EF4-FFF2-40B4-BE49-F238E27FC236}">
                    <a16:creationId xmlns:a16="http://schemas.microsoft.com/office/drawing/2014/main" id="{DEAA8CD8-9E46-3D47-95B8-D41EB92E992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7229179"/>
                  </p:ext>
                </p:extLst>
              </p:nvPr>
            </p:nvGraphicFramePr>
            <p:xfrm>
              <a:off x="9071610" y="6884670"/>
              <a:ext cx="3048000" cy="1714500"/>
            </p:xfrm>
            <a:graphic>
              <a:graphicData uri="http://schemas.microsoft.com/office/powerpoint/2016/slidezoom">
                <pslz:sldZm>
                  <pslz:sldZmObj sldId="290" cId="648319073">
                    <pslz:zmPr id="{88494992-E793-4A30-94E1-CF32E8785DE4}" returnToParent="0" transitionDur="1000">
                      <p166:blipFill xmlns:p166="http://schemas.microsoft.com/office/powerpoint/2016/6/main">
                        <a:blip r:embed="rId4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5" name="Slide Zoom 74">
                <a:extLst>
                  <a:ext uri="{FF2B5EF4-FFF2-40B4-BE49-F238E27FC236}">
                    <a16:creationId xmlns:a16="http://schemas.microsoft.com/office/drawing/2014/main" id="{DEAA8CD8-9E46-3D47-95B8-D41EB92E99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071610" y="688467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8084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F75C-950F-915A-B660-3BE6595E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Questions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A86BEE-9D71-BF31-5ED3-A35DDA7D1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751449"/>
              </p:ext>
            </p:extLst>
          </p:nvPr>
        </p:nvGraphicFramePr>
        <p:xfrm>
          <a:off x="838200" y="1384517"/>
          <a:ext cx="10515600" cy="3505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34009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Scenario 1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 copies every word from the lecturer’s slides but cannot explain the topic.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What is wrong with this study method?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Scenario 2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 highlights almost every sentence in a chapter.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Is this effective selection of information?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Scenario 3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 downloads every VLE resource but does not open any of them.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Is the student learning effectively?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Scenario 4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student’s timetable contains no time for travel, meals or rest.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Is the timetable realistic?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Scenario 5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Two assessments are due in the same week.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What should the student do before beginning the work?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These scenarios reflect the assessment and teaching activities already included in your module documents.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07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666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838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8FC6-9A3F-E78F-0660-603E8FD9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Study Skills Action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D3017C-DB30-E9AC-B609-0DBFF5005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240883"/>
              </p:ext>
            </p:extLst>
          </p:nvPr>
        </p:nvGraphicFramePr>
        <p:xfrm>
          <a:off x="838200" y="1945823"/>
          <a:ext cx="10515600" cy="2651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65447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Complete the following statements: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One study habit I already perform well is: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One study habit I need to improve is: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One note-taking method I will use is: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One distraction I will reduce is: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One way I will use the VLE more effectively is: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The first action I will take is: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 will review my progress on: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29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9843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222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8D2F-9BD5-1D3B-0ECA-11788D20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07" y="543434"/>
            <a:ext cx="10515600" cy="1325563"/>
          </a:xfrm>
        </p:spPr>
        <p:txBody>
          <a:bodyPr/>
          <a:lstStyle/>
          <a:p>
            <a:r>
              <a:rPr lang="en-US" dirty="0"/>
              <a:t>Effective Revision Techniques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C4235D-3655-A769-349D-B06128073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370616"/>
              </p:ext>
            </p:extLst>
          </p:nvPr>
        </p:nvGraphicFramePr>
        <p:xfrm>
          <a:off x="759237" y="1559686"/>
          <a:ext cx="10515600" cy="47548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89730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Self-testing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Practice questions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Teaching someone else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Spaced repetition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98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Common Study Mistakes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Cramming before exams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Copying notes without understanding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Multitasking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Ignoring deadlines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Not asking for help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Independent Learning at University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Students are responsible for their own learning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Reading before class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Completing tasks without reminders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Seeking academic support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878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8594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76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2022</Words>
  <Application>Microsoft Office PowerPoint</Application>
  <PresentationFormat>Widescreen</PresentationFormat>
  <Paragraphs>392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Courier New</vt:lpstr>
      <vt:lpstr>Segoe UI</vt:lpstr>
      <vt:lpstr>Wingdings</vt:lpstr>
      <vt:lpstr>Office Theme</vt:lpstr>
      <vt:lpstr>CIS092-1 Fundamentals of Study and Employability</vt:lpstr>
      <vt:lpstr>How to Study Effectively</vt:lpstr>
      <vt:lpstr>Learning Outcomes</vt:lpstr>
      <vt:lpstr>What Does “How to Study” Mean?</vt:lpstr>
      <vt:lpstr>Your Current Study Habits</vt:lpstr>
      <vt:lpstr>Understanding Learning Preferences</vt:lpstr>
      <vt:lpstr>Applying Different Learning Methods</vt:lpstr>
      <vt:lpstr>Active Learning and Passive Learning</vt:lpstr>
      <vt:lpstr>The Active Study Cycle</vt:lpstr>
      <vt:lpstr>Why Note-Taking Matters</vt:lpstr>
      <vt:lpstr>Ineffective and Effective Notes</vt:lpstr>
      <vt:lpstr>The Cornell Note-Taking Method</vt:lpstr>
      <vt:lpstr>PowerPoint Presentation</vt:lpstr>
      <vt:lpstr>PowerPoint Presentation</vt:lpstr>
      <vt:lpstr>PowerPoint Presentation</vt:lpstr>
      <vt:lpstr>Cornell Notes Example</vt:lpstr>
      <vt:lpstr>What Is Mind Mapping?</vt:lpstr>
      <vt:lpstr>How to Create a Mind Map</vt:lpstr>
      <vt:lpstr>PowerPoint Presentation</vt:lpstr>
      <vt:lpstr>PowerPoint Presentation</vt:lpstr>
      <vt:lpstr>Notes or Mind Map?</vt:lpstr>
      <vt:lpstr>Why Time Management Matters</vt:lpstr>
      <vt:lpstr>Common Time-Management Problems</vt:lpstr>
      <vt:lpstr>Urgent and Important Tasks</vt:lpstr>
      <vt:lpstr>Creating a Realistic Study Timetable</vt:lpstr>
      <vt:lpstr>Breaking Down a Large Assignment</vt:lpstr>
      <vt:lpstr>Managing Procrastination</vt:lpstr>
      <vt:lpstr>What Is a VLE?</vt:lpstr>
      <vt:lpstr>Using the VLE Responsibly</vt:lpstr>
      <vt:lpstr>Organising Digital Study Materials</vt:lpstr>
      <vt:lpstr>Practical Activity</vt:lpstr>
      <vt:lpstr>Scenario Questions </vt:lpstr>
      <vt:lpstr>Personal Study Skills Action Plan</vt:lpstr>
      <vt:lpstr>Effective Revision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1</cp:revision>
  <dcterms:created xsi:type="dcterms:W3CDTF">2026-09-14T16:57:41Z</dcterms:created>
  <dcterms:modified xsi:type="dcterms:W3CDTF">2026-09-24T17:17:17Z</dcterms:modified>
</cp:coreProperties>
</file>