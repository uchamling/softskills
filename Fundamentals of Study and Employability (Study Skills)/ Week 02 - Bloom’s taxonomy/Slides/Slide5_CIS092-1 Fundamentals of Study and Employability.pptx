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8" r:id="rId6"/>
    <p:sldId id="274" r:id="rId7"/>
    <p:sldId id="279" r:id="rId8"/>
    <p:sldId id="259" r:id="rId9"/>
    <p:sldId id="275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6" r:id="rId18"/>
    <p:sldId id="267" r:id="rId19"/>
    <p:sldId id="268" r:id="rId20"/>
    <p:sldId id="269" r:id="rId21"/>
    <p:sldId id="270" r:id="rId22"/>
    <p:sldId id="271" r:id="rId23"/>
    <p:sldId id="280" r:id="rId24"/>
    <p:sldId id="281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456D-2F52-52B1-3B78-1CD91D421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6BCD1-78D4-01C6-9B0C-CB286B1B9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F34E0-CA03-000A-9316-2B437A43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3866-1CAA-E920-FC51-E589357A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787FD-40FF-D89B-EF9B-CA0E537A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95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3A63-E5EC-F796-C226-4993AB44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3F5D7-F82E-7B48-478E-48F2A5E0E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238D-5287-B66C-05C1-73CAA32D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4DE8F-C561-D16B-A042-7AD16714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28B00-9B8A-F97B-546A-5B27A1A1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67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6E00-016A-D991-B6C0-73EE4AC2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6ECBE-366A-67AC-FB15-905B1E777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25F01-312F-9C8E-9ED2-BDF9BBE2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9CF5-2A66-3F52-8288-E71879D5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D8021-59E7-1BF0-F871-980ED4A2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4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D247-86AE-5616-262D-35FD4629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07790-B662-95C7-763A-522EF803B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169B1-1FCA-73FE-CD5C-80B5C2C5B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004C0-8DF3-2209-1062-6DBACBB7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15FD0-B820-3D60-8438-B29AB5E6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C7716-B03D-DC05-DD64-6D3BF0A4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4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8FA0-C809-9221-C30C-5995C6DB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BE907-8D52-E038-E69F-CC190E3F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EEB39-8421-5C5C-D2E9-C6969DAD4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FCA3B-1D6E-9B01-0537-426314451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08D7F-0E64-0385-E480-260208244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0F461-04DF-B50E-944D-1FB3DF3F6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CA91-CEBD-0BF7-C668-9A27955F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010B6-5199-5D7C-30E8-70ACC21D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3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3702-6508-CC31-94C9-F9070923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52F-3411-E601-ACBC-DF597C9A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EFABD-80FE-82AD-9F5D-427A676F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FC119-EE31-7256-6F59-972BC1DC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3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77451-BD38-C434-2748-DD2359EB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6829F-68C5-65C0-1C1C-CBB8EC98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EBFEE-EFE3-B54D-8CE5-E439ABC8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9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925D-5481-9119-B82F-9AF55E07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5931-3C89-498A-A079-C4EA0A6F3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72BEF-5990-5A2A-2346-E92839B88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02CDE-C6DC-CBB2-5AB3-D6EEFEC87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42866-361C-D690-C6DB-4DF80BB4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286F3-4E25-3533-2CC7-CE4007BB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5273-1B40-3F3F-8A75-D34FD7DD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D5EFD-FFE6-35DE-D8B2-0C1826194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9432A-953D-8CAF-09CB-138D0314A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AA60-F63B-C022-ECEC-30812D7F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31BB8-9870-645A-ACF4-EB369792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DB6D6-C1F8-9E27-23CF-79EEAFBE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684E-FF75-2AF4-B0AE-B8CFA3E6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FD89-9099-FB5F-F8B1-2B5FB51A2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11D7D-E710-2367-2C97-85B07E0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61E26-4CCF-8458-901B-DA397896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94092-49C6-8F31-6648-4805ADB3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5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7EBE6-9C0D-9EBD-DF78-677448627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84C72-FCB8-46A3-EA44-444EDAFF4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F8F7D-C68E-5D06-433B-894E9283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3E4D-ADB8-346F-CF93-27AD6E12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D4D4B-AF4B-AD13-3C8B-9EA81876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7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05948-B396-21B4-9012-40FC93F5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773B6-FEFB-A4E0-19A7-483527841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6549B-F21E-B493-984F-988A01005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419F1-6C4B-4669-930E-98064729B07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50DC-C097-A208-DE07-109E74031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384E1-C060-9437-F0DB-4FB1395A7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DB040-E295-4E96-961C-28F134140A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7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B887-FC9F-F983-55EC-003FCFFCE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E4A8F-D32C-4501-90A9-69589D024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2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D8B9-73E3-C5E9-D579-BC8AA2C998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CIS092-1 Fundamentals of Study and Employability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349F1-990C-0F6D-322E-E491D0D99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Session duration: 2 hours </a:t>
            </a:r>
          </a:p>
          <a:p>
            <a:r>
              <a:rPr lang="en-US" dirty="0"/>
              <a:t>Session theme: Making sense of the skills and knowledge to be developed - Roadmap for Your Course: Bloom's Taxonomy</a:t>
            </a:r>
          </a:p>
          <a:p>
            <a:r>
              <a:rPr lang="en-US" dirty="0"/>
              <a:t>Lecturer: Upama Rai Cohort: Level 3 / Foundation Computing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76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75A6-5F65-4D4F-46E8-906B5591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BEB16-A55E-F1C6-112F-4EB10C0F9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By the end of this session, you should be able to:</a:t>
            </a:r>
          </a:p>
          <a:p>
            <a:pPr marL="342900" lvl="0" indent="-342900" fontAlgn="t"/>
            <a:r>
              <a:rPr lang="en-US" dirty="0"/>
              <a:t>Explain the purpose of Bloom's Taxonomy</a:t>
            </a:r>
          </a:p>
          <a:p>
            <a:pPr marL="342900" lvl="0" indent="-342900" fontAlgn="t"/>
            <a:r>
              <a:rPr lang="en-US" dirty="0"/>
              <a:t>Identify the six levels of learning</a:t>
            </a:r>
          </a:p>
          <a:p>
            <a:pPr marL="342900" lvl="0" indent="-342900" fontAlgn="t"/>
            <a:r>
              <a:rPr lang="en-US" dirty="0"/>
              <a:t>Distinguish between lower-order and higher-order thinking skills</a:t>
            </a:r>
          </a:p>
          <a:p>
            <a:pPr marL="342900" lvl="0" indent="-342900" fontAlgn="t"/>
            <a:r>
              <a:rPr lang="en-US" dirty="0"/>
              <a:t>Apply Bloom's Taxonomy to Computing examples</a:t>
            </a:r>
          </a:p>
          <a:p>
            <a:pPr marL="342900" lvl="0" indent="-342900" fontAlgn="t"/>
            <a:r>
              <a:rPr lang="en-US" dirty="0"/>
              <a:t>Understand university assessment expectations</a:t>
            </a:r>
          </a:p>
          <a:p>
            <a:pPr marL="342900" lvl="0" indent="-342900" fontAlgn="t"/>
            <a:r>
              <a:rPr lang="en-US" dirty="0"/>
              <a:t>Create learning goals using Bloom's Taxonomy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5047-2A01-AAF1-EB99-D537589C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653FD-59E0-BB71-6C87-3A6C6153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difference between memorizing information and solving a real-world problem?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70A48-2FD0-3847-F198-A20F41F40768}"/>
              </a:ext>
            </a:extLst>
          </p:cNvPr>
          <p:cNvSpPr txBox="1"/>
          <p:nvPr/>
        </p:nvSpPr>
        <p:spPr>
          <a:xfrm>
            <a:off x="1078230" y="3051166"/>
            <a:ext cx="104736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800" b="1" i="0" dirty="0">
                <a:effectLst/>
                <a:latin typeface="+mn-lt"/>
              </a:rPr>
              <a:t>Bloom's </a:t>
            </a:r>
            <a:r>
              <a:rPr lang="en-US" sz="2800" b="1" dirty="0"/>
              <a:t>Taxonomy Flow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800" dirty="0"/>
              <a:t>Remember ↓ Understand ↓ Apply ↓ Analyze ↓ Evaluate ↓ Create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800" dirty="0"/>
              <a:t>Higher levels require mastery of lower levels.</a:t>
            </a:r>
          </a:p>
          <a:p>
            <a:pPr fontAlgn="t">
              <a:lnSpc>
                <a:spcPct val="100000"/>
              </a:lnSpc>
              <a:buNone/>
            </a:pPr>
            <a:endParaRPr lang="en-US" sz="28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66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DE1A-7E8A-1D7E-9763-25AB1A39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Your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9B06-77DC-E0D9-B2AD-A101A59B4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Where will you use Bloom's?</a:t>
            </a:r>
          </a:p>
          <a:p>
            <a:pPr marL="342900" lvl="0" indent="-342900" fontAlgn="t"/>
            <a:r>
              <a:rPr lang="en-US" dirty="0"/>
              <a:t>Assignments</a:t>
            </a:r>
          </a:p>
          <a:p>
            <a:pPr marL="342900" lvl="0" indent="-342900" fontAlgn="t"/>
            <a:r>
              <a:rPr lang="en-US" dirty="0"/>
              <a:t>Reports</a:t>
            </a:r>
          </a:p>
          <a:p>
            <a:pPr marL="342900" lvl="0" indent="-342900" fontAlgn="t"/>
            <a:r>
              <a:rPr lang="en-US" dirty="0"/>
              <a:t>Presentations</a:t>
            </a:r>
          </a:p>
          <a:p>
            <a:pPr marL="342900" lvl="0" indent="-342900" fontAlgn="t"/>
            <a:r>
              <a:rPr lang="en-US" dirty="0"/>
              <a:t>Group Projects</a:t>
            </a:r>
          </a:p>
          <a:p>
            <a:pPr marL="342900" lvl="0" indent="-342900" fontAlgn="t"/>
            <a:r>
              <a:rPr lang="en-US" dirty="0"/>
              <a:t>Case Studies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30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5A79-7FEE-D513-7308-2EAE2A85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Study?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80BA9-EDB3-B15A-F7F5-FFDE6DE1B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Students often think studying means:</a:t>
            </a:r>
          </a:p>
          <a:p>
            <a:pPr marL="800100" lvl="1" indent="-342900" fontAlgn="t"/>
            <a:r>
              <a:rPr lang="en-US" dirty="0"/>
              <a:t>Memorizing notes</a:t>
            </a:r>
          </a:p>
          <a:p>
            <a:pPr marL="800100" lvl="1" indent="-342900" fontAlgn="t"/>
            <a:r>
              <a:rPr lang="en-US" dirty="0"/>
              <a:t>Passing exams</a:t>
            </a:r>
          </a:p>
          <a:p>
            <a:pPr marL="800100" lvl="1" indent="-342900" fontAlgn="t"/>
            <a:r>
              <a:rPr lang="en-US" dirty="0"/>
              <a:t>Completing assignments</a:t>
            </a:r>
          </a:p>
          <a:p>
            <a:pPr marL="457200" lvl="1" indent="0" fontAlgn="t">
              <a:buNone/>
            </a:pPr>
            <a:endParaRPr lang="en-US" dirty="0"/>
          </a:p>
          <a:p>
            <a:pPr fontAlgn="t">
              <a:buNone/>
            </a:pPr>
            <a:r>
              <a:rPr lang="en-US" dirty="0"/>
              <a:t>In reality:</a:t>
            </a:r>
          </a:p>
          <a:p>
            <a:pPr marL="800100" lvl="1" indent="-342900" fontAlgn="t"/>
            <a:r>
              <a:rPr lang="en-US" dirty="0"/>
              <a:t>We develop knowledge</a:t>
            </a:r>
          </a:p>
          <a:p>
            <a:pPr marL="800100" lvl="1" indent="-342900" fontAlgn="t"/>
            <a:r>
              <a:rPr lang="en-US" dirty="0"/>
              <a:t>We develop skills</a:t>
            </a:r>
          </a:p>
          <a:p>
            <a:pPr marL="800100" lvl="1" indent="-342900" fontAlgn="t"/>
            <a:r>
              <a:rPr lang="en-US" dirty="0"/>
              <a:t>We develop higher-order thinking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61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5710-BD2C-308D-2EB5-07B74572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12D2B-CDB7-8BE6-6631-066892EE8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dirty="0"/>
              <a:t>Answer:</a:t>
            </a:r>
          </a:p>
          <a:p>
            <a:pPr marL="342900" lvl="0" indent="-342900" fontAlgn="t"/>
            <a:r>
              <a:rPr lang="en-US" dirty="0"/>
              <a:t>Why are you attending university?</a:t>
            </a:r>
          </a:p>
          <a:p>
            <a:pPr marL="342900" lvl="0" indent="-342900" fontAlgn="t"/>
            <a:r>
              <a:rPr lang="en-US" dirty="0"/>
              <a:t>Is university only about passing exams?</a:t>
            </a:r>
          </a:p>
          <a:p>
            <a:pPr marL="342900" lvl="0" indent="-342900" fontAlgn="t"/>
            <a:r>
              <a:rPr lang="en-US" dirty="0"/>
              <a:t>What skills do employers expect besides technical knowledge?</a:t>
            </a:r>
          </a:p>
          <a:p>
            <a:pPr fontAlgn="t">
              <a:buNone/>
            </a:pPr>
            <a:r>
              <a:rPr lang="en-US" b="1" dirty="0"/>
              <a:t>Key Message</a:t>
            </a:r>
          </a:p>
          <a:p>
            <a:pPr fontAlgn="t">
              <a:buNone/>
            </a:pPr>
            <a:r>
              <a:rPr lang="en-US" dirty="0"/>
              <a:t>University is designed to help you:</a:t>
            </a:r>
          </a:p>
          <a:p>
            <a:pPr marL="342900" lvl="0" indent="-342900" fontAlgn="t"/>
            <a:r>
              <a:rPr lang="en-US" dirty="0"/>
              <a:t>Gain knowledge</a:t>
            </a:r>
          </a:p>
          <a:p>
            <a:pPr marL="342900" lvl="0" indent="-342900" fontAlgn="t"/>
            <a:r>
              <a:rPr lang="en-US" dirty="0"/>
              <a:t>Develop skills</a:t>
            </a:r>
          </a:p>
          <a:p>
            <a:pPr marL="342900" lvl="0" indent="-342900" fontAlgn="t"/>
            <a:r>
              <a:rPr lang="en-US" dirty="0"/>
              <a:t>Solve problems</a:t>
            </a:r>
          </a:p>
          <a:p>
            <a:pPr marL="342900" lvl="0" indent="-342900" fontAlgn="t"/>
            <a:r>
              <a:rPr lang="en-US" dirty="0"/>
              <a:t>Think critically</a:t>
            </a:r>
          </a:p>
          <a:p>
            <a:pPr marL="342900" lvl="0" indent="-342900" fontAlgn="t"/>
            <a:r>
              <a:rPr lang="en-US" dirty="0"/>
              <a:t>Make decisions</a:t>
            </a:r>
          </a:p>
          <a:p>
            <a:pPr marL="342900" lvl="0" indent="-342900" fontAlgn="t"/>
            <a:r>
              <a:rPr lang="en-US" dirty="0"/>
              <a:t>Become an independent learner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96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0B08-3FF9-1805-B61D-03B02BE9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Bloom's Taxonomy?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C9FC-623D-7FA0-0CA4-383EDD349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t">
              <a:buNone/>
            </a:pPr>
            <a:r>
              <a:rPr lang="en-US" dirty="0"/>
              <a:t>Bloom's Taxonomy is a framework </a:t>
            </a:r>
          </a:p>
          <a:p>
            <a:pPr lvl="1" fontAlgn="t"/>
            <a:r>
              <a:rPr lang="en-US" dirty="0"/>
              <a:t>that describes different levels of learning and thinking.</a:t>
            </a:r>
          </a:p>
          <a:p>
            <a:pPr lvl="1" fontAlgn="t"/>
            <a:r>
              <a:rPr lang="en-US" dirty="0"/>
              <a:t> is a framework used to classify learning objectives.</a:t>
            </a:r>
          </a:p>
          <a:p>
            <a:pPr lvl="1" fontAlgn="t"/>
            <a:r>
              <a:rPr lang="en-US" dirty="0"/>
              <a:t> a roadmap showing how learning develops.</a:t>
            </a:r>
          </a:p>
          <a:p>
            <a:pPr fontAlgn="t">
              <a:buNone/>
            </a:pPr>
            <a:r>
              <a:rPr lang="en-US" dirty="0"/>
              <a:t>It helps learners move from:</a:t>
            </a:r>
          </a:p>
          <a:p>
            <a:pPr fontAlgn="t">
              <a:buNone/>
            </a:pPr>
            <a:r>
              <a:rPr lang="en-US" b="1" dirty="0"/>
              <a:t>Simple Thinking → Complex Thinking</a:t>
            </a:r>
            <a:endParaRPr lang="en-US" dirty="0"/>
          </a:p>
          <a:p>
            <a:pPr fontAlgn="t">
              <a:buNone/>
            </a:pPr>
            <a:r>
              <a:rPr lang="en-US" dirty="0"/>
              <a:t>Originally developed by: </a:t>
            </a:r>
            <a:r>
              <a:rPr lang="en-US" b="1" dirty="0"/>
              <a:t>Benjamin Bloom (1956)</a:t>
            </a:r>
            <a:endParaRPr lang="en-US" dirty="0"/>
          </a:p>
          <a:p>
            <a:pPr fontAlgn="t">
              <a:buNone/>
            </a:pPr>
            <a:r>
              <a:rPr lang="en-US" dirty="0"/>
              <a:t>Revised version in 2001.</a:t>
            </a:r>
          </a:p>
          <a:p>
            <a:pPr fontAlgn="t">
              <a:buNone/>
            </a:pPr>
            <a:endParaRPr lang="en-US" sz="600" dirty="0"/>
          </a:p>
          <a:p>
            <a:pPr fontAlgn="t">
              <a:buNone/>
            </a:pPr>
            <a:r>
              <a:rPr lang="en-US" dirty="0"/>
              <a:t>It helps students understand:</a:t>
            </a:r>
          </a:p>
          <a:p>
            <a:pPr marL="342900" lvl="0" indent="-342900" fontAlgn="t"/>
            <a:r>
              <a:rPr lang="en-US" dirty="0"/>
              <a:t>What they are expected to learn</a:t>
            </a:r>
          </a:p>
          <a:p>
            <a:pPr marL="342900" lvl="0" indent="-342900" fontAlgn="t"/>
            <a:r>
              <a:rPr lang="en-US" dirty="0"/>
              <a:t>How learning develops</a:t>
            </a:r>
          </a:p>
          <a:p>
            <a:pPr marL="342900" lvl="0" indent="-342900" fontAlgn="t"/>
            <a:r>
              <a:rPr lang="en-US" dirty="0"/>
              <a:t>Why university assessments become more challenging over time</a:t>
            </a:r>
          </a:p>
          <a:p>
            <a:pPr marL="0" indent="0" fontAlgn="t">
              <a:buNone/>
            </a:pPr>
            <a:r>
              <a:rPr lang="en-US" b="1" dirty="0"/>
              <a:t>Learning starts with remembering information and gradually develops into creating new ideas and solutions.</a:t>
            </a:r>
          </a:p>
          <a:p>
            <a:pPr marL="0" lvl="0" indent="0" fontAlgn="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2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CE61-F149-97A7-10A5-009D2981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Bloom's Taxonomy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6ED6-FCD3-2C38-6B5D-10CB6BA10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It helps:</a:t>
            </a:r>
          </a:p>
          <a:p>
            <a:pPr marL="342900" lvl="0" indent="-342900" fontAlgn="t"/>
            <a:r>
              <a:rPr lang="en-US" dirty="0"/>
              <a:t>Teachers design lessons</a:t>
            </a:r>
          </a:p>
          <a:p>
            <a:pPr marL="342900" lvl="0" indent="-342900" fontAlgn="t"/>
            <a:r>
              <a:rPr lang="en-US" dirty="0"/>
              <a:t>Students understand expectations</a:t>
            </a:r>
          </a:p>
          <a:p>
            <a:pPr marL="342900" lvl="0" indent="-342900" fontAlgn="t"/>
            <a:r>
              <a:rPr lang="en-US" dirty="0"/>
              <a:t>Create meaningful assessments</a:t>
            </a:r>
          </a:p>
          <a:p>
            <a:pPr marL="342900" lvl="0" indent="-342900" fontAlgn="t"/>
            <a:r>
              <a:rPr lang="en-US" dirty="0"/>
              <a:t>Develop critical thinking skills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304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B7D3-CAEF-BE7A-83E8-CF0E333B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Pyramid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996EE-21FE-AE0A-BBB6-CE5683B7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6902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b="1" dirty="0"/>
              <a:t>1. Remember</a:t>
            </a:r>
          </a:p>
          <a:p>
            <a:pPr fontAlgn="t">
              <a:buNone/>
            </a:pPr>
            <a:r>
              <a:rPr lang="en-US" b="1" dirty="0"/>
              <a:t>2. Understand</a:t>
            </a:r>
          </a:p>
          <a:p>
            <a:pPr fontAlgn="t">
              <a:buNone/>
            </a:pPr>
            <a:r>
              <a:rPr lang="en-US" b="1" dirty="0"/>
              <a:t>3. Apply</a:t>
            </a:r>
          </a:p>
          <a:p>
            <a:pPr fontAlgn="t">
              <a:buNone/>
            </a:pPr>
            <a:r>
              <a:rPr lang="en-US" b="1" dirty="0"/>
              <a:t>4. Analyze</a:t>
            </a:r>
          </a:p>
          <a:p>
            <a:pPr fontAlgn="t">
              <a:buNone/>
            </a:pPr>
            <a:r>
              <a:rPr lang="en-US" b="1" dirty="0"/>
              <a:t>5. Evaluate</a:t>
            </a:r>
          </a:p>
          <a:p>
            <a:pPr fontAlgn="t">
              <a:buNone/>
            </a:pPr>
            <a:r>
              <a:rPr lang="en-US" b="1" dirty="0"/>
              <a:t>6. Create</a:t>
            </a:r>
          </a:p>
          <a:p>
            <a:pPr fontAlgn="t">
              <a:buNone/>
            </a:pPr>
            <a:endParaRPr lang="en-US" sz="600" b="1" dirty="0"/>
          </a:p>
          <a:p>
            <a:pPr fontAlgn="t">
              <a:buNone/>
            </a:pPr>
            <a:r>
              <a:rPr lang="en-US" b="1" dirty="0"/>
              <a:t>Important</a:t>
            </a:r>
          </a:p>
          <a:p>
            <a:pPr fontAlgn="t">
              <a:buNone/>
            </a:pPr>
            <a:r>
              <a:rPr lang="en-US" dirty="0"/>
              <a:t>As you move upward:</a:t>
            </a:r>
          </a:p>
          <a:p>
            <a:pPr marL="342900" lvl="0" indent="-342900" fontAlgn="t"/>
            <a:r>
              <a:rPr lang="en-US" dirty="0"/>
              <a:t>Tasks become more challenging</a:t>
            </a:r>
          </a:p>
          <a:p>
            <a:pPr marL="342900" lvl="0" indent="-342900" fontAlgn="t"/>
            <a:r>
              <a:rPr lang="en-US" dirty="0"/>
              <a:t>Thinking becomes deeper</a:t>
            </a:r>
          </a:p>
          <a:p>
            <a:pPr marL="342900" lvl="0" indent="-342900" fontAlgn="t"/>
            <a:r>
              <a:rPr lang="en-US" dirty="0"/>
              <a:t>Independence increases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58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FB33-4AB9-4D82-10E5-EC0B3E38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1 -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D9EB-E009-E9AF-7520-9A9FEA454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Recalling facts and information from memory.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Define</a:t>
            </a:r>
          </a:p>
          <a:p>
            <a:pPr marL="342900" lvl="0" indent="-342900" fontAlgn="t"/>
            <a:r>
              <a:rPr lang="en-US" dirty="0"/>
              <a:t>List</a:t>
            </a:r>
          </a:p>
          <a:p>
            <a:pPr marL="342900" lvl="0" indent="-342900" fontAlgn="t"/>
            <a:r>
              <a:rPr lang="en-US" dirty="0"/>
              <a:t>Name</a:t>
            </a:r>
          </a:p>
          <a:p>
            <a:pPr marL="342900" lvl="0" indent="-342900" fontAlgn="t"/>
            <a:r>
              <a:rPr lang="en-US" dirty="0"/>
              <a:t>Recall</a:t>
            </a:r>
          </a:p>
          <a:p>
            <a:pPr marL="342900" lvl="0" indent="-342900" fontAlgn="t"/>
            <a:r>
              <a:rPr lang="en-US" dirty="0"/>
              <a:t>Identify</a:t>
            </a:r>
          </a:p>
          <a:p>
            <a:pPr marL="342900" lvl="0" indent="-342900" fontAlgn="t"/>
            <a:r>
              <a:rPr lang="en-US" dirty="0"/>
              <a:t>Describe</a:t>
            </a:r>
          </a:p>
          <a:p>
            <a:pPr marL="342900" lvl="0" indent="-342900" fontAlgn="t"/>
            <a:endParaRPr lang="en-US" dirty="0"/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List programming languages</a:t>
            </a:r>
          </a:p>
          <a:p>
            <a:pPr marL="342900" lvl="0" indent="-342900" fontAlgn="t"/>
            <a:r>
              <a:rPr lang="en-US" dirty="0"/>
              <a:t>Define database</a:t>
            </a:r>
          </a:p>
          <a:p>
            <a:pPr marL="342900" lvl="0" indent="-342900" fontAlgn="t"/>
            <a:r>
              <a:rPr lang="en-US" dirty="0"/>
              <a:t>Identify computer hardware components</a:t>
            </a:r>
          </a:p>
          <a:p>
            <a:pPr marL="342900" lvl="0" indent="-342900" fontAlgn="t"/>
            <a:endParaRPr lang="en-US" dirty="0"/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"What is a variable?"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918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EA0B-55BA-4CF4-557E-F8499996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2 -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A636-A9C9-07EB-55BF-382207A9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Explaining ideas or concepts using your own words.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Describe</a:t>
            </a:r>
          </a:p>
          <a:p>
            <a:pPr marL="342900" lvl="0" indent="-342900" fontAlgn="t"/>
            <a:r>
              <a:rPr lang="en-US" dirty="0"/>
              <a:t>Explain</a:t>
            </a:r>
          </a:p>
          <a:p>
            <a:pPr marL="342900" lvl="0" indent="-342900" fontAlgn="t"/>
            <a:r>
              <a:rPr lang="en-US" dirty="0"/>
              <a:t>Summarize</a:t>
            </a:r>
          </a:p>
          <a:p>
            <a:pPr marL="342900" lvl="0" indent="-342900" fontAlgn="t"/>
            <a:r>
              <a:rPr lang="en-US" dirty="0"/>
              <a:t>Discuss</a:t>
            </a:r>
          </a:p>
          <a:p>
            <a:pPr marL="342900" indent="-342900" fontAlgn="t"/>
            <a:r>
              <a:rPr lang="en-US" dirty="0"/>
              <a:t>Interpret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Explain how a database works</a:t>
            </a:r>
          </a:p>
          <a:p>
            <a:pPr marL="342900" lvl="0" indent="-342900" fontAlgn="t"/>
            <a:r>
              <a:rPr lang="en-US" dirty="0"/>
              <a:t>Describe the software development lifecycle</a:t>
            </a:r>
          </a:p>
          <a:p>
            <a:pPr marL="342900" lvl="0" indent="-342900" fontAlgn="t"/>
            <a:r>
              <a:rPr lang="en-US" dirty="0"/>
              <a:t>Discuss the purpose of testing</a:t>
            </a:r>
          </a:p>
          <a:p>
            <a:pPr marL="342900" lvl="0" indent="-342900" fontAlgn="t"/>
            <a:r>
              <a:rPr lang="en-US" dirty="0"/>
              <a:t>Explain cloud computing.</a:t>
            </a:r>
          </a:p>
          <a:p>
            <a:pPr marL="342900" lvl="0" indent="-342900" fontAlgn="t"/>
            <a:r>
              <a:rPr lang="en-US" dirty="0"/>
              <a:t>Summarize lecture notes.</a:t>
            </a:r>
          </a:p>
          <a:p>
            <a:pPr marL="342900" lvl="0" indent="-342900" fontAlgn="t"/>
            <a:r>
              <a:rPr lang="en-US" dirty="0"/>
              <a:t>Describe how a network works.</a:t>
            </a:r>
          </a:p>
          <a:p>
            <a:pPr marL="342900" lvl="0" indent="-342900" fontAlgn="t"/>
            <a:endParaRPr lang="en-US" dirty="0"/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"Explain why testing is important."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16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7EA6-4CE6-11B6-7B0C-78CD09F4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vs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BE700-D2C0-FB3A-439F-9641BF26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b="1" dirty="0"/>
              <a:t>Remember</a:t>
            </a:r>
          </a:p>
          <a:p>
            <a:pPr fontAlgn="t">
              <a:buNone/>
            </a:pPr>
            <a:r>
              <a:rPr lang="en-US" dirty="0"/>
              <a:t>Database = collection of related data.</a:t>
            </a:r>
          </a:p>
          <a:p>
            <a:pPr fontAlgn="t">
              <a:buNone/>
            </a:pPr>
            <a:r>
              <a:rPr lang="en-US" b="1" dirty="0"/>
              <a:t>Understand</a:t>
            </a:r>
          </a:p>
          <a:p>
            <a:pPr fontAlgn="t">
              <a:buNone/>
            </a:pPr>
            <a:r>
              <a:rPr lang="en-US" dirty="0"/>
              <a:t>A database stores information in a structured way so that users can efficiently retrieve and manage data.</a:t>
            </a:r>
          </a:p>
          <a:p>
            <a:pPr fontAlgn="t">
              <a:buNone/>
            </a:pPr>
            <a:r>
              <a:rPr lang="en-US" b="1" dirty="0"/>
              <a:t>Discussion Question</a:t>
            </a:r>
          </a:p>
          <a:p>
            <a:pPr fontAlgn="t">
              <a:buNone/>
            </a:pPr>
            <a:r>
              <a:rPr lang="en-US" dirty="0"/>
              <a:t>Which answer demonstrates deeper understanding?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78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71B5-4D06-71BA-E782-F021829B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3 -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2CAC-BCEA-5F34-F0F5-B0C21E15D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Using knowledge in a practical or new situation.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Demonstrate</a:t>
            </a:r>
          </a:p>
          <a:p>
            <a:pPr marL="342900" lvl="0" indent="-342900" fontAlgn="t"/>
            <a:r>
              <a:rPr lang="en-US" dirty="0"/>
              <a:t>Use</a:t>
            </a:r>
          </a:p>
          <a:p>
            <a:pPr marL="342900" lvl="0" indent="-342900" fontAlgn="t"/>
            <a:r>
              <a:rPr lang="en-US" dirty="0"/>
              <a:t>Implement</a:t>
            </a:r>
          </a:p>
          <a:p>
            <a:pPr marL="342900" lvl="0" indent="-342900" fontAlgn="t"/>
            <a:r>
              <a:rPr lang="en-US" dirty="0"/>
              <a:t>Solve</a:t>
            </a:r>
          </a:p>
          <a:p>
            <a:pPr marL="342900" lvl="0" indent="-342900" fontAlgn="t"/>
            <a:r>
              <a:rPr lang="en-US" dirty="0"/>
              <a:t>Apply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Write a Java program</a:t>
            </a:r>
          </a:p>
          <a:p>
            <a:pPr marL="342900" lvl="0" indent="-342900" fontAlgn="t"/>
            <a:r>
              <a:rPr lang="en-US" dirty="0"/>
              <a:t>Create a database table</a:t>
            </a:r>
          </a:p>
          <a:p>
            <a:pPr marL="342900" lvl="0" indent="-342900" fontAlgn="t"/>
            <a:r>
              <a:rPr lang="en-US" dirty="0"/>
              <a:t>Build a webpage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"Develop a simple calculator application."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40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2DDD-47E0-13B8-432B-A5A8B82B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4 - Analyze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E15E-1238-F794-B66F-3D01944AE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Breaking information into parts and examining relationships.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Compare</a:t>
            </a:r>
          </a:p>
          <a:p>
            <a:pPr marL="342900" lvl="0" indent="-342900" fontAlgn="t"/>
            <a:r>
              <a:rPr lang="en-US" dirty="0"/>
              <a:t>Differentiate</a:t>
            </a:r>
          </a:p>
          <a:p>
            <a:pPr marL="342900" indent="-342900" fontAlgn="t"/>
            <a:r>
              <a:rPr lang="en-US" dirty="0"/>
              <a:t>Organize</a:t>
            </a:r>
          </a:p>
          <a:p>
            <a:pPr marL="342900" lvl="0" indent="-342900" fontAlgn="t"/>
            <a:r>
              <a:rPr lang="en-US" dirty="0"/>
              <a:t>Investigate</a:t>
            </a:r>
          </a:p>
          <a:p>
            <a:pPr marL="342900" lvl="0" indent="-342900" fontAlgn="t"/>
            <a:r>
              <a:rPr lang="en-US" dirty="0"/>
              <a:t>Analyze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Compare two programming languages</a:t>
            </a:r>
          </a:p>
          <a:p>
            <a:pPr marL="342900" lvl="0" indent="-342900" fontAlgn="t"/>
            <a:r>
              <a:rPr lang="en-US" dirty="0"/>
              <a:t>Analyze system requirements</a:t>
            </a:r>
          </a:p>
          <a:p>
            <a:pPr marL="342900" lvl="0" indent="-342900" fontAlgn="t"/>
            <a:r>
              <a:rPr lang="en-US" dirty="0"/>
              <a:t>Identify causes of software failure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"Compare Agile and Waterfall methodologies."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4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5933-C039-833D-AA77-E4299583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5 -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17A3-3781-63B3-32C7-33C59502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Making judgments based on evidence.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Justify</a:t>
            </a:r>
          </a:p>
          <a:p>
            <a:pPr marL="342900" lvl="0" indent="-342900" fontAlgn="t"/>
            <a:r>
              <a:rPr lang="en-US" dirty="0"/>
              <a:t>Critique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marL="342900" lvl="0" indent="-342900" fontAlgn="t"/>
            <a:r>
              <a:rPr lang="en-US" dirty="0"/>
              <a:t>Recommend</a:t>
            </a:r>
          </a:p>
          <a:p>
            <a:pPr marL="342900" lvl="0" indent="-342900" fontAlgn="t"/>
            <a:r>
              <a:rPr lang="en-US" dirty="0"/>
              <a:t>Assess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Evaluate a software solution</a:t>
            </a:r>
          </a:p>
          <a:p>
            <a:pPr marL="342900" lvl="0" indent="-342900" fontAlgn="t"/>
            <a:r>
              <a:rPr lang="en-US" dirty="0"/>
              <a:t>Recommend a development methodology</a:t>
            </a:r>
          </a:p>
          <a:p>
            <a:pPr marL="342900" lvl="0" indent="-342900" fontAlgn="t"/>
            <a:r>
              <a:rPr lang="en-US" dirty="0"/>
              <a:t>Critique a website design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"Which database solution is most suitable and why?"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56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0B45-CA81-08D4-5E96-0E6805961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1A4F-A3D0-AA22-C7B7-7689138E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5 -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50F67-DFC9-3B8D-3AEB-11C367AFE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Making judgments based on evidence.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Justify</a:t>
            </a:r>
          </a:p>
          <a:p>
            <a:pPr marL="342900" lvl="0" indent="-342900" fontAlgn="t"/>
            <a:r>
              <a:rPr lang="en-US" dirty="0"/>
              <a:t>Critique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marL="342900" lvl="0" indent="-342900" fontAlgn="t"/>
            <a:r>
              <a:rPr lang="en-US" dirty="0"/>
              <a:t>Defend</a:t>
            </a:r>
          </a:p>
          <a:p>
            <a:pPr marL="342900" lvl="0" indent="-342900" fontAlgn="t"/>
            <a:r>
              <a:rPr lang="en-US" dirty="0"/>
              <a:t>Assess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Evaluate a software solution</a:t>
            </a:r>
          </a:p>
          <a:p>
            <a:pPr marL="342900" lvl="0" indent="-342900" fontAlgn="t"/>
            <a:r>
              <a:rPr lang="en-US" dirty="0"/>
              <a:t>Recommend a development methodology</a:t>
            </a:r>
          </a:p>
          <a:p>
            <a:pPr marL="342900" lvl="0" indent="-342900" fontAlgn="t"/>
            <a:r>
              <a:rPr lang="en-US" dirty="0"/>
              <a:t>Critique a website design</a:t>
            </a:r>
          </a:p>
          <a:p>
            <a:pPr marL="342900" indent="-342900" fontAlgn="t"/>
            <a:r>
              <a:rPr lang="en-US" dirty="0"/>
              <a:t>Recommend software.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Recommend the best programming language for beginners and justify your answer.</a:t>
            </a:r>
          </a:p>
          <a:p>
            <a:pPr fontAlgn="t">
              <a:buNone/>
            </a:pP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318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5D1F-6C95-D106-7112-589D6E2E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6 -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B240-9BD8-12EE-8C5B-A6E1FF75C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t">
              <a:buNone/>
            </a:pPr>
            <a:r>
              <a:rPr lang="en-US" b="1" dirty="0"/>
              <a:t>Meaning</a:t>
            </a:r>
          </a:p>
          <a:p>
            <a:pPr fontAlgn="t">
              <a:buNone/>
            </a:pPr>
            <a:r>
              <a:rPr lang="en-US" dirty="0"/>
              <a:t>Producing something new.</a:t>
            </a:r>
          </a:p>
          <a:p>
            <a:pPr fontAlgn="t">
              <a:buNone/>
            </a:pPr>
            <a:r>
              <a:rPr lang="en-US" b="1" dirty="0"/>
              <a:t>Action Verbs</a:t>
            </a:r>
          </a:p>
          <a:p>
            <a:pPr marL="342900" lvl="0" indent="-342900" fontAlgn="t"/>
            <a:r>
              <a:rPr lang="en-US" dirty="0"/>
              <a:t>Design</a:t>
            </a:r>
          </a:p>
          <a:p>
            <a:pPr marL="342900" lvl="0" indent="-342900" fontAlgn="t"/>
            <a:r>
              <a:rPr lang="en-US" dirty="0"/>
              <a:t>Develop</a:t>
            </a:r>
          </a:p>
          <a:p>
            <a:pPr marL="342900" lvl="0" indent="-342900" fontAlgn="t"/>
            <a:r>
              <a:rPr lang="en-US" dirty="0"/>
              <a:t>Create</a:t>
            </a:r>
          </a:p>
          <a:p>
            <a:pPr marL="342900" lvl="0" indent="-342900" fontAlgn="t"/>
            <a:r>
              <a:rPr lang="en-US" dirty="0"/>
              <a:t>Construct</a:t>
            </a:r>
          </a:p>
          <a:p>
            <a:pPr marL="342900" lvl="0" indent="-342900" fontAlgn="t"/>
            <a:r>
              <a:rPr lang="en-US" dirty="0"/>
              <a:t>Build</a:t>
            </a:r>
          </a:p>
          <a:p>
            <a:pPr fontAlgn="t">
              <a:buNone/>
            </a:pPr>
            <a:r>
              <a:rPr lang="en-US" b="1" dirty="0"/>
              <a:t>Computing Examples</a:t>
            </a:r>
          </a:p>
          <a:p>
            <a:pPr marL="342900" lvl="0" indent="-342900" fontAlgn="t"/>
            <a:r>
              <a:rPr lang="en-US" dirty="0"/>
              <a:t>Develop a mobile application</a:t>
            </a:r>
          </a:p>
          <a:p>
            <a:pPr marL="342900" lvl="0" indent="-342900" fontAlgn="t"/>
            <a:r>
              <a:rPr lang="en-US" dirty="0"/>
              <a:t>Design a database system</a:t>
            </a:r>
          </a:p>
          <a:p>
            <a:pPr marL="342900" lvl="0" indent="-342900" fontAlgn="t"/>
            <a:r>
              <a:rPr lang="en-US" dirty="0"/>
              <a:t>Create a cybersecurity solution</a:t>
            </a:r>
          </a:p>
          <a:p>
            <a:pPr fontAlgn="t">
              <a:buNone/>
            </a:pPr>
            <a:r>
              <a:rPr lang="en-US" b="1" dirty="0"/>
              <a:t>Assessment Example</a:t>
            </a:r>
          </a:p>
          <a:p>
            <a:pPr fontAlgn="t">
              <a:buNone/>
            </a:pPr>
            <a:r>
              <a:rPr lang="en-US" dirty="0"/>
              <a:t>Design a student management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494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D75C-8E4F-49A2-36EB-B2336DC8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Computing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467405-E168-B764-8EDC-ECB9F3FD5D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12187"/>
          <a:ext cx="10515600" cy="2612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653810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2529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Computing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459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Define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334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Understand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Explain Java OOP concepts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42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Write Java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725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Analyze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Compare OOP and Procedural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700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Evaluate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Recommend the best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179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Develop a complete software system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5698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54E8EB-AEB0-835A-AF30-B985F8C56C13}"/>
              </a:ext>
            </a:extLst>
          </p:cNvPr>
          <p:cNvSpPr txBox="1"/>
          <p:nvPr/>
        </p:nvSpPr>
        <p:spPr>
          <a:xfrm>
            <a:off x="762346" y="5358689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1800" b="0" i="0" dirty="0">
                <a:effectLst/>
                <a:latin typeface="+mn-lt"/>
              </a:rPr>
              <a:t>University assessments often require more than simply remembering information.</a:t>
            </a:r>
            <a:endParaRPr lang="en-US" sz="18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297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F093-D76C-FA9F-DBF8-02B0E9E37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University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49CB-5C00-26E4-BED6-CD0B315F4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b="1" dirty="0"/>
              <a:t>Many Students Think</a:t>
            </a:r>
          </a:p>
          <a:p>
            <a:pPr fontAlgn="t">
              <a:buNone/>
            </a:pPr>
            <a:r>
              <a:rPr lang="en-US" dirty="0"/>
              <a:t>"I memorized everything. Why did I not get a distinction?"</a:t>
            </a:r>
          </a:p>
          <a:p>
            <a:pPr fontAlgn="t">
              <a:buNone/>
            </a:pPr>
            <a:r>
              <a:rPr lang="en-US" dirty="0"/>
              <a:t>Because university assessments often ask students to:</a:t>
            </a:r>
          </a:p>
          <a:p>
            <a:pPr lvl="1" fontAlgn="t"/>
            <a:r>
              <a:rPr lang="en-US" dirty="0"/>
              <a:t> Analyze</a:t>
            </a:r>
          </a:p>
          <a:p>
            <a:pPr lvl="1" fontAlgn="t"/>
            <a:r>
              <a:rPr lang="en-US" dirty="0"/>
              <a:t> Evaluate</a:t>
            </a:r>
          </a:p>
          <a:p>
            <a:pPr lvl="1" fontAlgn="t"/>
            <a:r>
              <a:rPr lang="en-US" dirty="0"/>
              <a:t> Create</a:t>
            </a:r>
          </a:p>
          <a:p>
            <a:pPr fontAlgn="t">
              <a:buNone/>
            </a:pPr>
            <a:r>
              <a:rPr lang="en-US" dirty="0"/>
              <a:t>Not just remember facts.</a:t>
            </a:r>
          </a:p>
          <a:p>
            <a:pPr fontAlgn="t">
              <a:buNone/>
            </a:pPr>
            <a:r>
              <a:rPr lang="en-US" b="1" dirty="0"/>
              <a:t>Example</a:t>
            </a:r>
          </a:p>
          <a:p>
            <a:pPr fontAlgn="t">
              <a:buNone/>
            </a:pPr>
            <a:r>
              <a:rPr lang="en-US" dirty="0"/>
              <a:t>Weak Answer:</a:t>
            </a:r>
          </a:p>
          <a:p>
            <a:pPr fontAlgn="t">
              <a:buNone/>
            </a:pPr>
            <a:r>
              <a:rPr lang="en-US" dirty="0"/>
              <a:t>"Agile is a software methodology."</a:t>
            </a:r>
          </a:p>
          <a:p>
            <a:pPr fontAlgn="t">
              <a:buNone/>
            </a:pPr>
            <a:r>
              <a:rPr lang="en-US" dirty="0"/>
              <a:t>Strong Answer:</a:t>
            </a:r>
          </a:p>
          <a:p>
            <a:pPr fontAlgn="t">
              <a:buNone/>
            </a:pPr>
            <a:r>
              <a:rPr lang="en-US" dirty="0"/>
              <a:t>"Agile is suitable because it supports iterative development, frequent feedback and changing requirements."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05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9CBE-52BE-1C2D-B375-08AE67C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255"/>
            <a:ext cx="10515600" cy="1325563"/>
          </a:xfrm>
        </p:spPr>
        <p:txBody>
          <a:bodyPr/>
          <a:lstStyle/>
          <a:p>
            <a:r>
              <a:rPr lang="en-US" dirty="0"/>
              <a:t>Bloom's Taxonomy and Your Degree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0B7F-36C2-D22C-54B9-BC1771F58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579"/>
            <a:ext cx="10515600" cy="4351338"/>
          </a:xfrm>
        </p:spPr>
        <p:txBody>
          <a:bodyPr>
            <a:noAutofit/>
          </a:bodyPr>
          <a:lstStyle/>
          <a:p>
            <a:pPr fontAlgn="t">
              <a:buNone/>
            </a:pPr>
            <a:r>
              <a:rPr lang="en-US" sz="1200" b="1" dirty="0"/>
              <a:t>Foundation Year (Level 3)</a:t>
            </a:r>
          </a:p>
          <a:p>
            <a:pPr fontAlgn="t">
              <a:buNone/>
            </a:pPr>
            <a:r>
              <a:rPr lang="en-US" sz="1200" dirty="0"/>
              <a:t>Focus on:</a:t>
            </a:r>
          </a:p>
          <a:p>
            <a:pPr marL="342900" lvl="0" indent="-342900" fontAlgn="t"/>
            <a:r>
              <a:rPr lang="en-US" sz="1200" dirty="0"/>
              <a:t>Remember</a:t>
            </a:r>
          </a:p>
          <a:p>
            <a:pPr marL="342900" lvl="0" indent="-342900" fontAlgn="t"/>
            <a:r>
              <a:rPr lang="en-US" sz="1200" dirty="0"/>
              <a:t>Understand</a:t>
            </a:r>
          </a:p>
          <a:p>
            <a:pPr marL="342900" lvl="0" indent="-342900" fontAlgn="t"/>
            <a:r>
              <a:rPr lang="en-US" sz="1200" dirty="0"/>
              <a:t>Apply</a:t>
            </a:r>
          </a:p>
          <a:p>
            <a:pPr fontAlgn="t">
              <a:buNone/>
            </a:pPr>
            <a:r>
              <a:rPr lang="en-US" sz="1200" b="1" dirty="0"/>
              <a:t>Year 1 (Level 4)</a:t>
            </a:r>
          </a:p>
          <a:p>
            <a:pPr fontAlgn="t">
              <a:buNone/>
            </a:pPr>
            <a:r>
              <a:rPr lang="en-US" sz="1200" dirty="0"/>
              <a:t>More:</a:t>
            </a:r>
          </a:p>
          <a:p>
            <a:pPr marL="342900" lvl="0" indent="-342900" fontAlgn="t"/>
            <a:r>
              <a:rPr lang="en-US" sz="1200" dirty="0"/>
              <a:t>Apply</a:t>
            </a:r>
          </a:p>
          <a:p>
            <a:pPr marL="342900" lvl="0" indent="-342900" fontAlgn="t"/>
            <a:r>
              <a:rPr lang="en-US" sz="1200" dirty="0"/>
              <a:t>Analyze</a:t>
            </a:r>
          </a:p>
          <a:p>
            <a:pPr fontAlgn="t">
              <a:buNone/>
            </a:pPr>
            <a:r>
              <a:rPr lang="en-US" sz="1200" b="1" dirty="0"/>
              <a:t>Year 2 (Level 5)</a:t>
            </a:r>
          </a:p>
          <a:p>
            <a:pPr fontAlgn="t">
              <a:buNone/>
            </a:pPr>
            <a:r>
              <a:rPr lang="en-US" sz="1200" dirty="0"/>
              <a:t>More:</a:t>
            </a:r>
          </a:p>
          <a:p>
            <a:pPr marL="342900" lvl="0" indent="-342900" fontAlgn="t"/>
            <a:r>
              <a:rPr lang="en-US" sz="1200" dirty="0"/>
              <a:t>Analyze</a:t>
            </a:r>
          </a:p>
          <a:p>
            <a:pPr marL="342900" lvl="0" indent="-342900" fontAlgn="t"/>
            <a:r>
              <a:rPr lang="en-US" sz="1200" dirty="0"/>
              <a:t>Evaluate</a:t>
            </a:r>
          </a:p>
          <a:p>
            <a:pPr fontAlgn="t">
              <a:buNone/>
            </a:pPr>
            <a:r>
              <a:rPr lang="en-US" sz="1200" b="1" dirty="0"/>
              <a:t>Final Year (Level 6)</a:t>
            </a:r>
          </a:p>
          <a:p>
            <a:pPr fontAlgn="t">
              <a:buNone/>
            </a:pPr>
            <a:r>
              <a:rPr lang="en-US" sz="1200" dirty="0"/>
              <a:t>Strong emphasis on:</a:t>
            </a:r>
          </a:p>
          <a:p>
            <a:pPr marL="342900" lvl="0" indent="-342900" fontAlgn="t"/>
            <a:r>
              <a:rPr lang="en-US" sz="1200" dirty="0"/>
              <a:t>Evaluate</a:t>
            </a:r>
          </a:p>
          <a:p>
            <a:pPr marL="342900" lvl="0" indent="-342900" fontAlgn="t"/>
            <a:r>
              <a:rPr lang="en-US" sz="1200" dirty="0"/>
              <a:t>Create</a:t>
            </a:r>
          </a:p>
          <a:p>
            <a:pPr fontAlgn="t">
              <a:buNone/>
            </a:pPr>
            <a:r>
              <a:rPr lang="en-US" sz="1200" b="1" dirty="0"/>
              <a:t>Key Message</a:t>
            </a:r>
          </a:p>
          <a:p>
            <a:pPr fontAlgn="t">
              <a:buNone/>
            </a:pPr>
            <a:r>
              <a:rPr lang="en-US" sz="1200" dirty="0"/>
              <a:t>Every year moves you toward independent professional thinking.</a:t>
            </a:r>
          </a:p>
        </p:txBody>
      </p:sp>
    </p:spTree>
    <p:extLst>
      <p:ext uri="{BB962C8B-B14F-4D97-AF65-F5344CB8AC3E}">
        <p14:creationId xmlns:p14="http://schemas.microsoft.com/office/powerpoint/2010/main" val="295917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4149-AB64-ECD9-97A7-E98D062C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Bloom's Taxonomy and Employability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98558-F786-76E3-BFD5-5213CE1E7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t">
              <a:buNone/>
            </a:pPr>
            <a:r>
              <a:rPr lang="en-US" dirty="0"/>
              <a:t>Employers want graduates who can:</a:t>
            </a:r>
          </a:p>
          <a:p>
            <a:pPr lvl="1" fontAlgn="t"/>
            <a:r>
              <a:rPr lang="en-US" dirty="0"/>
              <a:t>Understand requirements</a:t>
            </a:r>
          </a:p>
          <a:p>
            <a:pPr lvl="1" fontAlgn="t"/>
            <a:r>
              <a:rPr lang="en-US" dirty="0"/>
              <a:t>Apply knowledge</a:t>
            </a:r>
          </a:p>
          <a:p>
            <a:pPr lvl="1" fontAlgn="t"/>
            <a:r>
              <a:rPr lang="en-US" dirty="0"/>
              <a:t>Analyze problems</a:t>
            </a:r>
          </a:p>
          <a:p>
            <a:pPr lvl="1" fontAlgn="t"/>
            <a:r>
              <a:rPr lang="en-US" dirty="0"/>
              <a:t>Evaluate solutions</a:t>
            </a:r>
          </a:p>
          <a:p>
            <a:pPr lvl="1" fontAlgn="t"/>
            <a:r>
              <a:rPr lang="en-US" dirty="0"/>
              <a:t>Create new ideas</a:t>
            </a:r>
          </a:p>
          <a:p>
            <a:pPr fontAlgn="t">
              <a:buNone/>
            </a:pPr>
            <a:r>
              <a:rPr lang="en-US" b="1" dirty="0"/>
              <a:t>Real Example</a:t>
            </a:r>
          </a:p>
          <a:p>
            <a:pPr fontAlgn="t">
              <a:buNone/>
            </a:pPr>
            <a:r>
              <a:rPr lang="en-US" dirty="0"/>
              <a:t>Software Developer:</a:t>
            </a:r>
          </a:p>
          <a:p>
            <a:pPr marL="800100" lvl="1" indent="-342900" fontAlgn="t"/>
            <a:r>
              <a:rPr lang="en-US" dirty="0"/>
              <a:t>Remembers syntax</a:t>
            </a:r>
          </a:p>
          <a:p>
            <a:pPr marL="800100" lvl="1" indent="-342900" fontAlgn="t"/>
            <a:r>
              <a:rPr lang="en-US" dirty="0"/>
              <a:t>Understands concepts</a:t>
            </a:r>
          </a:p>
          <a:p>
            <a:pPr marL="800100" lvl="1" indent="-342900" fontAlgn="t"/>
            <a:r>
              <a:rPr lang="en-US" dirty="0"/>
              <a:t>Applies coding skills</a:t>
            </a:r>
          </a:p>
          <a:p>
            <a:pPr marL="800100" lvl="1" indent="-342900" fontAlgn="t"/>
            <a:r>
              <a:rPr lang="en-US" dirty="0"/>
              <a:t>Analyzes bugs</a:t>
            </a:r>
          </a:p>
          <a:p>
            <a:pPr marL="800100" lvl="1" indent="-342900" fontAlgn="t"/>
            <a:r>
              <a:rPr lang="en-US" dirty="0"/>
              <a:t>Evaluates solutions</a:t>
            </a:r>
          </a:p>
          <a:p>
            <a:pPr marL="800100" lvl="1" indent="-342900" fontAlgn="t"/>
            <a:r>
              <a:rPr lang="en-US" dirty="0"/>
              <a:t>Creates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46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0AC3-22E6-5164-0466-A70E5DF0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CBFBA-4378-C2F4-B225-4F3A49B12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t">
              <a:buNone/>
            </a:pPr>
            <a:r>
              <a:rPr lang="en-US" dirty="0"/>
              <a:t>Students often:</a:t>
            </a:r>
          </a:p>
          <a:p>
            <a:pPr lvl="1" fontAlgn="t"/>
            <a:r>
              <a:rPr lang="en-US" dirty="0"/>
              <a:t>Memorize only</a:t>
            </a:r>
          </a:p>
          <a:p>
            <a:pPr lvl="1" fontAlgn="t"/>
            <a:r>
              <a:rPr lang="en-US" dirty="0"/>
              <a:t>Avoid analysis</a:t>
            </a:r>
          </a:p>
          <a:p>
            <a:pPr lvl="1" fontAlgn="t"/>
            <a:r>
              <a:rPr lang="en-US" dirty="0"/>
              <a:t>Struggle with evaluation</a:t>
            </a:r>
          </a:p>
          <a:p>
            <a:pPr lvl="1" fontAlgn="t"/>
            <a:r>
              <a:rPr lang="en-US" dirty="0"/>
              <a:t>Leave creativity until last</a:t>
            </a:r>
          </a:p>
          <a:p>
            <a:pPr fontAlgn="t">
              <a:buNone/>
            </a:pPr>
            <a:r>
              <a:rPr lang="en-US" dirty="0"/>
              <a:t>Successful students aim for higher-order thinking.</a:t>
            </a:r>
          </a:p>
          <a:p>
            <a:pPr fontAlgn="t">
              <a:buNone/>
            </a:pPr>
            <a:r>
              <a:rPr lang="en-US" b="1" dirty="0"/>
              <a:t>How to Improve Your Learning</a:t>
            </a:r>
          </a:p>
          <a:p>
            <a:pPr fontAlgn="t">
              <a:buNone/>
            </a:pPr>
            <a:r>
              <a:rPr lang="en-US" b="1" dirty="0"/>
              <a:t>Move beyond:</a:t>
            </a:r>
          </a:p>
          <a:p>
            <a:pPr marL="800100" lvl="1" indent="-342900" fontAlgn="t"/>
            <a:r>
              <a:rPr lang="en-US" dirty="0"/>
              <a:t>Reading notes</a:t>
            </a:r>
          </a:p>
          <a:p>
            <a:pPr fontAlgn="t">
              <a:buNone/>
            </a:pPr>
            <a:r>
              <a:rPr lang="en-US" b="1" dirty="0"/>
              <a:t>Towards:</a:t>
            </a:r>
          </a:p>
          <a:p>
            <a:pPr marL="800100" lvl="1" indent="-342900" fontAlgn="t"/>
            <a:r>
              <a:rPr lang="en-US" dirty="0"/>
              <a:t>Asking questions</a:t>
            </a:r>
          </a:p>
          <a:p>
            <a:pPr marL="800100" lvl="1" indent="-342900" fontAlgn="t"/>
            <a:r>
              <a:rPr lang="en-US" dirty="0"/>
              <a:t>Solving problems</a:t>
            </a:r>
          </a:p>
          <a:p>
            <a:pPr marL="800100" lvl="1" indent="-342900" fontAlgn="t"/>
            <a:r>
              <a:rPr lang="en-US" dirty="0"/>
              <a:t>Debating ideas</a:t>
            </a:r>
          </a:p>
          <a:p>
            <a:pPr marL="800100" lvl="1" indent="-342900" fontAlgn="t"/>
            <a:r>
              <a:rPr lang="en-US" dirty="0"/>
              <a:t>Creating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73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01F3-BBC1-13D8-2A93-4A125E6E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CF282-C2FD-4B8F-3C7D-4D7256F4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>
              <a:buNone/>
            </a:pPr>
            <a:r>
              <a:rPr lang="en-US" b="1" dirty="0"/>
              <a:t>Remember = I know it.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Understand = I can explain it.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Apply = I can use it.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Analyze = I can break it down.</a:t>
            </a:r>
            <a:endParaRPr lang="en-US" dirty="0"/>
          </a:p>
          <a:p>
            <a:pPr fontAlgn="t">
              <a:buNone/>
            </a:pPr>
            <a:r>
              <a:rPr lang="en-US" b="1" dirty="0"/>
              <a:t>Evaluate = I can justify it.</a:t>
            </a:r>
          </a:p>
          <a:p>
            <a:pPr fontAlgn="t">
              <a:buNone/>
            </a:pPr>
            <a:r>
              <a:rPr lang="en-US" b="1" dirty="0"/>
              <a:t>Create = I can build something new.</a:t>
            </a:r>
            <a:endParaRPr lang="en-US" dirty="0"/>
          </a:p>
          <a:p>
            <a:pPr fontAlgn="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220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348C-919A-3A2D-2009-AA1E8742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CBC7-7F7C-B2A7-B592-1FCBE33CA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/>
              <a:t>Answer: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Which Bloom's level do you currently use most?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Which level is most difficult?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Which level will be important in your future career?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dirty="0"/>
              <a:t>How can you move from remembering to applying?</a:t>
            </a:r>
          </a:p>
          <a:p>
            <a:pPr marL="0" indent="0" fontAlgn="t">
              <a:buNone/>
            </a:pPr>
            <a:r>
              <a:rPr lang="en-US" dirty="0"/>
              <a:t>University success is not about memorizing facts. It is about developing the ability to understand, apply, analyze, evaluate and create.</a:t>
            </a:r>
          </a:p>
          <a:p>
            <a:pPr marL="0" lvl="0" indent="0" fontAlgn="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7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1115</Words>
  <Application>Microsoft Office PowerPoint</Application>
  <PresentationFormat>Widescreen</PresentationFormat>
  <Paragraphs>296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Segoe UI</vt:lpstr>
      <vt:lpstr>Office Theme</vt:lpstr>
      <vt:lpstr>PowerPoint Presentation</vt:lpstr>
      <vt:lpstr>CIS092-1 Fundamentals of Study and Employability</vt:lpstr>
      <vt:lpstr>Learning Outcomes</vt:lpstr>
      <vt:lpstr>Starter Question</vt:lpstr>
      <vt:lpstr>Bloom's Taxonomy and Your Course</vt:lpstr>
      <vt:lpstr>Why Do We Study?</vt:lpstr>
      <vt:lpstr>Why Are We Here?</vt:lpstr>
      <vt:lpstr>What Is Bloom's Taxonomy?</vt:lpstr>
      <vt:lpstr>Why is Bloom's Taxonomy Important?</vt:lpstr>
      <vt:lpstr>Bloom's Taxonomy Pyramid</vt:lpstr>
      <vt:lpstr>Level 1 - Remember</vt:lpstr>
      <vt:lpstr>Level 2 - Understand</vt:lpstr>
      <vt:lpstr>Remember vs Understand</vt:lpstr>
      <vt:lpstr>Level 3 - Apply</vt:lpstr>
      <vt:lpstr>Level 4 - Analyze</vt:lpstr>
      <vt:lpstr>Level 5 - Evaluate</vt:lpstr>
      <vt:lpstr>Level 5 - Evaluate</vt:lpstr>
      <vt:lpstr>Level 6 - Create</vt:lpstr>
      <vt:lpstr>Bloom's Taxonomy and Computing</vt:lpstr>
      <vt:lpstr>Bloom's Taxonomy and University Assignments</vt:lpstr>
      <vt:lpstr>Bloom's Taxonomy and Your Degree Roadmap</vt:lpstr>
      <vt:lpstr>Bloom's Taxonomy and Employability</vt:lpstr>
      <vt:lpstr>Common Mistakes</vt:lpstr>
      <vt:lpstr>PowerPoint Presentation</vt:lpstr>
      <vt:lpstr>Reflection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1</cp:revision>
  <dcterms:created xsi:type="dcterms:W3CDTF">2026-09-28T12:50:36Z</dcterms:created>
  <dcterms:modified xsi:type="dcterms:W3CDTF">2026-09-28T12:51:50Z</dcterms:modified>
</cp:coreProperties>
</file>