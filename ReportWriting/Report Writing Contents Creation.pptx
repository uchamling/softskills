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8" r:id="rId10"/>
    <p:sldId id="272" r:id="rId11"/>
    <p:sldId id="270" r:id="rId12"/>
    <p:sldId id="271" r:id="rId13"/>
    <p:sldId id="273" r:id="rId14"/>
    <p:sldId id="274" r:id="rId15"/>
    <p:sldId id="275" r:id="rId16"/>
    <p:sldId id="269" r:id="rId17"/>
    <p:sldId id="265" r:id="rId18"/>
    <p:sldId id="26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9" autoAdjust="0"/>
    <p:restoredTop sz="94660"/>
  </p:normalViewPr>
  <p:slideViewPr>
    <p:cSldViewPr snapToGrid="0">
      <p:cViewPr varScale="1">
        <p:scale>
          <a:sx n="92" d="100"/>
          <a:sy n="92" d="100"/>
        </p:scale>
        <p:origin x="89"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035DC-30FC-526A-6850-18477E28A5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188E7E-FAD4-076E-B845-1C86033CAD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751B52-7DCD-E531-5F5D-FEFCB93BFC73}"/>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5" name="Footer Placeholder 4">
            <a:extLst>
              <a:ext uri="{FF2B5EF4-FFF2-40B4-BE49-F238E27FC236}">
                <a16:creationId xmlns:a16="http://schemas.microsoft.com/office/drawing/2014/main" id="{3529AF27-53BA-71AA-B992-8099EEE845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624A8B-C916-4F3B-A085-6BC2A43DF9E3}"/>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1064579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10F42-01BB-F225-FA36-BF0532F031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831428-5A3A-88D9-A809-6B86A2CDD5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CF462B-2716-F209-6891-528F13E7EDEA}"/>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5" name="Footer Placeholder 4">
            <a:extLst>
              <a:ext uri="{FF2B5EF4-FFF2-40B4-BE49-F238E27FC236}">
                <a16:creationId xmlns:a16="http://schemas.microsoft.com/office/drawing/2014/main" id="{55D17B77-CD9A-00F9-0E41-2E19A26EE4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81213E-7451-FF40-C847-6721E3BF33C4}"/>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597545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A6669-A96E-3120-12EF-23E2648814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0AB007-7250-0AD7-5C11-081448D842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19CEA6-EA32-0AA9-B21D-F019B1A609F4}"/>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5" name="Footer Placeholder 4">
            <a:extLst>
              <a:ext uri="{FF2B5EF4-FFF2-40B4-BE49-F238E27FC236}">
                <a16:creationId xmlns:a16="http://schemas.microsoft.com/office/drawing/2014/main" id="{DC6F32CA-6289-BFE6-4250-5696E903F1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0EA548-5603-6307-D602-4A8522C82E84}"/>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3715397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031E2-45D4-78AB-838B-A20B04F808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92ECC5-6005-F93F-AEB5-ADAA417367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0F2A2B-80C6-AFFE-FD85-90212D3D8E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1CD618-7A6E-0260-A712-55DE2F27B6B3}"/>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6" name="Footer Placeholder 5">
            <a:extLst>
              <a:ext uri="{FF2B5EF4-FFF2-40B4-BE49-F238E27FC236}">
                <a16:creationId xmlns:a16="http://schemas.microsoft.com/office/drawing/2014/main" id="{F79E36CD-F0B0-A714-3EE9-63812F03D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CD7653-0DE2-F8AD-D9B2-822F4A6B7288}"/>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1531345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59D9D-788A-C290-46FA-117FDC1E3E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FCCC86-91AC-EBD6-39F4-B3F04478B8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492590-FDE7-A573-E208-F8E3F9E29B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BF721D-CEF2-E55E-BA7B-07C26BA2EE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025B01-7DAE-6EB7-7282-887C44BB40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37867F-6BF1-EDA6-FF03-CFD453D8AB62}"/>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8" name="Footer Placeholder 7">
            <a:extLst>
              <a:ext uri="{FF2B5EF4-FFF2-40B4-BE49-F238E27FC236}">
                <a16:creationId xmlns:a16="http://schemas.microsoft.com/office/drawing/2014/main" id="{E5035235-B65C-2A10-1798-ABC0577FE6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BA44F4-AF6A-66A9-FA20-9735FC2CC9C6}"/>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1071646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931E8-2028-1865-62F3-A62CB8000B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0CDEF3-0A0E-4343-6F0D-26D497062899}"/>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4" name="Footer Placeholder 3">
            <a:extLst>
              <a:ext uri="{FF2B5EF4-FFF2-40B4-BE49-F238E27FC236}">
                <a16:creationId xmlns:a16="http://schemas.microsoft.com/office/drawing/2014/main" id="{C2BDAD08-E9A4-5388-59FF-DE4B5F66DB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011806-ACEF-AB91-AEE9-71778BE40561}"/>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2985694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84CDEB-53A3-E58B-84FB-6366C5E0DEFB}"/>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3" name="Footer Placeholder 2">
            <a:extLst>
              <a:ext uri="{FF2B5EF4-FFF2-40B4-BE49-F238E27FC236}">
                <a16:creationId xmlns:a16="http://schemas.microsoft.com/office/drawing/2014/main" id="{866F2B2C-EAA2-0C1D-5768-EF5E207FE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D1FC55-8CD2-CC0B-2934-7BCE4287D4F9}"/>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4017130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2A1C1-0730-BD8A-DF31-4BA955FCC7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066508-BDB0-106F-3443-3A9EE7ED84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0CF376-4FAE-319A-55FF-3D08CFA4E5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651F6-8869-383C-9D2C-9DAB58138C8B}"/>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6" name="Footer Placeholder 5">
            <a:extLst>
              <a:ext uri="{FF2B5EF4-FFF2-40B4-BE49-F238E27FC236}">
                <a16:creationId xmlns:a16="http://schemas.microsoft.com/office/drawing/2014/main" id="{3E590147-F8C6-69AC-14E3-E1A30BC64D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C274F0-45A2-85B0-B9B0-2E00C03187E5}"/>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4230941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8BDA0-091A-DB14-2157-F1AC5B3449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C501A6-A019-7DF6-D4F8-77DFF748BE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1EC701-32FA-AEBD-974B-67A04A5573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F4D8AB-7827-BA9E-3174-3F231CD71AB3}"/>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6" name="Footer Placeholder 5">
            <a:extLst>
              <a:ext uri="{FF2B5EF4-FFF2-40B4-BE49-F238E27FC236}">
                <a16:creationId xmlns:a16="http://schemas.microsoft.com/office/drawing/2014/main" id="{37E99FD0-C007-92DF-C8CB-19937278E8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347B89-FCBE-EF90-EBF6-AD4C1EC29E9B}"/>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299660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608DF-D477-8B6B-2606-3087F68F48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DD54CF-A07A-4EE7-E947-6572CF0E75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3B4FE7-C8D4-9DDC-20D5-AE299F9AC66B}"/>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5" name="Footer Placeholder 4">
            <a:extLst>
              <a:ext uri="{FF2B5EF4-FFF2-40B4-BE49-F238E27FC236}">
                <a16:creationId xmlns:a16="http://schemas.microsoft.com/office/drawing/2014/main" id="{87D8836D-CEAA-F8A8-6706-0313C48326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3FA19A-8BFA-5750-532D-591D30F81A56}"/>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2158003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C255F9-98F3-DD38-7DF3-D0F51A487F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A4DF84-8D37-D398-1AEB-ED39AAFEF6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C0FD3B-A709-1C6A-E792-D600479FA707}"/>
              </a:ext>
            </a:extLst>
          </p:cNvPr>
          <p:cNvSpPr>
            <a:spLocks noGrp="1"/>
          </p:cNvSpPr>
          <p:nvPr>
            <p:ph type="dt" sz="half" idx="10"/>
          </p:nvPr>
        </p:nvSpPr>
        <p:spPr/>
        <p:txBody>
          <a:bodyPr/>
          <a:lstStyle/>
          <a:p>
            <a:fld id="{A3BE5A67-6BB7-4AE9-9EEE-2E7BFB01EFDD}" type="datetimeFigureOut">
              <a:rPr lang="en-US" smtClean="0"/>
              <a:t>8/21/2026</a:t>
            </a:fld>
            <a:endParaRPr lang="en-US"/>
          </a:p>
        </p:txBody>
      </p:sp>
      <p:sp>
        <p:nvSpPr>
          <p:cNvPr id="5" name="Footer Placeholder 4">
            <a:extLst>
              <a:ext uri="{FF2B5EF4-FFF2-40B4-BE49-F238E27FC236}">
                <a16:creationId xmlns:a16="http://schemas.microsoft.com/office/drawing/2014/main" id="{C0408459-E83F-0BD6-D7CF-FE908ABF5B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DB9B6-D530-61E4-7624-CA1A9141C169}"/>
              </a:ext>
            </a:extLst>
          </p:cNvPr>
          <p:cNvSpPr>
            <a:spLocks noGrp="1"/>
          </p:cNvSpPr>
          <p:nvPr>
            <p:ph type="sldNum" sz="quarter" idx="12"/>
          </p:nvPr>
        </p:nvSpPr>
        <p:spPr/>
        <p:txBody>
          <a:bodyPr/>
          <a:lstStyle/>
          <a:p>
            <a:fld id="{E9BA4653-CD53-404C-A59A-1AB781F5E9D6}" type="slidenum">
              <a:rPr lang="en-US" smtClean="0"/>
              <a:t>‹#›</a:t>
            </a:fld>
            <a:endParaRPr lang="en-US"/>
          </a:p>
        </p:txBody>
      </p:sp>
    </p:spTree>
    <p:extLst>
      <p:ext uri="{BB962C8B-B14F-4D97-AF65-F5344CB8AC3E}">
        <p14:creationId xmlns:p14="http://schemas.microsoft.com/office/powerpoint/2010/main" val="815387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E93786-A4A3-7BD4-4B18-B09D161388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5235BA-9189-D319-F9BB-97A77960E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15AB72-689B-58BA-A2E0-E78615891A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BE5A67-6BB7-4AE9-9EEE-2E7BFB01EFDD}" type="datetimeFigureOut">
              <a:rPr lang="en-US" smtClean="0"/>
              <a:t>8/21/2026</a:t>
            </a:fld>
            <a:endParaRPr lang="en-US"/>
          </a:p>
        </p:txBody>
      </p:sp>
      <p:sp>
        <p:nvSpPr>
          <p:cNvPr id="5" name="Footer Placeholder 4">
            <a:extLst>
              <a:ext uri="{FF2B5EF4-FFF2-40B4-BE49-F238E27FC236}">
                <a16:creationId xmlns:a16="http://schemas.microsoft.com/office/drawing/2014/main" id="{221D7BB8-1CC9-93A4-8650-A20F7E46C9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E427A3E-4A6D-29E0-34BB-8FC28439DC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BA4653-CD53-404C-A59A-1AB781F5E9D6}" type="slidenum">
              <a:rPr lang="en-US" smtClean="0"/>
              <a:t>‹#›</a:t>
            </a:fld>
            <a:endParaRPr lang="en-US"/>
          </a:p>
        </p:txBody>
      </p:sp>
    </p:spTree>
    <p:extLst>
      <p:ext uri="{BB962C8B-B14F-4D97-AF65-F5344CB8AC3E}">
        <p14:creationId xmlns:p14="http://schemas.microsoft.com/office/powerpoint/2010/main" val="2928677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C0CB27-51A2-4E8F-13DE-C0D9208C095F}"/>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000" kern="1200" dirty="0">
                <a:solidFill>
                  <a:srgbClr val="FFFFFF"/>
                </a:solidFill>
                <a:latin typeface="+mj-lt"/>
                <a:ea typeface="+mj-ea"/>
                <a:cs typeface="+mj-cs"/>
              </a:rPr>
              <a:t>Week 1Day 5 :- Contents Creation from Research Sources</a:t>
            </a:r>
          </a:p>
        </p:txBody>
      </p:sp>
      <p:pic>
        <p:nvPicPr>
          <p:cNvPr id="6" name="Content Placeholder 5">
            <a:extLst>
              <a:ext uri="{FF2B5EF4-FFF2-40B4-BE49-F238E27FC236}">
                <a16:creationId xmlns:a16="http://schemas.microsoft.com/office/drawing/2014/main" id="{8E3D9D07-6987-8583-C107-A0EB5551F214}"/>
              </a:ext>
            </a:extLst>
          </p:cNvPr>
          <p:cNvPicPr>
            <a:picLocks noGrp="1" noChangeAspect="1"/>
          </p:cNvPicPr>
          <p:nvPr>
            <p:ph idx="1"/>
          </p:nvPr>
        </p:nvPicPr>
        <p:blipFill>
          <a:blip r:embed="rId2"/>
          <a:stretch>
            <a:fillRect/>
          </a:stretch>
        </p:blipFill>
        <p:spPr>
          <a:xfrm>
            <a:off x="5464479" y="192053"/>
            <a:ext cx="5429521" cy="5568739"/>
          </a:xfrm>
          <a:prstGeom prst="rect">
            <a:avLst/>
          </a:prstGeom>
        </p:spPr>
      </p:pic>
      <p:graphicFrame>
        <p:nvGraphicFramePr>
          <p:cNvPr id="7" name="Table 6">
            <a:extLst>
              <a:ext uri="{FF2B5EF4-FFF2-40B4-BE49-F238E27FC236}">
                <a16:creationId xmlns:a16="http://schemas.microsoft.com/office/drawing/2014/main" id="{DA448310-4F3C-27A3-D6C3-D4BCCAA4E5ED}"/>
              </a:ext>
            </a:extLst>
          </p:cNvPr>
          <p:cNvGraphicFramePr>
            <a:graphicFrameLocks noGrp="1"/>
          </p:cNvGraphicFramePr>
          <p:nvPr>
            <p:extLst>
              <p:ext uri="{D42A27DB-BD31-4B8C-83A1-F6EECF244321}">
                <p14:modId xmlns:p14="http://schemas.microsoft.com/office/powerpoint/2010/main" val="1168959185"/>
              </p:ext>
            </p:extLst>
          </p:nvPr>
        </p:nvGraphicFramePr>
        <p:xfrm>
          <a:off x="554620" y="5847602"/>
          <a:ext cx="10515600" cy="944880"/>
        </p:xfrm>
        <a:graphic>
          <a:graphicData uri="http://schemas.openxmlformats.org/drawingml/2006/table">
            <a:tbl>
              <a:tblPr/>
              <a:tblGrid>
                <a:gridCol w="10515600">
                  <a:extLst>
                    <a:ext uri="{9D8B030D-6E8A-4147-A177-3AD203B41FA5}">
                      <a16:colId xmlns:a16="http://schemas.microsoft.com/office/drawing/2014/main" val="166304762"/>
                    </a:ext>
                  </a:extLst>
                </a:gridCol>
              </a:tblGrid>
              <a:tr h="0">
                <a:tc>
                  <a:txBody>
                    <a:bodyPr/>
                    <a:lstStyle/>
                    <a:p>
                      <a:pPr fontAlgn="t">
                        <a:lnSpc>
                          <a:spcPct val="100000"/>
                        </a:lnSpc>
                        <a:buNone/>
                      </a:pPr>
                      <a:r>
                        <a:rPr lang="en-US" sz="1600" b="1" i="0" dirty="0">
                          <a:effectLst/>
                          <a:latin typeface="Segoe UI" panose="020B0502040204020203" pitchFamily="34" charset="0"/>
                        </a:rPr>
                        <a:t>Academic writing is not copy-pasting. We read information, understand it, write it in our own words, then acknowledge the source.</a:t>
                      </a:r>
                    </a:p>
                  </a:txBody>
                  <a:tcP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288358732"/>
                  </a:ext>
                </a:extLst>
              </a:tr>
              <a:tr h="0">
                <a:tc>
                  <a:txBody>
                    <a:bodyPr/>
                    <a:lstStyle/>
                    <a:p>
                      <a:endParaRPr lang="en-US" dirty="0"/>
                    </a:p>
                  </a:txBody>
                  <a:tcPr>
                    <a:lnT w="381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432987859"/>
                  </a:ext>
                </a:extLst>
              </a:tr>
            </a:tbl>
          </a:graphicData>
        </a:graphic>
      </p:graphicFrame>
    </p:spTree>
    <p:extLst>
      <p:ext uri="{BB962C8B-B14F-4D97-AF65-F5344CB8AC3E}">
        <p14:creationId xmlns:p14="http://schemas.microsoft.com/office/powerpoint/2010/main" val="3478628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5C751-400B-AAAB-4DFF-37EE5085F1D5}"/>
              </a:ext>
            </a:extLst>
          </p:cNvPr>
          <p:cNvSpPr>
            <a:spLocks noGrp="1"/>
          </p:cNvSpPr>
          <p:nvPr>
            <p:ph type="title"/>
          </p:nvPr>
        </p:nvSpPr>
        <p:spPr/>
        <p:txBody>
          <a:bodyPr/>
          <a:lstStyle/>
          <a:p>
            <a:r>
              <a:rPr lang="en-US" dirty="0"/>
              <a:t>Step 1: Finding Sources</a:t>
            </a:r>
          </a:p>
        </p:txBody>
      </p:sp>
      <p:sp>
        <p:nvSpPr>
          <p:cNvPr id="3" name="Content Placeholder 2">
            <a:extLst>
              <a:ext uri="{FF2B5EF4-FFF2-40B4-BE49-F238E27FC236}">
                <a16:creationId xmlns:a16="http://schemas.microsoft.com/office/drawing/2014/main" id="{468EE660-8B1C-0205-BCCD-B2ECD98A7F5C}"/>
              </a:ext>
            </a:extLst>
          </p:cNvPr>
          <p:cNvSpPr>
            <a:spLocks noGrp="1"/>
          </p:cNvSpPr>
          <p:nvPr>
            <p:ph idx="1"/>
          </p:nvPr>
        </p:nvSpPr>
        <p:spPr/>
        <p:txBody>
          <a:bodyPr/>
          <a:lstStyle/>
          <a:p>
            <a:pPr marL="0" indent="0">
              <a:buNone/>
            </a:pPr>
            <a:r>
              <a:rPr lang="en-US" b="1" dirty="0"/>
              <a:t>1)Research Papers</a:t>
            </a:r>
          </a:p>
          <a:p>
            <a:pPr lvl="1"/>
            <a:r>
              <a:rPr lang="en-US" dirty="0"/>
              <a:t>Use:</a:t>
            </a:r>
          </a:p>
          <a:p>
            <a:pPr lvl="1"/>
            <a:r>
              <a:rPr lang="en-US" dirty="0"/>
              <a:t>Google Scholar</a:t>
            </a:r>
          </a:p>
          <a:p>
            <a:pPr lvl="1"/>
            <a:r>
              <a:rPr lang="en-US" dirty="0"/>
              <a:t>IEEE Xplore</a:t>
            </a:r>
          </a:p>
          <a:p>
            <a:pPr lvl="1"/>
            <a:r>
              <a:rPr lang="en-US" dirty="0"/>
              <a:t>ACM Digital Library</a:t>
            </a:r>
          </a:p>
          <a:p>
            <a:pPr lvl="1"/>
            <a:r>
              <a:rPr lang="en-US" dirty="0"/>
              <a:t>Springer</a:t>
            </a:r>
          </a:p>
          <a:p>
            <a:pPr lvl="1"/>
            <a:r>
              <a:rPr lang="en-US" dirty="0"/>
              <a:t>ScienceDirect</a:t>
            </a:r>
          </a:p>
          <a:p>
            <a:pPr marL="0" indent="0">
              <a:buNone/>
            </a:pPr>
            <a:endParaRPr lang="en-US" dirty="0"/>
          </a:p>
        </p:txBody>
      </p:sp>
      <p:graphicFrame>
        <p:nvGraphicFramePr>
          <p:cNvPr id="5" name="Table 4">
            <a:extLst>
              <a:ext uri="{FF2B5EF4-FFF2-40B4-BE49-F238E27FC236}">
                <a16:creationId xmlns:a16="http://schemas.microsoft.com/office/drawing/2014/main" id="{973960EB-AB12-AFB9-7AA2-E79EA04C8E1E}"/>
              </a:ext>
            </a:extLst>
          </p:cNvPr>
          <p:cNvGraphicFramePr>
            <a:graphicFrameLocks noGrp="1"/>
          </p:cNvGraphicFramePr>
          <p:nvPr>
            <p:extLst>
              <p:ext uri="{D42A27DB-BD31-4B8C-83A1-F6EECF244321}">
                <p14:modId xmlns:p14="http://schemas.microsoft.com/office/powerpoint/2010/main" val="1802360168"/>
              </p:ext>
            </p:extLst>
          </p:nvPr>
        </p:nvGraphicFramePr>
        <p:xfrm>
          <a:off x="722453" y="5066276"/>
          <a:ext cx="10515600" cy="1491615"/>
        </p:xfrm>
        <a:graphic>
          <a:graphicData uri="http://schemas.openxmlformats.org/drawingml/2006/table">
            <a:tbl>
              <a:tblPr/>
              <a:tblGrid>
                <a:gridCol w="10515600">
                  <a:extLst>
                    <a:ext uri="{9D8B030D-6E8A-4147-A177-3AD203B41FA5}">
                      <a16:colId xmlns:a16="http://schemas.microsoft.com/office/drawing/2014/main" val="510445940"/>
                    </a:ext>
                  </a:extLst>
                </a:gridCol>
              </a:tblGrid>
              <a:tr h="0">
                <a:tc>
                  <a:txBody>
                    <a:bodyPr/>
                    <a:lstStyle/>
                    <a:p>
                      <a:pPr fontAlgn="t">
                        <a:lnSpc>
                          <a:spcPts val="1500"/>
                        </a:lnSpc>
                        <a:buNone/>
                      </a:pPr>
                      <a:r>
                        <a:rPr lang="en-US" sz="1800" b="0" i="0" dirty="0">
                          <a:effectLst/>
                          <a:latin typeface="Segoe UI" panose="020B0502040204020203" pitchFamily="34" charset="0"/>
                        </a:rPr>
                        <a:t>Example Search:</a:t>
                      </a:r>
                    </a:p>
                  </a:txBody>
                  <a:tcP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60635182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Artificial Intelligence in Education</a:t>
                      </a:r>
                    </a:p>
                    <a:p>
                      <a:endParaRPr lang="en-US" sz="1800" b="1" dirty="0"/>
                    </a:p>
                    <a:p>
                      <a:r>
                        <a:rPr lang="en-US" sz="1800" dirty="0"/>
                        <a:t>Author| Year| Title| Journal</a:t>
                      </a:r>
                    </a:p>
                  </a:txBody>
                  <a:tcPr>
                    <a:lnT w="381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952818965"/>
                  </a:ext>
                </a:extLst>
              </a:tr>
            </a:tbl>
          </a:graphicData>
        </a:graphic>
      </p:graphicFrame>
    </p:spTree>
    <p:extLst>
      <p:ext uri="{BB962C8B-B14F-4D97-AF65-F5344CB8AC3E}">
        <p14:creationId xmlns:p14="http://schemas.microsoft.com/office/powerpoint/2010/main" val="1409732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D5E8A-D92B-EB75-1FA3-1B6ECABD8349}"/>
              </a:ext>
            </a:extLst>
          </p:cNvPr>
          <p:cNvSpPr>
            <a:spLocks noGrp="1"/>
          </p:cNvSpPr>
          <p:nvPr>
            <p:ph type="title"/>
          </p:nvPr>
        </p:nvSpPr>
        <p:spPr/>
        <p:txBody>
          <a:bodyPr/>
          <a:lstStyle/>
          <a:p>
            <a:r>
              <a:rPr lang="en-US" dirty="0"/>
              <a:t>Step 1: Finding Sources</a:t>
            </a:r>
          </a:p>
        </p:txBody>
      </p:sp>
      <p:sp>
        <p:nvSpPr>
          <p:cNvPr id="3" name="Content Placeholder 2">
            <a:extLst>
              <a:ext uri="{FF2B5EF4-FFF2-40B4-BE49-F238E27FC236}">
                <a16:creationId xmlns:a16="http://schemas.microsoft.com/office/drawing/2014/main" id="{1C5011B3-7BC4-0CB3-DDEC-0C2BDF6A223F}"/>
              </a:ext>
            </a:extLst>
          </p:cNvPr>
          <p:cNvSpPr>
            <a:spLocks noGrp="1"/>
          </p:cNvSpPr>
          <p:nvPr>
            <p:ph idx="1"/>
          </p:nvPr>
        </p:nvSpPr>
        <p:spPr/>
        <p:txBody>
          <a:bodyPr/>
          <a:lstStyle/>
          <a:p>
            <a:pPr marL="0" indent="0">
              <a:buNone/>
            </a:pPr>
            <a:r>
              <a:rPr lang="en-US" b="1" dirty="0"/>
              <a:t>2)Books</a:t>
            </a:r>
          </a:p>
          <a:p>
            <a:pPr marL="0" indent="0">
              <a:buNone/>
            </a:pPr>
            <a:r>
              <a:rPr lang="en-US" b="1" dirty="0"/>
              <a:t>Example:</a:t>
            </a:r>
          </a:p>
          <a:p>
            <a:pPr lvl="1"/>
            <a:r>
              <a:rPr lang="en-US" dirty="0"/>
              <a:t>Artificial Intelligence in Education</a:t>
            </a:r>
          </a:p>
          <a:p>
            <a:pPr lvl="1"/>
            <a:r>
              <a:rPr lang="en-US" dirty="0"/>
              <a:t>Authors: Holmes, Bialik and Fadel</a:t>
            </a:r>
          </a:p>
          <a:p>
            <a:pPr marL="0" indent="0">
              <a:buNone/>
            </a:pPr>
            <a:r>
              <a:rPr lang="en-US" dirty="0"/>
              <a:t>Books are useful for concepts and definitions.</a:t>
            </a:r>
          </a:p>
        </p:txBody>
      </p:sp>
    </p:spTree>
    <p:extLst>
      <p:ext uri="{BB962C8B-B14F-4D97-AF65-F5344CB8AC3E}">
        <p14:creationId xmlns:p14="http://schemas.microsoft.com/office/powerpoint/2010/main" val="4058828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84FBF-0E4E-CDDF-E7F1-72D708C66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07701-4A7C-4C29-688D-2BF6ECDB66AE}"/>
              </a:ext>
            </a:extLst>
          </p:cNvPr>
          <p:cNvSpPr>
            <a:spLocks noGrp="1"/>
          </p:cNvSpPr>
          <p:nvPr>
            <p:ph type="title"/>
          </p:nvPr>
        </p:nvSpPr>
        <p:spPr/>
        <p:txBody>
          <a:bodyPr/>
          <a:lstStyle/>
          <a:p>
            <a:r>
              <a:rPr lang="en-US" dirty="0"/>
              <a:t>Step 1: Finding Sources</a:t>
            </a:r>
          </a:p>
        </p:txBody>
      </p:sp>
      <p:sp>
        <p:nvSpPr>
          <p:cNvPr id="3" name="Content Placeholder 2">
            <a:extLst>
              <a:ext uri="{FF2B5EF4-FFF2-40B4-BE49-F238E27FC236}">
                <a16:creationId xmlns:a16="http://schemas.microsoft.com/office/drawing/2014/main" id="{57B550AC-C795-3272-7C11-1E8D7C8D5EE5}"/>
              </a:ext>
            </a:extLst>
          </p:cNvPr>
          <p:cNvSpPr>
            <a:spLocks noGrp="1"/>
          </p:cNvSpPr>
          <p:nvPr>
            <p:ph idx="1"/>
          </p:nvPr>
        </p:nvSpPr>
        <p:spPr/>
        <p:txBody>
          <a:bodyPr>
            <a:normAutofit/>
          </a:bodyPr>
          <a:lstStyle/>
          <a:p>
            <a:pPr marL="0" indent="0">
              <a:buNone/>
            </a:pPr>
            <a:r>
              <a:rPr lang="en-US" b="1" dirty="0"/>
              <a:t>3) Websites</a:t>
            </a:r>
          </a:p>
          <a:p>
            <a:r>
              <a:rPr lang="en-US" dirty="0"/>
              <a:t>Example:</a:t>
            </a:r>
          </a:p>
          <a:p>
            <a:pPr lvl="1"/>
            <a:r>
              <a:rPr lang="en-US" dirty="0"/>
              <a:t>UNESCO</a:t>
            </a:r>
          </a:p>
          <a:p>
            <a:pPr lvl="1"/>
            <a:r>
              <a:rPr lang="en-US" dirty="0"/>
              <a:t>OECD</a:t>
            </a:r>
          </a:p>
          <a:p>
            <a:pPr lvl="1"/>
            <a:r>
              <a:rPr lang="en-US" dirty="0"/>
              <a:t>Government websites</a:t>
            </a:r>
          </a:p>
          <a:p>
            <a:pPr lvl="1"/>
            <a:r>
              <a:rPr lang="en-US" dirty="0"/>
              <a:t>University websites</a:t>
            </a:r>
          </a:p>
          <a:p>
            <a:pPr marL="0" indent="0">
              <a:buNone/>
            </a:pPr>
            <a:r>
              <a:rPr lang="en-US" b="1" dirty="0"/>
              <a:t>Avoid:</a:t>
            </a:r>
          </a:p>
          <a:p>
            <a:pPr lvl="1"/>
            <a:r>
              <a:rPr lang="en-US" dirty="0"/>
              <a:t> Wikipedia </a:t>
            </a:r>
          </a:p>
          <a:p>
            <a:pPr lvl="1"/>
            <a:r>
              <a:rPr lang="en-US" dirty="0"/>
              <a:t> Blogs without authors</a:t>
            </a:r>
          </a:p>
          <a:p>
            <a:pPr lvl="1"/>
            <a:r>
              <a:rPr lang="en-US" dirty="0"/>
              <a:t> Random websites</a:t>
            </a:r>
          </a:p>
        </p:txBody>
      </p:sp>
    </p:spTree>
    <p:extLst>
      <p:ext uri="{BB962C8B-B14F-4D97-AF65-F5344CB8AC3E}">
        <p14:creationId xmlns:p14="http://schemas.microsoft.com/office/powerpoint/2010/main" val="4286599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B34C3-0922-05BC-F0E1-F613E20B0D4B}"/>
              </a:ext>
            </a:extLst>
          </p:cNvPr>
          <p:cNvSpPr>
            <a:spLocks noGrp="1"/>
          </p:cNvSpPr>
          <p:nvPr>
            <p:ph type="title"/>
          </p:nvPr>
        </p:nvSpPr>
        <p:spPr/>
        <p:txBody>
          <a:bodyPr/>
          <a:lstStyle/>
          <a:p>
            <a:r>
              <a:rPr lang="en-US" dirty="0"/>
              <a:t>Step 2: Reading Sources</a:t>
            </a:r>
          </a:p>
        </p:txBody>
      </p:sp>
      <p:sp>
        <p:nvSpPr>
          <p:cNvPr id="3" name="Content Placeholder 2">
            <a:extLst>
              <a:ext uri="{FF2B5EF4-FFF2-40B4-BE49-F238E27FC236}">
                <a16:creationId xmlns:a16="http://schemas.microsoft.com/office/drawing/2014/main" id="{8D547ECE-C79B-8A97-2EE7-8DA1048E08BA}"/>
              </a:ext>
            </a:extLst>
          </p:cNvPr>
          <p:cNvSpPr>
            <a:spLocks noGrp="1"/>
          </p:cNvSpPr>
          <p:nvPr>
            <p:ph idx="1"/>
          </p:nvPr>
        </p:nvSpPr>
        <p:spPr/>
        <p:txBody>
          <a:bodyPr/>
          <a:lstStyle/>
          <a:p>
            <a:r>
              <a:rPr lang="en-US" dirty="0"/>
              <a:t>Don't read the whole paper first.</a:t>
            </a:r>
          </a:p>
          <a:p>
            <a:r>
              <a:rPr lang="en-US" dirty="0"/>
              <a:t>Look for:</a:t>
            </a:r>
          </a:p>
          <a:p>
            <a:pPr lvl="1"/>
            <a:r>
              <a:rPr lang="en-US" dirty="0"/>
              <a:t>Title</a:t>
            </a:r>
          </a:p>
          <a:p>
            <a:pPr lvl="1"/>
            <a:r>
              <a:rPr lang="en-US" dirty="0"/>
              <a:t>Abstract</a:t>
            </a:r>
          </a:p>
          <a:p>
            <a:pPr lvl="1"/>
            <a:r>
              <a:rPr lang="en-US" dirty="0"/>
              <a:t>Keywords</a:t>
            </a:r>
          </a:p>
          <a:p>
            <a:pPr lvl="1"/>
            <a:r>
              <a:rPr lang="en-US" dirty="0"/>
              <a:t>Main findings</a:t>
            </a:r>
          </a:p>
          <a:p>
            <a:pPr lvl="1"/>
            <a:r>
              <a:rPr lang="en-US" dirty="0"/>
              <a:t>Conclusion</a:t>
            </a:r>
          </a:p>
          <a:p>
            <a:r>
              <a:rPr lang="en-US" dirty="0"/>
              <a:t>What is this paper about?</a:t>
            </a:r>
          </a:p>
        </p:txBody>
      </p:sp>
    </p:spTree>
    <p:extLst>
      <p:ext uri="{BB962C8B-B14F-4D97-AF65-F5344CB8AC3E}">
        <p14:creationId xmlns:p14="http://schemas.microsoft.com/office/powerpoint/2010/main" val="547647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8DDED-1943-D1F2-710C-060A4E455EB2}"/>
              </a:ext>
            </a:extLst>
          </p:cNvPr>
          <p:cNvSpPr>
            <a:spLocks noGrp="1"/>
          </p:cNvSpPr>
          <p:nvPr>
            <p:ph type="title"/>
          </p:nvPr>
        </p:nvSpPr>
        <p:spPr/>
        <p:txBody>
          <a:bodyPr/>
          <a:lstStyle/>
          <a:p>
            <a:r>
              <a:rPr lang="en-US" dirty="0"/>
              <a:t>Step 3: Taking Notes</a:t>
            </a:r>
          </a:p>
        </p:txBody>
      </p:sp>
      <p:sp>
        <p:nvSpPr>
          <p:cNvPr id="3" name="Content Placeholder 2">
            <a:extLst>
              <a:ext uri="{FF2B5EF4-FFF2-40B4-BE49-F238E27FC236}">
                <a16:creationId xmlns:a16="http://schemas.microsoft.com/office/drawing/2014/main" id="{C908E2CB-BD5C-F319-6FEC-4BD767BABD1B}"/>
              </a:ext>
            </a:extLst>
          </p:cNvPr>
          <p:cNvSpPr>
            <a:spLocks noGrp="1"/>
          </p:cNvSpPr>
          <p:nvPr>
            <p:ph idx="1"/>
          </p:nvPr>
        </p:nvSpPr>
        <p:spPr/>
        <p:txBody>
          <a:bodyPr/>
          <a:lstStyle/>
          <a:p>
            <a:r>
              <a:rPr lang="en-US" dirty="0"/>
              <a:t>Create a simple research note table.</a:t>
            </a:r>
          </a:p>
          <a:p>
            <a:endParaRPr lang="en-US" dirty="0"/>
          </a:p>
        </p:txBody>
      </p:sp>
      <p:graphicFrame>
        <p:nvGraphicFramePr>
          <p:cNvPr id="5" name="Table 4">
            <a:extLst>
              <a:ext uri="{FF2B5EF4-FFF2-40B4-BE49-F238E27FC236}">
                <a16:creationId xmlns:a16="http://schemas.microsoft.com/office/drawing/2014/main" id="{80876437-83E6-909C-4765-6F7010282EF0}"/>
              </a:ext>
            </a:extLst>
          </p:cNvPr>
          <p:cNvGraphicFramePr>
            <a:graphicFrameLocks noGrp="1"/>
          </p:cNvGraphicFramePr>
          <p:nvPr>
            <p:extLst>
              <p:ext uri="{D42A27DB-BD31-4B8C-83A1-F6EECF244321}">
                <p14:modId xmlns:p14="http://schemas.microsoft.com/office/powerpoint/2010/main" val="149262610"/>
              </p:ext>
            </p:extLst>
          </p:nvPr>
        </p:nvGraphicFramePr>
        <p:xfrm>
          <a:off x="838200" y="2502059"/>
          <a:ext cx="10515600" cy="1499235"/>
        </p:xfrm>
        <a:graphic>
          <a:graphicData uri="http://schemas.openxmlformats.org/drawingml/2006/table">
            <a:tbl>
              <a:tblPr/>
              <a:tblGrid>
                <a:gridCol w="5257800">
                  <a:extLst>
                    <a:ext uri="{9D8B030D-6E8A-4147-A177-3AD203B41FA5}">
                      <a16:colId xmlns:a16="http://schemas.microsoft.com/office/drawing/2014/main" val="3637659133"/>
                    </a:ext>
                  </a:extLst>
                </a:gridCol>
                <a:gridCol w="5257800">
                  <a:extLst>
                    <a:ext uri="{9D8B030D-6E8A-4147-A177-3AD203B41FA5}">
                      <a16:colId xmlns:a16="http://schemas.microsoft.com/office/drawing/2014/main" val="3009746253"/>
                    </a:ext>
                  </a:extLst>
                </a:gridCol>
              </a:tblGrid>
              <a:tr h="0">
                <a:tc>
                  <a:txBody>
                    <a:bodyPr/>
                    <a:lstStyle/>
                    <a:p>
                      <a:pPr>
                        <a:buNone/>
                      </a:pPr>
                      <a:r>
                        <a:rPr lang="en-US" b="1" dirty="0">
                          <a:effectLst/>
                        </a:rPr>
                        <a:t>Source</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b="1" dirty="0">
                          <a:effectLst/>
                        </a:rPr>
                        <a:t>Main Idea</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448448788"/>
                  </a:ext>
                </a:extLst>
              </a:tr>
              <a:tr h="0">
                <a:tc>
                  <a:txBody>
                    <a:bodyPr/>
                    <a:lstStyle/>
                    <a:p>
                      <a:pPr>
                        <a:buNone/>
                      </a:pPr>
                      <a:r>
                        <a:rPr lang="en-US" dirty="0">
                          <a:effectLst/>
                        </a:rPr>
                        <a:t>Artificial Intelligence in Education: A Review</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dirty="0">
                          <a:effectLst/>
                        </a:rPr>
                        <a:t>AI is having an important impact on education and learning.</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873063775"/>
                  </a:ext>
                </a:extLst>
              </a:tr>
              <a:tr h="0">
                <a:tc>
                  <a:txBody>
                    <a:bodyPr/>
                    <a:lstStyle/>
                    <a:p>
                      <a:pPr>
                        <a:buNone/>
                      </a:pPr>
                      <a:r>
                        <a:rPr lang="en-US">
                          <a:effectLst/>
                        </a:rPr>
                        <a:t>Artificial Intelligence in Education: A Review</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fontAlgn="t">
                        <a:lnSpc>
                          <a:spcPts val="1500"/>
                        </a:lnSpc>
                        <a:buNone/>
                      </a:pPr>
                      <a:r>
                        <a:rPr lang="en-US" dirty="0">
                          <a:effectLst/>
                        </a:rPr>
                        <a:t>AI can support educational processes and improve learning experiences.</a:t>
                      </a:r>
                      <a:endParaRPr lang="en-US" sz="1050" b="0" i="0" dirty="0">
                        <a:effectLst/>
                        <a:latin typeface="Segoe UI" panose="020B0502040204020203" pitchFamily="34" charset="0"/>
                      </a:endParaRP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678521754"/>
                  </a:ext>
                </a:extLst>
              </a:tr>
            </a:tbl>
          </a:graphicData>
        </a:graphic>
      </p:graphicFrame>
      <p:graphicFrame>
        <p:nvGraphicFramePr>
          <p:cNvPr id="7" name="Table 6">
            <a:extLst>
              <a:ext uri="{FF2B5EF4-FFF2-40B4-BE49-F238E27FC236}">
                <a16:creationId xmlns:a16="http://schemas.microsoft.com/office/drawing/2014/main" id="{DFC89F0B-F13F-B219-9B73-F4696C40C141}"/>
              </a:ext>
            </a:extLst>
          </p:cNvPr>
          <p:cNvGraphicFramePr>
            <a:graphicFrameLocks noGrp="1"/>
          </p:cNvGraphicFramePr>
          <p:nvPr>
            <p:extLst>
              <p:ext uri="{D42A27DB-BD31-4B8C-83A1-F6EECF244321}">
                <p14:modId xmlns:p14="http://schemas.microsoft.com/office/powerpoint/2010/main" val="2518316234"/>
              </p:ext>
            </p:extLst>
          </p:nvPr>
        </p:nvGraphicFramePr>
        <p:xfrm>
          <a:off x="722453" y="4412918"/>
          <a:ext cx="10515600" cy="1967738"/>
        </p:xfrm>
        <a:graphic>
          <a:graphicData uri="http://schemas.openxmlformats.org/drawingml/2006/table">
            <a:tbl>
              <a:tblPr/>
              <a:tblGrid>
                <a:gridCol w="10515600">
                  <a:extLst>
                    <a:ext uri="{9D8B030D-6E8A-4147-A177-3AD203B41FA5}">
                      <a16:colId xmlns:a16="http://schemas.microsoft.com/office/drawing/2014/main" val="1540894666"/>
                    </a:ext>
                  </a:extLst>
                </a:gridCol>
              </a:tblGrid>
              <a:tr h="0">
                <a:tc>
                  <a:txBody>
                    <a:bodyPr/>
                    <a:lstStyle/>
                    <a:p>
                      <a:pPr fontAlgn="t">
                        <a:lnSpc>
                          <a:spcPct val="150000"/>
                        </a:lnSpc>
                        <a:buNone/>
                      </a:pPr>
                      <a:r>
                        <a:rPr lang="en-US" sz="2000" b="1" i="0" dirty="0">
                          <a:effectLst/>
                          <a:latin typeface="Segoe UI" panose="020B0502040204020203" pitchFamily="34" charset="0"/>
                        </a:rPr>
                        <a:t>Notice:</a:t>
                      </a:r>
                    </a:p>
                    <a:p>
                      <a:pPr fontAlgn="t">
                        <a:lnSpc>
                          <a:spcPct val="150000"/>
                        </a:lnSpc>
                        <a:buNone/>
                      </a:pPr>
                      <a:r>
                        <a:rPr lang="en-US" sz="2000" b="0" i="0" dirty="0">
                          <a:effectLst/>
                          <a:latin typeface="Segoe UI" panose="020B0502040204020203" pitchFamily="34" charset="0"/>
                        </a:rPr>
                        <a:t> Short notes</a:t>
                      </a:r>
                    </a:p>
                    <a:p>
                      <a:pPr fontAlgn="t">
                        <a:lnSpc>
                          <a:spcPct val="150000"/>
                        </a:lnSpc>
                        <a:buNone/>
                      </a:pPr>
                      <a:r>
                        <a:rPr lang="en-US" sz="2000" b="0" i="0" dirty="0">
                          <a:effectLst/>
                          <a:latin typeface="Segoe UI" panose="020B0502040204020203" pitchFamily="34" charset="0"/>
                        </a:rPr>
                        <a:t> Not full paragraphs copied from the paper</a:t>
                      </a:r>
                    </a:p>
                  </a:txBody>
                  <a:tcP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676801611"/>
                  </a:ext>
                </a:extLst>
              </a:tr>
              <a:tr h="0">
                <a:tc>
                  <a:txBody>
                    <a:bodyPr/>
                    <a:lstStyle/>
                    <a:p>
                      <a:pPr>
                        <a:lnSpc>
                          <a:spcPct val="150000"/>
                        </a:lnSpc>
                      </a:pPr>
                      <a:endParaRPr lang="en-US" sz="2000" dirty="0"/>
                    </a:p>
                  </a:txBody>
                  <a:tcPr>
                    <a:lnT w="381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81555915"/>
                  </a:ext>
                </a:extLst>
              </a:tr>
            </a:tbl>
          </a:graphicData>
        </a:graphic>
      </p:graphicFrame>
    </p:spTree>
    <p:extLst>
      <p:ext uri="{BB962C8B-B14F-4D97-AF65-F5344CB8AC3E}">
        <p14:creationId xmlns:p14="http://schemas.microsoft.com/office/powerpoint/2010/main" val="1947356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550F6-AE83-FFC6-8872-681465ABFFA0}"/>
              </a:ext>
            </a:extLst>
          </p:cNvPr>
          <p:cNvSpPr>
            <a:spLocks noGrp="1"/>
          </p:cNvSpPr>
          <p:nvPr>
            <p:ph type="title"/>
          </p:nvPr>
        </p:nvSpPr>
        <p:spPr/>
        <p:txBody>
          <a:bodyPr/>
          <a:lstStyle/>
          <a:p>
            <a:r>
              <a:rPr lang="en-US" dirty="0"/>
              <a:t>Step 4: Paraphrasing</a:t>
            </a:r>
          </a:p>
        </p:txBody>
      </p:sp>
      <p:sp>
        <p:nvSpPr>
          <p:cNvPr id="3" name="Content Placeholder 2">
            <a:extLst>
              <a:ext uri="{FF2B5EF4-FFF2-40B4-BE49-F238E27FC236}">
                <a16:creationId xmlns:a16="http://schemas.microsoft.com/office/drawing/2014/main" id="{7CFEDA21-757C-ED4D-3642-972D3583775B}"/>
              </a:ext>
            </a:extLst>
          </p:cNvPr>
          <p:cNvSpPr>
            <a:spLocks noGrp="1"/>
          </p:cNvSpPr>
          <p:nvPr>
            <p:ph idx="1"/>
          </p:nvPr>
        </p:nvSpPr>
        <p:spPr/>
        <p:txBody>
          <a:bodyPr>
            <a:normAutofit lnSpcReduction="10000"/>
          </a:bodyPr>
          <a:lstStyle/>
          <a:p>
            <a:r>
              <a:rPr lang="en-US" b="1" dirty="0"/>
              <a:t>Source Idea</a:t>
            </a:r>
          </a:p>
          <a:p>
            <a:pPr lvl="1"/>
            <a:r>
              <a:rPr lang="en-US" dirty="0"/>
              <a:t>The paper discusses the impact of AI on education and examines how AI can be used within educational settings.</a:t>
            </a:r>
          </a:p>
          <a:p>
            <a:r>
              <a:rPr lang="en-US" b="1" dirty="0"/>
              <a:t>Poor Paraphrase </a:t>
            </a:r>
          </a:p>
          <a:p>
            <a:pPr lvl="1"/>
            <a:r>
              <a:rPr lang="en-US" dirty="0"/>
              <a:t>Artificial Intelligence has an impact on education and can be used in educational settings.</a:t>
            </a:r>
          </a:p>
          <a:p>
            <a:pPr lvl="1"/>
            <a:r>
              <a:rPr lang="en-US" dirty="0"/>
              <a:t>Almost identical.</a:t>
            </a:r>
          </a:p>
          <a:p>
            <a:r>
              <a:rPr lang="en-US" b="1" dirty="0"/>
              <a:t>Better Paraphrase </a:t>
            </a:r>
          </a:p>
          <a:p>
            <a:pPr lvl="1"/>
            <a:r>
              <a:rPr lang="en-US" dirty="0"/>
              <a:t>AI technologies are increasingly influencing how students learn and how educational institutions deliver teaching and support learning activities.</a:t>
            </a:r>
          </a:p>
          <a:p>
            <a:pPr lvl="1"/>
            <a:r>
              <a:rPr lang="en-US" dirty="0"/>
              <a:t>Same </a:t>
            </a:r>
            <a:r>
              <a:rPr lang="en-US" dirty="0" err="1"/>
              <a:t>meaning.Different</a:t>
            </a:r>
            <a:r>
              <a:rPr lang="en-US" dirty="0"/>
              <a:t> wording.</a:t>
            </a:r>
          </a:p>
        </p:txBody>
      </p:sp>
    </p:spTree>
    <p:extLst>
      <p:ext uri="{BB962C8B-B14F-4D97-AF65-F5344CB8AC3E}">
        <p14:creationId xmlns:p14="http://schemas.microsoft.com/office/powerpoint/2010/main" val="264940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ADA5C-9A0E-A106-99DD-5BB5590EF525}"/>
              </a:ext>
            </a:extLst>
          </p:cNvPr>
          <p:cNvSpPr>
            <a:spLocks noGrp="1"/>
          </p:cNvSpPr>
          <p:nvPr>
            <p:ph type="title"/>
          </p:nvPr>
        </p:nvSpPr>
        <p:spPr/>
        <p:txBody>
          <a:bodyPr/>
          <a:lstStyle/>
          <a:p>
            <a:r>
              <a:rPr lang="en-US" dirty="0"/>
              <a:t>Step 5: Writing Content for Literature Review</a:t>
            </a:r>
          </a:p>
        </p:txBody>
      </p:sp>
      <p:sp>
        <p:nvSpPr>
          <p:cNvPr id="3" name="Content Placeholder 2">
            <a:extLst>
              <a:ext uri="{FF2B5EF4-FFF2-40B4-BE49-F238E27FC236}">
                <a16:creationId xmlns:a16="http://schemas.microsoft.com/office/drawing/2014/main" id="{F6433DCA-D9E7-222F-2961-944F2CAD3CAC}"/>
              </a:ext>
            </a:extLst>
          </p:cNvPr>
          <p:cNvSpPr>
            <a:spLocks noGrp="1"/>
          </p:cNvSpPr>
          <p:nvPr>
            <p:ph idx="1"/>
          </p:nvPr>
        </p:nvSpPr>
        <p:spPr>
          <a:xfrm>
            <a:off x="838200" y="1594131"/>
            <a:ext cx="10515600" cy="4351338"/>
          </a:xfrm>
        </p:spPr>
        <p:txBody>
          <a:bodyPr>
            <a:normAutofit fontScale="92500" lnSpcReduction="10000"/>
          </a:bodyPr>
          <a:lstStyle/>
          <a:p>
            <a:r>
              <a:rPr lang="en-US" dirty="0"/>
              <a:t>How notes become a paragraph.</a:t>
            </a:r>
          </a:p>
          <a:p>
            <a:r>
              <a:rPr lang="en-US" b="1" dirty="0"/>
              <a:t>Notes</a:t>
            </a:r>
          </a:p>
          <a:p>
            <a:pPr lvl="1"/>
            <a:r>
              <a:rPr lang="en-US" dirty="0"/>
              <a:t>AI affects education.</a:t>
            </a:r>
          </a:p>
          <a:p>
            <a:pPr lvl="1"/>
            <a:r>
              <a:rPr lang="en-US" dirty="0"/>
              <a:t>AI supports learning.</a:t>
            </a:r>
          </a:p>
          <a:p>
            <a:pPr lvl="1"/>
            <a:r>
              <a:rPr lang="en-US" dirty="0"/>
              <a:t>AI is becoming more common in educational environments.</a:t>
            </a:r>
          </a:p>
          <a:p>
            <a:pPr marL="457200" lvl="1" indent="0">
              <a:buNone/>
            </a:pPr>
            <a:endParaRPr lang="en-US" dirty="0"/>
          </a:p>
          <a:p>
            <a:r>
              <a:rPr lang="en-US" b="1" dirty="0"/>
              <a:t>Literature Review Paragraph</a:t>
            </a:r>
          </a:p>
          <a:p>
            <a:pPr lvl="1"/>
            <a:r>
              <a:rPr lang="en-US" dirty="0"/>
              <a:t>Artificial Intelligence has become an important technology within modern educational environments. Researchers have highlighted that AI is influencing teaching and learning practices and creating new opportunities to improve educational experiences. AI-based systems can support learning activities and assist educational institutions in delivering more effective learning services (Alam, 2021).</a:t>
            </a:r>
          </a:p>
        </p:txBody>
      </p:sp>
      <p:graphicFrame>
        <p:nvGraphicFramePr>
          <p:cNvPr id="5" name="Table 4">
            <a:extLst>
              <a:ext uri="{FF2B5EF4-FFF2-40B4-BE49-F238E27FC236}">
                <a16:creationId xmlns:a16="http://schemas.microsoft.com/office/drawing/2014/main" id="{3C8530AD-CBD2-ADEF-DABA-C45BE05BC0F9}"/>
              </a:ext>
            </a:extLst>
          </p:cNvPr>
          <p:cNvGraphicFramePr>
            <a:graphicFrameLocks noGrp="1"/>
          </p:cNvGraphicFramePr>
          <p:nvPr>
            <p:extLst>
              <p:ext uri="{D42A27DB-BD31-4B8C-83A1-F6EECF244321}">
                <p14:modId xmlns:p14="http://schemas.microsoft.com/office/powerpoint/2010/main" val="946436982"/>
              </p:ext>
            </p:extLst>
          </p:nvPr>
        </p:nvGraphicFramePr>
        <p:xfrm>
          <a:off x="953947" y="6117702"/>
          <a:ext cx="10515600" cy="668655"/>
        </p:xfrm>
        <a:graphic>
          <a:graphicData uri="http://schemas.openxmlformats.org/drawingml/2006/table">
            <a:tbl>
              <a:tblPr/>
              <a:tblGrid>
                <a:gridCol w="10515600">
                  <a:extLst>
                    <a:ext uri="{9D8B030D-6E8A-4147-A177-3AD203B41FA5}">
                      <a16:colId xmlns:a16="http://schemas.microsoft.com/office/drawing/2014/main" val="3388079433"/>
                    </a:ext>
                  </a:extLst>
                </a:gridCol>
              </a:tblGrid>
              <a:tr h="0">
                <a:tc>
                  <a:txBody>
                    <a:bodyPr/>
                    <a:lstStyle/>
                    <a:p>
                      <a:pPr fontAlgn="t">
                        <a:lnSpc>
                          <a:spcPts val="1500"/>
                        </a:lnSpc>
                        <a:buNone/>
                      </a:pPr>
                      <a:r>
                        <a:rPr lang="en-US" sz="1800" b="0" i="0" dirty="0">
                          <a:effectLst/>
                          <a:latin typeface="Segoe UI" panose="020B0502040204020203" pitchFamily="34" charset="0"/>
                        </a:rPr>
                        <a:t>(Example citation format only. Students should use the exact author and year from the paper.)</a:t>
                      </a:r>
                    </a:p>
                  </a:txBody>
                  <a:tcP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909163074"/>
                  </a:ext>
                </a:extLst>
              </a:tr>
              <a:tr h="0">
                <a:tc>
                  <a:txBody>
                    <a:bodyPr/>
                    <a:lstStyle/>
                    <a:p>
                      <a:endParaRPr lang="en-US" sz="1800" dirty="0"/>
                    </a:p>
                  </a:txBody>
                  <a:tcPr>
                    <a:lnT w="381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693320378"/>
                  </a:ext>
                </a:extLst>
              </a:tr>
            </a:tbl>
          </a:graphicData>
        </a:graphic>
      </p:graphicFrame>
    </p:spTree>
    <p:extLst>
      <p:ext uri="{BB962C8B-B14F-4D97-AF65-F5344CB8AC3E}">
        <p14:creationId xmlns:p14="http://schemas.microsoft.com/office/powerpoint/2010/main" val="95119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E31EE-A520-5A2D-BA5B-DB6741A8B0CB}"/>
              </a:ext>
            </a:extLst>
          </p:cNvPr>
          <p:cNvSpPr>
            <a:spLocks noGrp="1"/>
          </p:cNvSpPr>
          <p:nvPr>
            <p:ph type="title"/>
          </p:nvPr>
        </p:nvSpPr>
        <p:spPr/>
        <p:txBody>
          <a:bodyPr/>
          <a:lstStyle/>
          <a:p>
            <a:r>
              <a:rPr lang="en-US" dirty="0"/>
              <a:t>Citation</a:t>
            </a:r>
          </a:p>
        </p:txBody>
      </p:sp>
      <p:sp>
        <p:nvSpPr>
          <p:cNvPr id="3" name="Content Placeholder 2">
            <a:extLst>
              <a:ext uri="{FF2B5EF4-FFF2-40B4-BE49-F238E27FC236}">
                <a16:creationId xmlns:a16="http://schemas.microsoft.com/office/drawing/2014/main" id="{C2D2DEE6-C2BF-300C-4F0E-A32B9C057025}"/>
              </a:ext>
            </a:extLst>
          </p:cNvPr>
          <p:cNvSpPr>
            <a:spLocks noGrp="1"/>
          </p:cNvSpPr>
          <p:nvPr>
            <p:ph idx="1"/>
          </p:nvPr>
        </p:nvSpPr>
        <p:spPr>
          <a:xfrm>
            <a:off x="838200" y="1690688"/>
            <a:ext cx="10515600" cy="4351338"/>
          </a:xfrm>
        </p:spPr>
        <p:txBody>
          <a:bodyPr/>
          <a:lstStyle/>
          <a:p>
            <a:r>
              <a:rPr lang="en-US" dirty="0"/>
              <a:t>Citations are placed throughout the report wherever information from a source is used. Whenever an idea, fact, definition, finding, statistic, theory, model, or argument comes from someone else, you should cite it, even if you write it entirely in your own words.</a:t>
            </a:r>
          </a:p>
          <a:p>
            <a:pPr marL="0" indent="0">
              <a:buNone/>
            </a:pPr>
            <a:endParaRPr lang="en-US" dirty="0"/>
          </a:p>
          <a:p>
            <a:endParaRPr lang="en-US" dirty="0"/>
          </a:p>
        </p:txBody>
      </p:sp>
      <p:graphicFrame>
        <p:nvGraphicFramePr>
          <p:cNvPr id="4" name="Table 3">
            <a:extLst>
              <a:ext uri="{FF2B5EF4-FFF2-40B4-BE49-F238E27FC236}">
                <a16:creationId xmlns:a16="http://schemas.microsoft.com/office/drawing/2014/main" id="{0F855061-D9D6-0EB7-4147-4F0871F5F7A9}"/>
              </a:ext>
            </a:extLst>
          </p:cNvPr>
          <p:cNvGraphicFramePr>
            <a:graphicFrameLocks noGrp="1"/>
          </p:cNvGraphicFramePr>
          <p:nvPr>
            <p:extLst>
              <p:ext uri="{D42A27DB-BD31-4B8C-83A1-F6EECF244321}">
                <p14:modId xmlns:p14="http://schemas.microsoft.com/office/powerpoint/2010/main" val="3240207939"/>
              </p:ext>
            </p:extLst>
          </p:nvPr>
        </p:nvGraphicFramePr>
        <p:xfrm>
          <a:off x="925010" y="3665215"/>
          <a:ext cx="10515600" cy="2424938"/>
        </p:xfrm>
        <a:graphic>
          <a:graphicData uri="http://schemas.openxmlformats.org/drawingml/2006/table">
            <a:tbl>
              <a:tblPr/>
              <a:tblGrid>
                <a:gridCol w="10515600">
                  <a:extLst>
                    <a:ext uri="{9D8B030D-6E8A-4147-A177-3AD203B41FA5}">
                      <a16:colId xmlns:a16="http://schemas.microsoft.com/office/drawing/2014/main" val="1329229697"/>
                    </a:ext>
                  </a:extLst>
                </a:gridCol>
              </a:tblGrid>
              <a:tr h="0">
                <a:tc>
                  <a:txBody>
                    <a:bodyPr/>
                    <a:lstStyle/>
                    <a:p>
                      <a:pPr fontAlgn="t">
                        <a:lnSpc>
                          <a:spcPct val="150000"/>
                        </a:lnSpc>
                        <a:buNone/>
                      </a:pPr>
                      <a:r>
                        <a:rPr lang="en-US" sz="2000" b="0" i="0" dirty="0">
                          <a:effectLst/>
                          <a:latin typeface="Segoe UI" panose="020B0502040204020203" pitchFamily="34" charset="0"/>
                        </a:rPr>
                        <a:t>Example inside the Literature Review:</a:t>
                      </a:r>
                    </a:p>
                    <a:p>
                      <a:pPr fontAlgn="t">
                        <a:lnSpc>
                          <a:spcPct val="150000"/>
                        </a:lnSpc>
                        <a:buNone/>
                      </a:pPr>
                      <a:r>
                        <a:rPr lang="en-US" sz="2000" b="0" i="0" dirty="0">
                          <a:effectLst/>
                          <a:latin typeface="Segoe UI" panose="020B0502040204020203" pitchFamily="34" charset="0"/>
                        </a:rPr>
                        <a:t>Artificial Intelligence can support personalized learning experiences (Holmes et al., 2022).</a:t>
                      </a:r>
                    </a:p>
                  </a:txBody>
                  <a:tcP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567409800"/>
                  </a:ext>
                </a:extLst>
              </a:tr>
              <a:tr h="0">
                <a:tc>
                  <a:txBody>
                    <a:bodyPr/>
                    <a:lstStyle/>
                    <a:p>
                      <a:pPr>
                        <a:lnSpc>
                          <a:spcPct val="150000"/>
                        </a:lnSpc>
                      </a:pPr>
                      <a:r>
                        <a:rPr lang="en-US" sz="2000" dirty="0"/>
                        <a:t>Or The citation appears inside the paragraph, not as a chapter or heading.</a:t>
                      </a:r>
                    </a:p>
                    <a:p>
                      <a:pPr>
                        <a:lnSpc>
                          <a:spcPct val="150000"/>
                        </a:lnSpc>
                      </a:pPr>
                      <a:r>
                        <a:rPr lang="en-US" sz="2000" dirty="0"/>
                        <a:t> Holmes et al. (2022) explain that AI can support personalized learning experiences.</a:t>
                      </a:r>
                    </a:p>
                    <a:p>
                      <a:pPr>
                        <a:lnSpc>
                          <a:spcPct val="150000"/>
                        </a:lnSpc>
                      </a:pPr>
                      <a:endParaRPr lang="en-US" sz="2000" dirty="0"/>
                    </a:p>
                  </a:txBody>
                  <a:tcPr>
                    <a:lnT w="381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114739201"/>
                  </a:ext>
                </a:extLst>
              </a:tr>
            </a:tbl>
          </a:graphicData>
        </a:graphic>
      </p:graphicFrame>
    </p:spTree>
    <p:extLst>
      <p:ext uri="{BB962C8B-B14F-4D97-AF65-F5344CB8AC3E}">
        <p14:creationId xmlns:p14="http://schemas.microsoft.com/office/powerpoint/2010/main" val="1474854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8BF2A-F2A9-F1A6-4401-D4833F549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A9975-841E-6CC9-629E-37F04C5A016D}"/>
              </a:ext>
            </a:extLst>
          </p:cNvPr>
          <p:cNvSpPr>
            <a:spLocks noGrp="1"/>
          </p:cNvSpPr>
          <p:nvPr>
            <p:ph type="title"/>
          </p:nvPr>
        </p:nvSpPr>
        <p:spPr/>
        <p:txBody>
          <a:bodyPr/>
          <a:lstStyle/>
          <a:p>
            <a:r>
              <a:rPr lang="en-US" dirty="0"/>
              <a:t>Citation</a:t>
            </a:r>
          </a:p>
        </p:txBody>
      </p:sp>
      <p:sp>
        <p:nvSpPr>
          <p:cNvPr id="3" name="Content Placeholder 2">
            <a:extLst>
              <a:ext uri="{FF2B5EF4-FFF2-40B4-BE49-F238E27FC236}">
                <a16:creationId xmlns:a16="http://schemas.microsoft.com/office/drawing/2014/main" id="{58BD0BF1-0DE3-FF81-A8B2-A1D325DC3773}"/>
              </a:ext>
            </a:extLst>
          </p:cNvPr>
          <p:cNvSpPr>
            <a:spLocks noGrp="1"/>
          </p:cNvSpPr>
          <p:nvPr>
            <p:ph idx="1"/>
          </p:nvPr>
        </p:nvSpPr>
        <p:spPr/>
        <p:txBody>
          <a:bodyPr/>
          <a:lstStyle/>
          <a:p>
            <a:pPr marL="0" indent="0">
              <a:buNone/>
            </a:pPr>
            <a:r>
              <a:rPr lang="en-US" b="1" dirty="0"/>
              <a:t>Option 1: Direct Quotation (Copying the Exact Sentence)</a:t>
            </a:r>
          </a:p>
          <a:p>
            <a:pPr marL="0" indent="0">
              <a:buNone/>
            </a:pPr>
            <a:r>
              <a:rPr lang="en-US" dirty="0"/>
              <a:t>You can copy the exact sentence from a journal only if you put it in quotation marks and cite it.</a:t>
            </a:r>
          </a:p>
          <a:p>
            <a:pPr marL="0" indent="0">
              <a:buNone/>
            </a:pPr>
            <a:r>
              <a:rPr lang="en-US" b="1" dirty="0"/>
              <a:t>Example</a:t>
            </a:r>
            <a:r>
              <a:rPr lang="en-US" dirty="0"/>
              <a:t> </a:t>
            </a:r>
          </a:p>
          <a:p>
            <a:pPr marL="0" indent="0">
              <a:buNone/>
            </a:pPr>
            <a:r>
              <a:rPr lang="en-US" dirty="0"/>
              <a:t>"Artificial Intelligence has an impact on education" (Alam, 2021, p. 5).</a:t>
            </a:r>
          </a:p>
          <a:p>
            <a:pPr marL="0" indent="0">
              <a:buNone/>
            </a:pPr>
            <a:r>
              <a:rPr lang="en-US" b="1" dirty="0"/>
              <a:t>However, in most academic reports, especially undergraduate reports, too many direct quotations are discouraged.</a:t>
            </a:r>
          </a:p>
        </p:txBody>
      </p:sp>
    </p:spTree>
    <p:extLst>
      <p:ext uri="{BB962C8B-B14F-4D97-AF65-F5344CB8AC3E}">
        <p14:creationId xmlns:p14="http://schemas.microsoft.com/office/powerpoint/2010/main" val="2626987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0FC75-35A9-DB9F-CFA3-22A9988E0A7A}"/>
              </a:ext>
            </a:extLst>
          </p:cNvPr>
          <p:cNvSpPr>
            <a:spLocks noGrp="1"/>
          </p:cNvSpPr>
          <p:nvPr>
            <p:ph type="title"/>
          </p:nvPr>
        </p:nvSpPr>
        <p:spPr/>
        <p:txBody>
          <a:bodyPr/>
          <a:lstStyle/>
          <a:p>
            <a:r>
              <a:rPr lang="en-US" dirty="0"/>
              <a:t>Citation not needed</a:t>
            </a:r>
          </a:p>
        </p:txBody>
      </p:sp>
      <p:sp>
        <p:nvSpPr>
          <p:cNvPr id="3" name="Content Placeholder 2">
            <a:extLst>
              <a:ext uri="{FF2B5EF4-FFF2-40B4-BE49-F238E27FC236}">
                <a16:creationId xmlns:a16="http://schemas.microsoft.com/office/drawing/2014/main" id="{1AFDC8D7-228C-C08D-3E91-7D743F3CA7CB}"/>
              </a:ext>
            </a:extLst>
          </p:cNvPr>
          <p:cNvSpPr>
            <a:spLocks noGrp="1"/>
          </p:cNvSpPr>
          <p:nvPr>
            <p:ph idx="1"/>
          </p:nvPr>
        </p:nvSpPr>
        <p:spPr/>
        <p:txBody>
          <a:bodyPr/>
          <a:lstStyle/>
          <a:p>
            <a:r>
              <a:rPr lang="en-US" b="1" dirty="0"/>
              <a:t>Methodology</a:t>
            </a:r>
          </a:p>
          <a:p>
            <a:pPr lvl="1"/>
            <a:r>
              <a:rPr lang="en-US" dirty="0"/>
              <a:t>This study used a Google Forms questionnaire to collect data from 30 students.</a:t>
            </a:r>
          </a:p>
          <a:p>
            <a:r>
              <a:rPr lang="en-US" b="1" dirty="0"/>
              <a:t>Results and Discussion</a:t>
            </a:r>
          </a:p>
          <a:p>
            <a:pPr lvl="1"/>
            <a:r>
              <a:rPr lang="en-US" dirty="0"/>
              <a:t>80% of respondents indicated that AI improves learning.</a:t>
            </a:r>
          </a:p>
        </p:txBody>
      </p:sp>
      <p:graphicFrame>
        <p:nvGraphicFramePr>
          <p:cNvPr id="5" name="Table 4">
            <a:extLst>
              <a:ext uri="{FF2B5EF4-FFF2-40B4-BE49-F238E27FC236}">
                <a16:creationId xmlns:a16="http://schemas.microsoft.com/office/drawing/2014/main" id="{B17A0815-5A1B-2765-4CF2-6F878B4DF535}"/>
              </a:ext>
            </a:extLst>
          </p:cNvPr>
          <p:cNvGraphicFramePr>
            <a:graphicFrameLocks noGrp="1"/>
          </p:cNvGraphicFramePr>
          <p:nvPr>
            <p:extLst>
              <p:ext uri="{D42A27DB-BD31-4B8C-83A1-F6EECF244321}">
                <p14:modId xmlns:p14="http://schemas.microsoft.com/office/powerpoint/2010/main" val="4235561770"/>
              </p:ext>
            </p:extLst>
          </p:nvPr>
        </p:nvGraphicFramePr>
        <p:xfrm>
          <a:off x="791901" y="4352875"/>
          <a:ext cx="10515600" cy="2316480"/>
        </p:xfrm>
        <a:graphic>
          <a:graphicData uri="http://schemas.openxmlformats.org/drawingml/2006/table">
            <a:tbl>
              <a:tblPr/>
              <a:tblGrid>
                <a:gridCol w="10515600">
                  <a:extLst>
                    <a:ext uri="{9D8B030D-6E8A-4147-A177-3AD203B41FA5}">
                      <a16:colId xmlns:a16="http://schemas.microsoft.com/office/drawing/2014/main" val="1800018833"/>
                    </a:ext>
                  </a:extLst>
                </a:gridCol>
              </a:tblGrid>
              <a:tr h="0">
                <a:tc>
                  <a:txBody>
                    <a:bodyPr/>
                    <a:lstStyle/>
                    <a:p>
                      <a:pPr fontAlgn="t">
                        <a:lnSpc>
                          <a:spcPct val="100000"/>
                        </a:lnSpc>
                        <a:buNone/>
                      </a:pPr>
                      <a:r>
                        <a:rPr lang="en-US" sz="2000" b="1" i="0" dirty="0">
                          <a:effectLst/>
                          <a:latin typeface="Segoe UI" panose="020B0502040204020203" pitchFamily="34" charset="0"/>
                        </a:rPr>
                        <a:t>Do Not Cite When</a:t>
                      </a:r>
                    </a:p>
                    <a:p>
                      <a:pPr fontAlgn="t">
                        <a:lnSpc>
                          <a:spcPct val="100000"/>
                        </a:lnSpc>
                        <a:buNone/>
                      </a:pPr>
                      <a:r>
                        <a:rPr lang="en-US" sz="2000" b="0" i="0" dirty="0">
                          <a:effectLst/>
                          <a:latin typeface="Segoe UI" panose="020B0502040204020203" pitchFamily="34" charset="0"/>
                        </a:rPr>
                        <a:t>Your own survey results</a:t>
                      </a:r>
                    </a:p>
                    <a:p>
                      <a:pPr fontAlgn="t">
                        <a:lnSpc>
                          <a:spcPct val="100000"/>
                        </a:lnSpc>
                        <a:buNone/>
                      </a:pPr>
                      <a:r>
                        <a:rPr lang="en-US" sz="2000" b="0" i="0" dirty="0">
                          <a:effectLst/>
                          <a:latin typeface="Segoe UI" panose="020B0502040204020203" pitchFamily="34" charset="0"/>
                        </a:rPr>
                        <a:t>Your own observations</a:t>
                      </a:r>
                    </a:p>
                    <a:p>
                      <a:pPr fontAlgn="t">
                        <a:lnSpc>
                          <a:spcPct val="100000"/>
                        </a:lnSpc>
                        <a:buNone/>
                      </a:pPr>
                      <a:r>
                        <a:rPr lang="en-US" sz="2000" b="0" i="0" dirty="0">
                          <a:effectLst/>
                          <a:latin typeface="Segoe UI" panose="020B0502040204020203" pitchFamily="34" charset="0"/>
                        </a:rPr>
                        <a:t>Your own analysis</a:t>
                      </a:r>
                    </a:p>
                    <a:p>
                      <a:pPr fontAlgn="t">
                        <a:lnSpc>
                          <a:spcPct val="100000"/>
                        </a:lnSpc>
                        <a:buNone/>
                      </a:pPr>
                      <a:r>
                        <a:rPr lang="en-US" sz="2000" b="0" i="0" dirty="0">
                          <a:effectLst/>
                          <a:latin typeface="Segoe UI" panose="020B0502040204020203" pitchFamily="34" charset="0"/>
                        </a:rPr>
                        <a:t>Your own recommendations</a:t>
                      </a:r>
                    </a:p>
                    <a:p>
                      <a:pPr fontAlgn="t">
                        <a:lnSpc>
                          <a:spcPct val="100000"/>
                        </a:lnSpc>
                        <a:buNone/>
                      </a:pPr>
                      <a:r>
                        <a:rPr lang="en-US" sz="2000" b="0" i="0" dirty="0">
                          <a:effectLst/>
                          <a:latin typeface="Segoe UI" panose="020B0502040204020203" pitchFamily="34" charset="0"/>
                        </a:rPr>
                        <a:t>Your own conclusion from collected data</a:t>
                      </a:r>
                    </a:p>
                  </a:txBody>
                  <a:tcP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764975793"/>
                  </a:ext>
                </a:extLst>
              </a:tr>
              <a:tr h="0">
                <a:tc>
                  <a:txBody>
                    <a:bodyPr/>
                    <a:lstStyle/>
                    <a:p>
                      <a:pPr>
                        <a:lnSpc>
                          <a:spcPct val="100000"/>
                        </a:lnSpc>
                      </a:pPr>
                      <a:endParaRPr lang="en-US" sz="2000" dirty="0"/>
                    </a:p>
                  </a:txBody>
                  <a:tcPr>
                    <a:lnT w="381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488976225"/>
                  </a:ext>
                </a:extLst>
              </a:tr>
            </a:tbl>
          </a:graphicData>
        </a:graphic>
      </p:graphicFrame>
    </p:spTree>
    <p:extLst>
      <p:ext uri="{BB962C8B-B14F-4D97-AF65-F5344CB8AC3E}">
        <p14:creationId xmlns:p14="http://schemas.microsoft.com/office/powerpoint/2010/main" val="2091923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31D2-3707-AF5E-8BB9-C48FBD9E5FCD}"/>
              </a:ext>
            </a:extLst>
          </p:cNvPr>
          <p:cNvSpPr>
            <a:spLocks noGrp="1"/>
          </p:cNvSpPr>
          <p:nvPr>
            <p:ph type="title"/>
          </p:nvPr>
        </p:nvSpPr>
        <p:spPr/>
        <p:txBody>
          <a:bodyPr/>
          <a:lstStyle/>
          <a:p>
            <a:r>
              <a:rPr lang="en-US" dirty="0"/>
              <a:t>Citation needed</a:t>
            </a:r>
          </a:p>
        </p:txBody>
      </p:sp>
      <p:sp>
        <p:nvSpPr>
          <p:cNvPr id="3" name="Content Placeholder 2">
            <a:extLst>
              <a:ext uri="{FF2B5EF4-FFF2-40B4-BE49-F238E27FC236}">
                <a16:creationId xmlns:a16="http://schemas.microsoft.com/office/drawing/2014/main" id="{687D9F2E-4E0C-16EC-B931-B6DB3C11A04F}"/>
              </a:ext>
            </a:extLst>
          </p:cNvPr>
          <p:cNvSpPr>
            <a:spLocks noGrp="1"/>
          </p:cNvSpPr>
          <p:nvPr>
            <p:ph idx="1"/>
          </p:nvPr>
        </p:nvSpPr>
        <p:spPr/>
        <p:txBody>
          <a:bodyPr/>
          <a:lstStyle/>
          <a:p>
            <a:r>
              <a:rPr lang="en-US" b="1" dirty="0"/>
              <a:t>Cite When</a:t>
            </a:r>
          </a:p>
          <a:p>
            <a:pPr lvl="1"/>
            <a:r>
              <a:rPr lang="en-US" dirty="0"/>
              <a:t>Definition from a source</a:t>
            </a:r>
          </a:p>
          <a:p>
            <a:pPr lvl="1"/>
            <a:r>
              <a:rPr lang="en-US" dirty="0"/>
              <a:t>Idea from a source</a:t>
            </a:r>
          </a:p>
          <a:p>
            <a:pPr lvl="1"/>
            <a:r>
              <a:rPr lang="en-US" dirty="0"/>
              <a:t>Fact from a source</a:t>
            </a:r>
          </a:p>
          <a:p>
            <a:pPr lvl="1"/>
            <a:r>
              <a:rPr lang="en-US" dirty="0"/>
              <a:t>Research finding from a source</a:t>
            </a:r>
          </a:p>
          <a:p>
            <a:pPr lvl="1"/>
            <a:r>
              <a:rPr lang="en-US" dirty="0"/>
              <a:t>Theory from a source</a:t>
            </a:r>
          </a:p>
          <a:p>
            <a:pPr lvl="1"/>
            <a:r>
              <a:rPr lang="en-US" dirty="0"/>
              <a:t>Statistic from a source</a:t>
            </a:r>
          </a:p>
          <a:p>
            <a:pPr lvl="1"/>
            <a:r>
              <a:rPr lang="en-US" dirty="0"/>
              <a:t>Someone else's argument</a:t>
            </a:r>
          </a:p>
        </p:txBody>
      </p:sp>
    </p:spTree>
    <p:extLst>
      <p:ext uri="{BB962C8B-B14F-4D97-AF65-F5344CB8AC3E}">
        <p14:creationId xmlns:p14="http://schemas.microsoft.com/office/powerpoint/2010/main" val="1822588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9886B-BA86-E5E3-8494-BAB6DBCB0F34}"/>
              </a:ext>
            </a:extLst>
          </p:cNvPr>
          <p:cNvSpPr>
            <a:spLocks noGrp="1"/>
          </p:cNvSpPr>
          <p:nvPr>
            <p:ph type="title"/>
          </p:nvPr>
        </p:nvSpPr>
        <p:spPr/>
        <p:txBody>
          <a:bodyPr/>
          <a:lstStyle/>
          <a:p>
            <a:r>
              <a:rPr lang="en-US" dirty="0"/>
              <a:t>Citation Styles </a:t>
            </a:r>
          </a:p>
        </p:txBody>
      </p:sp>
      <p:graphicFrame>
        <p:nvGraphicFramePr>
          <p:cNvPr id="4" name="Content Placeholder 3">
            <a:extLst>
              <a:ext uri="{FF2B5EF4-FFF2-40B4-BE49-F238E27FC236}">
                <a16:creationId xmlns:a16="http://schemas.microsoft.com/office/drawing/2014/main" id="{C103EA36-8D6B-5BF6-7C16-F4337B10620C}"/>
              </a:ext>
            </a:extLst>
          </p:cNvPr>
          <p:cNvGraphicFramePr>
            <a:graphicFrameLocks noGrp="1"/>
          </p:cNvGraphicFramePr>
          <p:nvPr>
            <p:ph idx="1"/>
            <p:extLst>
              <p:ext uri="{D42A27DB-BD31-4B8C-83A1-F6EECF244321}">
                <p14:modId xmlns:p14="http://schemas.microsoft.com/office/powerpoint/2010/main" val="3677083383"/>
              </p:ext>
            </p:extLst>
          </p:nvPr>
        </p:nvGraphicFramePr>
        <p:xfrm>
          <a:off x="838200" y="1565981"/>
          <a:ext cx="10515600" cy="2560320"/>
        </p:xfrm>
        <a:graphic>
          <a:graphicData uri="http://schemas.openxmlformats.org/drawingml/2006/table">
            <a:tbl>
              <a:tblPr/>
              <a:tblGrid>
                <a:gridCol w="5257800">
                  <a:extLst>
                    <a:ext uri="{9D8B030D-6E8A-4147-A177-3AD203B41FA5}">
                      <a16:colId xmlns:a16="http://schemas.microsoft.com/office/drawing/2014/main" val="3439095942"/>
                    </a:ext>
                  </a:extLst>
                </a:gridCol>
                <a:gridCol w="5257800">
                  <a:extLst>
                    <a:ext uri="{9D8B030D-6E8A-4147-A177-3AD203B41FA5}">
                      <a16:colId xmlns:a16="http://schemas.microsoft.com/office/drawing/2014/main" val="1933398426"/>
                    </a:ext>
                  </a:extLst>
                </a:gridCol>
              </a:tblGrid>
              <a:tr h="0">
                <a:tc>
                  <a:txBody>
                    <a:bodyPr/>
                    <a:lstStyle/>
                    <a:p>
                      <a:pPr>
                        <a:buNone/>
                      </a:pPr>
                      <a:r>
                        <a:rPr lang="en-US" b="1" dirty="0">
                          <a:effectLst/>
                        </a:rPr>
                        <a:t>Style</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b="1" dirty="0">
                          <a:effectLst/>
                        </a:rPr>
                        <a:t>Commonly Used In</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238973479"/>
                  </a:ext>
                </a:extLst>
              </a:tr>
              <a:tr h="0">
                <a:tc>
                  <a:txBody>
                    <a:bodyPr/>
                    <a:lstStyle/>
                    <a:p>
                      <a:pPr>
                        <a:buNone/>
                      </a:pPr>
                      <a:r>
                        <a:rPr lang="en-US">
                          <a:effectLst/>
                        </a:rPr>
                        <a:t>Harvard</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Business, Computing, Engineering, Social Sciences</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238609540"/>
                  </a:ext>
                </a:extLst>
              </a:tr>
              <a:tr h="0">
                <a:tc>
                  <a:txBody>
                    <a:bodyPr/>
                    <a:lstStyle/>
                    <a:p>
                      <a:pPr>
                        <a:buNone/>
                      </a:pPr>
                      <a:r>
                        <a:rPr lang="en-US">
                          <a:effectLst/>
                        </a:rPr>
                        <a:t>APA</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Psychology, Education</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577577611"/>
                  </a:ext>
                </a:extLst>
              </a:tr>
              <a:tr h="0">
                <a:tc>
                  <a:txBody>
                    <a:bodyPr/>
                    <a:lstStyle/>
                    <a:p>
                      <a:pPr>
                        <a:buNone/>
                      </a:pPr>
                      <a:r>
                        <a:rPr lang="en-US">
                          <a:effectLst/>
                        </a:rPr>
                        <a:t>IEEE</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Engineering, Computer Science</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578136489"/>
                  </a:ext>
                </a:extLst>
              </a:tr>
              <a:tr h="0">
                <a:tc>
                  <a:txBody>
                    <a:bodyPr/>
                    <a:lstStyle/>
                    <a:p>
                      <a:pPr>
                        <a:buNone/>
                      </a:pPr>
                      <a:r>
                        <a:rPr lang="en-US">
                          <a:effectLst/>
                        </a:rPr>
                        <a:t>MLA</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Literature, Humanities</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270754895"/>
                  </a:ext>
                </a:extLst>
              </a:tr>
              <a:tr h="0">
                <a:tc>
                  <a:txBody>
                    <a:bodyPr/>
                    <a:lstStyle/>
                    <a:p>
                      <a:pPr>
                        <a:buNone/>
                      </a:pPr>
                      <a:r>
                        <a:rPr lang="en-US">
                          <a:effectLst/>
                        </a:rPr>
                        <a:t>Chicago</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History</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036784694"/>
                  </a:ext>
                </a:extLst>
              </a:tr>
              <a:tr h="0">
                <a:tc>
                  <a:txBody>
                    <a:bodyPr/>
                    <a:lstStyle/>
                    <a:p>
                      <a:pPr>
                        <a:buNone/>
                      </a:pPr>
                      <a:r>
                        <a:rPr lang="en-US">
                          <a:effectLst/>
                        </a:rPr>
                        <a:t>Vancouver</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fontAlgn="t">
                        <a:lnSpc>
                          <a:spcPts val="1500"/>
                        </a:lnSpc>
                        <a:buNone/>
                      </a:pPr>
                      <a:r>
                        <a:rPr lang="en-US" dirty="0">
                          <a:effectLst/>
                        </a:rPr>
                        <a:t>Medicine</a:t>
                      </a:r>
                      <a:endParaRPr lang="en-US" sz="1050" b="0" i="0" dirty="0">
                        <a:effectLst/>
                        <a:latin typeface="Segoe UI" panose="020B0502040204020203" pitchFamily="34" charset="0"/>
                      </a:endParaRP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141923258"/>
                  </a:ext>
                </a:extLst>
              </a:tr>
            </a:tbl>
          </a:graphicData>
        </a:graphic>
      </p:graphicFrame>
      <p:graphicFrame>
        <p:nvGraphicFramePr>
          <p:cNvPr id="5" name="Table 4">
            <a:extLst>
              <a:ext uri="{FF2B5EF4-FFF2-40B4-BE49-F238E27FC236}">
                <a16:creationId xmlns:a16="http://schemas.microsoft.com/office/drawing/2014/main" id="{93DC88FC-815C-2680-89F1-ABDD765D2B68}"/>
              </a:ext>
            </a:extLst>
          </p:cNvPr>
          <p:cNvGraphicFramePr>
            <a:graphicFrameLocks noGrp="1"/>
          </p:cNvGraphicFramePr>
          <p:nvPr>
            <p:extLst>
              <p:ext uri="{D42A27DB-BD31-4B8C-83A1-F6EECF244321}">
                <p14:modId xmlns:p14="http://schemas.microsoft.com/office/powerpoint/2010/main" val="1656279785"/>
              </p:ext>
            </p:extLst>
          </p:nvPr>
        </p:nvGraphicFramePr>
        <p:xfrm>
          <a:off x="838200" y="4331414"/>
          <a:ext cx="10515600" cy="1590675"/>
        </p:xfrm>
        <a:graphic>
          <a:graphicData uri="http://schemas.openxmlformats.org/drawingml/2006/table">
            <a:tbl>
              <a:tblPr/>
              <a:tblGrid>
                <a:gridCol w="10515600">
                  <a:extLst>
                    <a:ext uri="{9D8B030D-6E8A-4147-A177-3AD203B41FA5}">
                      <a16:colId xmlns:a16="http://schemas.microsoft.com/office/drawing/2014/main" val="3815992364"/>
                    </a:ext>
                  </a:extLst>
                </a:gridCol>
              </a:tblGrid>
              <a:tr h="0">
                <a:tc>
                  <a:txBody>
                    <a:bodyPr/>
                    <a:lstStyle/>
                    <a:p>
                      <a:pPr fontAlgn="t">
                        <a:lnSpc>
                          <a:spcPts val="1500"/>
                        </a:lnSpc>
                        <a:buNone/>
                      </a:pPr>
                      <a:r>
                        <a:rPr lang="en-US" sz="2000" b="1" i="0" dirty="0">
                          <a:effectLst/>
                          <a:latin typeface="Segoe UI" panose="020B0502040204020203" pitchFamily="34" charset="0"/>
                        </a:rPr>
                        <a:t>Note</a:t>
                      </a:r>
                    </a:p>
                  </a:txBody>
                  <a:tcP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487068491"/>
                  </a:ext>
                </a:extLst>
              </a:tr>
              <a:tr h="0">
                <a:tc>
                  <a:txBody>
                    <a:bodyPr/>
                    <a:lstStyle/>
                    <a:p>
                      <a:pPr>
                        <a:lnSpc>
                          <a:spcPct val="150000"/>
                        </a:lnSpc>
                      </a:pPr>
                      <a:r>
                        <a:rPr lang="en-US" sz="2000" dirty="0"/>
                        <a:t>Use one citation style consistently throughout the entire report.</a:t>
                      </a:r>
                    </a:p>
                    <a:p>
                      <a:pPr>
                        <a:lnSpc>
                          <a:spcPct val="150000"/>
                        </a:lnSpc>
                      </a:pPr>
                      <a:r>
                        <a:rPr lang="en-US" sz="2000" dirty="0"/>
                        <a:t>Do not mix styles.</a:t>
                      </a:r>
                    </a:p>
                    <a:p>
                      <a:endParaRPr lang="en-US" dirty="0"/>
                    </a:p>
                  </a:txBody>
                  <a:tcPr>
                    <a:lnT w="381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2346437074"/>
                  </a:ext>
                </a:extLst>
              </a:tr>
            </a:tbl>
          </a:graphicData>
        </a:graphic>
      </p:graphicFrame>
    </p:spTree>
    <p:extLst>
      <p:ext uri="{BB962C8B-B14F-4D97-AF65-F5344CB8AC3E}">
        <p14:creationId xmlns:p14="http://schemas.microsoft.com/office/powerpoint/2010/main" val="3190470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02603-0CC8-3645-3BD8-395D872D4A26}"/>
              </a:ext>
            </a:extLst>
          </p:cNvPr>
          <p:cNvSpPr>
            <a:spLocks noGrp="1"/>
          </p:cNvSpPr>
          <p:nvPr>
            <p:ph type="title"/>
          </p:nvPr>
        </p:nvSpPr>
        <p:spPr/>
        <p:txBody>
          <a:bodyPr/>
          <a:lstStyle/>
          <a:p>
            <a:r>
              <a:rPr lang="en-US" dirty="0"/>
              <a:t>Harvard Style</a:t>
            </a:r>
          </a:p>
        </p:txBody>
      </p:sp>
      <p:sp>
        <p:nvSpPr>
          <p:cNvPr id="3" name="Content Placeholder 2">
            <a:extLst>
              <a:ext uri="{FF2B5EF4-FFF2-40B4-BE49-F238E27FC236}">
                <a16:creationId xmlns:a16="http://schemas.microsoft.com/office/drawing/2014/main" id="{9E58F27A-89E3-9727-44CE-270BD12859E4}"/>
              </a:ext>
            </a:extLst>
          </p:cNvPr>
          <p:cNvSpPr>
            <a:spLocks noGrp="1"/>
          </p:cNvSpPr>
          <p:nvPr>
            <p:ph idx="1"/>
          </p:nvPr>
        </p:nvSpPr>
        <p:spPr/>
        <p:txBody>
          <a:bodyPr>
            <a:normAutofit/>
          </a:bodyPr>
          <a:lstStyle/>
          <a:p>
            <a:r>
              <a:rPr lang="en-US" dirty="0"/>
              <a:t>AI supports personalized learning (Holmes et al., 2022).</a:t>
            </a:r>
          </a:p>
          <a:p>
            <a:r>
              <a:rPr lang="en-US" b="1" dirty="0"/>
              <a:t>References:</a:t>
            </a:r>
          </a:p>
          <a:p>
            <a:pPr lvl="1"/>
            <a:r>
              <a:rPr lang="en-US" dirty="0"/>
              <a:t>Holmes, W., Bialik, M. and Fadel, C. (2022) Artificial Intelligence in Education.</a:t>
            </a:r>
          </a:p>
          <a:p>
            <a:r>
              <a:rPr lang="en-US" b="1" dirty="0"/>
              <a:t>For this module, use Harvard Referencing throughout the report.</a:t>
            </a:r>
          </a:p>
          <a:p>
            <a:r>
              <a:rPr lang="en-US" b="1" dirty="0"/>
              <a:t>PCPS Report Writing Module</a:t>
            </a:r>
          </a:p>
          <a:p>
            <a:pPr lvl="1"/>
            <a:r>
              <a:rPr lang="en-US" dirty="0"/>
              <a:t>→ Use Harvard Citation</a:t>
            </a:r>
          </a:p>
          <a:p>
            <a:pPr lvl="1"/>
            <a:r>
              <a:rPr lang="en-US" dirty="0"/>
              <a:t>→ Use Harvard References</a:t>
            </a:r>
          </a:p>
          <a:p>
            <a:pPr lvl="1"/>
            <a:r>
              <a:rPr lang="en-US" dirty="0"/>
              <a:t>→ Use it consistently from Introduction to References</a:t>
            </a:r>
          </a:p>
          <a:p>
            <a:pPr lvl="1"/>
            <a:endParaRPr lang="en-US" dirty="0"/>
          </a:p>
          <a:p>
            <a:pPr lvl="1"/>
            <a:endParaRPr lang="en-US" dirty="0"/>
          </a:p>
        </p:txBody>
      </p:sp>
    </p:spTree>
    <p:extLst>
      <p:ext uri="{BB962C8B-B14F-4D97-AF65-F5344CB8AC3E}">
        <p14:creationId xmlns:p14="http://schemas.microsoft.com/office/powerpoint/2010/main" val="2437589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536AC-2706-9B3D-880C-0390173CE795}"/>
              </a:ext>
            </a:extLst>
          </p:cNvPr>
          <p:cNvSpPr>
            <a:spLocks noGrp="1"/>
          </p:cNvSpPr>
          <p:nvPr>
            <p:ph type="title"/>
          </p:nvPr>
        </p:nvSpPr>
        <p:spPr/>
        <p:txBody>
          <a:bodyPr/>
          <a:lstStyle/>
          <a:p>
            <a:r>
              <a:rPr lang="en-US" dirty="0"/>
              <a:t>IEEE Style</a:t>
            </a:r>
          </a:p>
        </p:txBody>
      </p:sp>
      <p:sp>
        <p:nvSpPr>
          <p:cNvPr id="3" name="Content Placeholder 2">
            <a:extLst>
              <a:ext uri="{FF2B5EF4-FFF2-40B4-BE49-F238E27FC236}">
                <a16:creationId xmlns:a16="http://schemas.microsoft.com/office/drawing/2014/main" id="{C6E99C02-0752-5AAA-C677-891C4B2268B5}"/>
              </a:ext>
            </a:extLst>
          </p:cNvPr>
          <p:cNvSpPr>
            <a:spLocks noGrp="1"/>
          </p:cNvSpPr>
          <p:nvPr>
            <p:ph idx="1"/>
          </p:nvPr>
        </p:nvSpPr>
        <p:spPr>
          <a:xfrm>
            <a:off x="838200" y="1495746"/>
            <a:ext cx="10515600" cy="4351338"/>
          </a:xfrm>
        </p:spPr>
        <p:txBody>
          <a:bodyPr>
            <a:normAutofit fontScale="70000" lnSpcReduction="20000"/>
          </a:bodyPr>
          <a:lstStyle/>
          <a:p>
            <a:r>
              <a:rPr lang="en-US" dirty="0"/>
              <a:t>AI supports personalized learning [1].</a:t>
            </a:r>
          </a:p>
          <a:p>
            <a:r>
              <a:rPr lang="en-US" b="1" dirty="0"/>
              <a:t>References:</a:t>
            </a:r>
          </a:p>
          <a:p>
            <a:pPr lvl="1"/>
            <a:r>
              <a:rPr lang="en-US" dirty="0"/>
              <a:t>[1] W. Holmes, M. Bialik and C. Fadel,</a:t>
            </a:r>
          </a:p>
          <a:p>
            <a:pPr lvl="1"/>
            <a:r>
              <a:rPr lang="en-US" dirty="0"/>
              <a:t>Artificial Intelligence in Education, 2022. </a:t>
            </a:r>
          </a:p>
          <a:p>
            <a:pPr marL="457200" lvl="1" indent="0">
              <a:buNone/>
            </a:pPr>
            <a:endParaRPr lang="en-US" b="1" dirty="0"/>
          </a:p>
          <a:p>
            <a:pPr marL="457200" lvl="1" indent="0">
              <a:buNone/>
            </a:pPr>
            <a:r>
              <a:rPr lang="en-US" b="1" dirty="0"/>
              <a:t>You must go to the References section to see who source [1] is.</a:t>
            </a:r>
          </a:p>
          <a:p>
            <a:pPr lvl="1"/>
            <a:endParaRPr lang="en-US" dirty="0"/>
          </a:p>
          <a:p>
            <a:r>
              <a:rPr lang="en-US" dirty="0"/>
              <a:t>Eg :-</a:t>
            </a:r>
          </a:p>
          <a:p>
            <a:pPr lvl="1"/>
            <a:r>
              <a:rPr lang="en-US" dirty="0"/>
              <a:t>AI supports personalized learning [1].</a:t>
            </a:r>
          </a:p>
          <a:p>
            <a:pPr lvl="1"/>
            <a:r>
              <a:rPr lang="en-US" dirty="0"/>
              <a:t>AI can improve accessibility for learners [2].</a:t>
            </a:r>
          </a:p>
          <a:p>
            <a:pPr lvl="1"/>
            <a:r>
              <a:rPr lang="en-US" dirty="0"/>
              <a:t>Here [1], and [2] are source reference numbers</a:t>
            </a:r>
          </a:p>
          <a:p>
            <a:r>
              <a:rPr lang="en-US" dirty="0"/>
              <a:t>Eg 2 :- If you use two sources</a:t>
            </a:r>
          </a:p>
          <a:p>
            <a:pPr lvl="1"/>
            <a:r>
              <a:rPr lang="en-US" dirty="0"/>
              <a:t>AI can enhance teaching and learning [1], [2].</a:t>
            </a:r>
          </a:p>
          <a:p>
            <a:r>
              <a:rPr lang="en-US" dirty="0"/>
              <a:t>Eg 3: Or </a:t>
            </a:r>
          </a:p>
          <a:p>
            <a:pPr lvl="1"/>
            <a:r>
              <a:rPr lang="en-US" dirty="0"/>
              <a:t>AI can enhance teaching and learning [1]-[3].</a:t>
            </a:r>
          </a:p>
          <a:p>
            <a:endParaRPr lang="en-US" dirty="0"/>
          </a:p>
          <a:p>
            <a:endParaRPr lang="en-US" dirty="0"/>
          </a:p>
          <a:p>
            <a:endParaRPr lang="en-US" dirty="0"/>
          </a:p>
          <a:p>
            <a:endParaRPr lang="en-US" dirty="0"/>
          </a:p>
          <a:p>
            <a:pPr marL="457200" lvl="1" indent="0">
              <a:buNone/>
            </a:pPr>
            <a:endParaRPr lang="en-US" dirty="0"/>
          </a:p>
        </p:txBody>
      </p:sp>
    </p:spTree>
    <p:extLst>
      <p:ext uri="{BB962C8B-B14F-4D97-AF65-F5344CB8AC3E}">
        <p14:creationId xmlns:p14="http://schemas.microsoft.com/office/powerpoint/2010/main" val="3445323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189211-2D8B-9486-824B-2CEC4EC08BEA}"/>
              </a:ext>
            </a:extLst>
          </p:cNvPr>
          <p:cNvSpPr>
            <a:spLocks noGrp="1"/>
          </p:cNvSpPr>
          <p:nvPr>
            <p:ph type="title"/>
          </p:nvPr>
        </p:nvSpPr>
        <p:spPr>
          <a:xfrm>
            <a:off x="5894962" y="479493"/>
            <a:ext cx="5458838" cy="1325563"/>
          </a:xfrm>
        </p:spPr>
        <p:txBody>
          <a:bodyPr>
            <a:normAutofit/>
          </a:bodyPr>
          <a:lstStyle/>
          <a:p>
            <a:r>
              <a:rPr lang="en-US"/>
              <a:t>Where References Go</a:t>
            </a:r>
            <a:endParaRPr lang="en-US" dirty="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BFEA64BA-D1E4-F258-D8B9-B4BA140A7324}"/>
              </a:ext>
            </a:extLst>
          </p:cNvPr>
          <p:cNvPicPr>
            <a:picLocks noChangeAspect="1"/>
          </p:cNvPicPr>
          <p:nvPr/>
        </p:nvPicPr>
        <p:blipFill>
          <a:blip r:embed="rId2"/>
          <a:stretch>
            <a:fillRect/>
          </a:stretch>
        </p:blipFill>
        <p:spPr>
          <a:xfrm>
            <a:off x="1533813" y="511293"/>
            <a:ext cx="3116119"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E3961826-4612-0C57-2DA9-0D2E8037CA61}"/>
              </a:ext>
            </a:extLst>
          </p:cNvPr>
          <p:cNvSpPr>
            <a:spLocks noGrp="1"/>
          </p:cNvSpPr>
          <p:nvPr>
            <p:ph idx="1"/>
          </p:nvPr>
        </p:nvSpPr>
        <p:spPr>
          <a:xfrm>
            <a:off x="5894962" y="1984443"/>
            <a:ext cx="5458838" cy="4192520"/>
          </a:xfrm>
        </p:spPr>
        <p:txBody>
          <a:bodyPr>
            <a:normAutofit/>
          </a:bodyPr>
          <a:lstStyle/>
          <a:p>
            <a:r>
              <a:rPr lang="en-US"/>
              <a:t>References are a separate section near the end of the report.</a:t>
            </a:r>
          </a:p>
          <a:p>
            <a:endParaRPr lang="en-US" dirty="0"/>
          </a:p>
        </p:txBody>
      </p:sp>
    </p:spTree>
    <p:extLst>
      <p:ext uri="{BB962C8B-B14F-4D97-AF65-F5344CB8AC3E}">
        <p14:creationId xmlns:p14="http://schemas.microsoft.com/office/powerpoint/2010/main" val="1076678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5551BC-65DB-B31F-6477-5ED5FA4920F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Full Process</a:t>
            </a:r>
          </a:p>
        </p:txBody>
      </p:sp>
      <p:pic>
        <p:nvPicPr>
          <p:cNvPr id="5" name="Content Placeholder 4">
            <a:extLst>
              <a:ext uri="{FF2B5EF4-FFF2-40B4-BE49-F238E27FC236}">
                <a16:creationId xmlns:a16="http://schemas.microsoft.com/office/drawing/2014/main" id="{8BBD2D38-DB58-2536-5BC0-3EDD253DE1C9}"/>
              </a:ext>
            </a:extLst>
          </p:cNvPr>
          <p:cNvPicPr>
            <a:picLocks noGrp="1" noChangeAspect="1"/>
          </p:cNvPicPr>
          <p:nvPr>
            <p:ph idx="1"/>
          </p:nvPr>
        </p:nvPicPr>
        <p:blipFill>
          <a:blip r:embed="rId2"/>
          <a:stretch>
            <a:fillRect/>
          </a:stretch>
        </p:blipFill>
        <p:spPr>
          <a:xfrm>
            <a:off x="6329982" y="643466"/>
            <a:ext cx="3675367" cy="5568739"/>
          </a:xfrm>
          <a:prstGeom prst="rect">
            <a:avLst/>
          </a:prstGeom>
        </p:spPr>
      </p:pic>
    </p:spTree>
    <p:extLst>
      <p:ext uri="{BB962C8B-B14F-4D97-AF65-F5344CB8AC3E}">
        <p14:creationId xmlns:p14="http://schemas.microsoft.com/office/powerpoint/2010/main" val="2875538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C92ED-D55E-DBF4-19A6-B768A900FB00}"/>
              </a:ext>
            </a:extLst>
          </p:cNvPr>
          <p:cNvSpPr>
            <a:spLocks noGrp="1"/>
          </p:cNvSpPr>
          <p:nvPr>
            <p:ph type="title"/>
          </p:nvPr>
        </p:nvSpPr>
        <p:spPr/>
        <p:txBody>
          <a:bodyPr/>
          <a:lstStyle/>
          <a:p>
            <a:br>
              <a:rPr lang="en-US" dirty="0"/>
            </a:br>
            <a:endParaRPr lang="en-US" dirty="0"/>
          </a:p>
        </p:txBody>
      </p:sp>
      <p:sp>
        <p:nvSpPr>
          <p:cNvPr id="3" name="Content Placeholder 2">
            <a:extLst>
              <a:ext uri="{FF2B5EF4-FFF2-40B4-BE49-F238E27FC236}">
                <a16:creationId xmlns:a16="http://schemas.microsoft.com/office/drawing/2014/main" id="{D9AEE30C-5A5E-9F40-12A3-6B3D8E0460DC}"/>
              </a:ext>
            </a:extLst>
          </p:cNvPr>
          <p:cNvSpPr>
            <a:spLocks noGrp="1"/>
          </p:cNvSpPr>
          <p:nvPr>
            <p:ph idx="1"/>
          </p:nvPr>
        </p:nvSpPr>
        <p:spPr>
          <a:xfrm>
            <a:off x="838200" y="876501"/>
            <a:ext cx="10515600" cy="4351338"/>
          </a:xfrm>
        </p:spPr>
        <p:txBody>
          <a:bodyPr/>
          <a:lstStyle/>
          <a:p>
            <a:r>
              <a:rPr lang="en-US" dirty="0"/>
              <a:t> Step 1 Highlight a sentence.</a:t>
            </a:r>
          </a:p>
          <a:p>
            <a:pPr lvl="1"/>
            <a:r>
              <a:rPr lang="en-US" dirty="0"/>
              <a:t>Eg The purpose of this study was to assess the impact of AI on education.</a:t>
            </a:r>
          </a:p>
          <a:p>
            <a:r>
              <a:rPr lang="en-US" dirty="0"/>
              <a:t>Step 2 Write the idea in simple words.</a:t>
            </a:r>
          </a:p>
          <a:p>
            <a:pPr lvl="1"/>
            <a:r>
              <a:rPr lang="en-US" dirty="0"/>
              <a:t>AI has effects on education.</a:t>
            </a:r>
          </a:p>
          <a:p>
            <a:r>
              <a:rPr lang="en-US" dirty="0"/>
              <a:t>Step 3 Turn it into academic writing.</a:t>
            </a:r>
          </a:p>
          <a:p>
            <a:pPr lvl="1"/>
            <a:r>
              <a:rPr lang="en-US" dirty="0"/>
              <a:t>Previous research has examined the influence of Artificial Intelligence on educational practices and learning environments (Alam, 2021).</a:t>
            </a:r>
          </a:p>
          <a:p>
            <a:pPr marL="0" indent="0">
              <a:buNone/>
            </a:pPr>
            <a:endParaRPr lang="en-US" dirty="0"/>
          </a:p>
        </p:txBody>
      </p:sp>
      <p:graphicFrame>
        <p:nvGraphicFramePr>
          <p:cNvPr id="7" name="Table 6">
            <a:extLst>
              <a:ext uri="{FF2B5EF4-FFF2-40B4-BE49-F238E27FC236}">
                <a16:creationId xmlns:a16="http://schemas.microsoft.com/office/drawing/2014/main" id="{828295CE-1702-4F84-B197-CAA732725B6B}"/>
              </a:ext>
            </a:extLst>
          </p:cNvPr>
          <p:cNvGraphicFramePr>
            <a:graphicFrameLocks noGrp="1"/>
          </p:cNvGraphicFramePr>
          <p:nvPr>
            <p:extLst>
              <p:ext uri="{D42A27DB-BD31-4B8C-83A1-F6EECF244321}">
                <p14:modId xmlns:p14="http://schemas.microsoft.com/office/powerpoint/2010/main" val="613553129"/>
              </p:ext>
            </p:extLst>
          </p:nvPr>
        </p:nvGraphicFramePr>
        <p:xfrm>
          <a:off x="838200" y="4218116"/>
          <a:ext cx="10515600" cy="1590675"/>
        </p:xfrm>
        <a:graphic>
          <a:graphicData uri="http://schemas.openxmlformats.org/drawingml/2006/table">
            <a:tbl>
              <a:tblPr/>
              <a:tblGrid>
                <a:gridCol w="5257800">
                  <a:extLst>
                    <a:ext uri="{9D8B030D-6E8A-4147-A177-3AD203B41FA5}">
                      <a16:colId xmlns:a16="http://schemas.microsoft.com/office/drawing/2014/main" val="679769658"/>
                    </a:ext>
                  </a:extLst>
                </a:gridCol>
                <a:gridCol w="5257800">
                  <a:extLst>
                    <a:ext uri="{9D8B030D-6E8A-4147-A177-3AD203B41FA5}">
                      <a16:colId xmlns:a16="http://schemas.microsoft.com/office/drawing/2014/main" val="188603070"/>
                    </a:ext>
                  </a:extLst>
                </a:gridCol>
              </a:tblGrid>
              <a:tr h="0">
                <a:tc>
                  <a:txBody>
                    <a:bodyPr/>
                    <a:lstStyle/>
                    <a:p>
                      <a:pPr>
                        <a:buNone/>
                      </a:pPr>
                      <a:r>
                        <a:rPr lang="en-US" b="1" dirty="0">
                          <a:effectLst/>
                        </a:rPr>
                        <a:t>Stage</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b="1" dirty="0">
                          <a:effectLst/>
                        </a:rPr>
                        <a:t>Text</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243001343"/>
                  </a:ext>
                </a:extLst>
              </a:tr>
              <a:tr h="0">
                <a:tc>
                  <a:txBody>
                    <a:bodyPr/>
                    <a:lstStyle/>
                    <a:p>
                      <a:pPr>
                        <a:buNone/>
                      </a:pPr>
                      <a:r>
                        <a:rPr lang="en-US">
                          <a:effectLst/>
                        </a:rPr>
                        <a:t>Original</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dirty="0">
                          <a:effectLst/>
                        </a:rPr>
                        <a:t>assess the impact of AI on education</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366809975"/>
                  </a:ext>
                </a:extLst>
              </a:tr>
              <a:tr h="0">
                <a:tc>
                  <a:txBody>
                    <a:bodyPr/>
                    <a:lstStyle/>
                    <a:p>
                      <a:pPr>
                        <a:buNone/>
                      </a:pPr>
                      <a:r>
                        <a:rPr lang="en-US">
                          <a:effectLst/>
                        </a:rPr>
                        <a:t>Note</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a:buNone/>
                      </a:pPr>
                      <a:r>
                        <a:rPr lang="en-US">
                          <a:effectLst/>
                        </a:rPr>
                        <a:t>AI affects education</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284393371"/>
                  </a:ext>
                </a:extLst>
              </a:tr>
              <a:tr h="0">
                <a:tc>
                  <a:txBody>
                    <a:bodyPr/>
                    <a:lstStyle/>
                    <a:p>
                      <a:pPr>
                        <a:buNone/>
                      </a:pPr>
                      <a:r>
                        <a:rPr lang="en-US">
                          <a:effectLst/>
                        </a:rPr>
                        <a:t>Academic Writing</a:t>
                      </a: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tc>
                  <a:txBody>
                    <a:bodyPr/>
                    <a:lstStyle/>
                    <a:p>
                      <a:pPr fontAlgn="t">
                        <a:lnSpc>
                          <a:spcPts val="1500"/>
                        </a:lnSpc>
                        <a:buNone/>
                      </a:pPr>
                      <a:r>
                        <a:rPr lang="en-US" dirty="0">
                          <a:effectLst/>
                        </a:rPr>
                        <a:t>Previous research has examined the influence of AI on educational practices (Alam, 2021)</a:t>
                      </a:r>
                      <a:endParaRPr lang="en-US" sz="1050" b="0" i="0" dirty="0">
                        <a:effectLst/>
                        <a:latin typeface="Segoe UI" panose="020B0502040204020203" pitchFamily="34" charset="0"/>
                      </a:endParaRPr>
                    </a:p>
                  </a:txBody>
                  <a:tcPr anchor="ctr">
                    <a:lnL w="3810" cap="flat" cmpd="sng" algn="ctr">
                      <a:solidFill>
                        <a:srgbClr val="E6E6E6"/>
                      </a:solidFill>
                      <a:prstDash val="solid"/>
                      <a:round/>
                      <a:headEnd type="none" w="med" len="med"/>
                      <a:tailEnd type="none" w="med" len="med"/>
                    </a:lnL>
                    <a:lnR w="3810" cap="flat" cmpd="sng" algn="ctr">
                      <a:solidFill>
                        <a:srgbClr val="E6E6E6"/>
                      </a:solidFill>
                      <a:prstDash val="solid"/>
                      <a:round/>
                      <a:headEnd type="none" w="med" len="med"/>
                      <a:tailEnd type="none" w="med" len="med"/>
                    </a:lnR>
                    <a:lnT w="3810" cap="flat" cmpd="sng" algn="ctr">
                      <a:solidFill>
                        <a:srgbClr val="E6E6E6"/>
                      </a:solidFill>
                      <a:prstDash val="solid"/>
                      <a:round/>
                      <a:headEnd type="none" w="med" len="med"/>
                      <a:tailEnd type="none" w="med" len="med"/>
                    </a:lnT>
                    <a:lnB w="381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283633746"/>
                  </a:ext>
                </a:extLst>
              </a:tr>
            </a:tbl>
          </a:graphicData>
        </a:graphic>
      </p:graphicFrame>
    </p:spTree>
    <p:extLst>
      <p:ext uri="{BB962C8B-B14F-4D97-AF65-F5344CB8AC3E}">
        <p14:creationId xmlns:p14="http://schemas.microsoft.com/office/powerpoint/2010/main" val="5407221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34c330b-3c51-42a1-b13e-90ea1ac015c2}" enabled="1" method="Privileged" siteId="{3b07dc1f-22e7-4be1-ac66-a88bf3550222}" contentBits="0" removed="0"/>
</clbl:labelList>
</file>

<file path=docProps/app.xml><?xml version="1.0" encoding="utf-8"?>
<Properties xmlns="http://schemas.openxmlformats.org/officeDocument/2006/extended-properties" xmlns:vt="http://schemas.openxmlformats.org/officeDocument/2006/docPropsVTypes">
  <TotalTime>197</TotalTime>
  <Words>1000</Words>
  <Application>Microsoft Office PowerPoint</Application>
  <PresentationFormat>Widescreen</PresentationFormat>
  <Paragraphs>167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Segoe UI</vt:lpstr>
      <vt:lpstr>Office Theme</vt:lpstr>
      <vt:lpstr>Week 1Day 5 :- Contents Creation from Research Sources</vt:lpstr>
      <vt:lpstr>Step 1: Finding Sources</vt:lpstr>
      <vt:lpstr>Step 1: Finding Sources</vt:lpstr>
      <vt:lpstr>Step 1: Finding Sources</vt:lpstr>
      <vt:lpstr>Step 2: Reading Sources</vt:lpstr>
      <vt:lpstr>Step 3: Taking Notes</vt:lpstr>
      <vt:lpstr>Step 4: Paraphrasing</vt:lpstr>
      <vt:lpstr>Step 5: Writing Content for Literature Review</vt:lpstr>
      <vt:lpstr>Citation</vt:lpstr>
      <vt:lpstr>Citation</vt:lpstr>
      <vt:lpstr>Citation not needed</vt:lpstr>
      <vt:lpstr>Citation needed</vt:lpstr>
      <vt:lpstr>Citation Styles </vt:lpstr>
      <vt:lpstr>Harvard Style</vt:lpstr>
      <vt:lpstr>IEEE Style</vt:lpstr>
      <vt:lpstr>Where References Go</vt:lpstr>
      <vt:lpstr>Full Process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 Upama</dc:creator>
  <cp:lastModifiedBy>Rai, Upama</cp:lastModifiedBy>
  <cp:revision>2</cp:revision>
  <dcterms:created xsi:type="dcterms:W3CDTF">2026-08-21T00:37:26Z</dcterms:created>
  <dcterms:modified xsi:type="dcterms:W3CDTF">2026-08-21T05:53:24Z</dcterms:modified>
</cp:coreProperties>
</file>