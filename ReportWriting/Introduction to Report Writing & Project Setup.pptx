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306" r:id="rId3"/>
    <p:sldId id="258" r:id="rId4"/>
    <p:sldId id="259" r:id="rId5"/>
    <p:sldId id="270" r:id="rId6"/>
    <p:sldId id="260" r:id="rId7"/>
    <p:sldId id="27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3" r:id="rId18"/>
    <p:sldId id="274" r:id="rId19"/>
    <p:sldId id="275" r:id="rId20"/>
    <p:sldId id="276" r:id="rId21"/>
    <p:sldId id="283" r:id="rId22"/>
    <p:sldId id="278" r:id="rId23"/>
    <p:sldId id="279" r:id="rId24"/>
    <p:sldId id="280" r:id="rId25"/>
    <p:sldId id="281" r:id="rId26"/>
    <p:sldId id="282" r:id="rId27"/>
    <p:sldId id="284" r:id="rId28"/>
    <p:sldId id="289" r:id="rId29"/>
    <p:sldId id="290" r:id="rId30"/>
    <p:sldId id="291" r:id="rId31"/>
    <p:sldId id="292" r:id="rId32"/>
    <p:sldId id="285" r:id="rId33"/>
    <p:sldId id="28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BBB8F4-DE55-4BB7-BC91-90F90D6E8E1D}" v="18" dt="2026-08-19T06:00:14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32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15" y="4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, Upama" userId="d8ca7f89-5e54-445b-9d24-0c0dc93119ec" providerId="ADAL" clId="{23F3D788-E39F-4307-9F13-A8E13E4C9956}"/>
    <pc:docChg chg="undo custSel addSld delSld modSld sldOrd">
      <pc:chgData name="Rai, Upama" userId="d8ca7f89-5e54-445b-9d24-0c0dc93119ec" providerId="ADAL" clId="{23F3D788-E39F-4307-9F13-A8E13E4C9956}" dt="2026-08-21T00:23:24.799" v="91" actId="2696"/>
      <pc:docMkLst>
        <pc:docMk/>
      </pc:docMkLst>
      <pc:sldChg chg="modSp mod">
        <pc:chgData name="Rai, Upama" userId="d8ca7f89-5e54-445b-9d24-0c0dc93119ec" providerId="ADAL" clId="{23F3D788-E39F-4307-9F13-A8E13E4C9956}" dt="2026-08-19T05:16:16.052" v="14" actId="20577"/>
        <pc:sldMkLst>
          <pc:docMk/>
          <pc:sldMk cId="2937160207" sldId="272"/>
        </pc:sldMkLst>
        <pc:spChg chg="mod">
          <ac:chgData name="Rai, Upama" userId="d8ca7f89-5e54-445b-9d24-0c0dc93119ec" providerId="ADAL" clId="{23F3D788-E39F-4307-9F13-A8E13E4C9956}" dt="2026-08-19T05:16:16.052" v="14" actId="20577"/>
          <ac:spMkLst>
            <pc:docMk/>
            <pc:sldMk cId="2937160207" sldId="272"/>
            <ac:spMk id="2" creationId="{58A67432-6285-45ED-A072-8C1F0C152B5F}"/>
          </ac:spMkLst>
        </pc:spChg>
        <pc:spChg chg="mod">
          <ac:chgData name="Rai, Upama" userId="d8ca7f89-5e54-445b-9d24-0c0dc93119ec" providerId="ADAL" clId="{23F3D788-E39F-4307-9F13-A8E13E4C9956}" dt="2026-08-19T05:16:15.651" v="13" actId="20577"/>
          <ac:spMkLst>
            <pc:docMk/>
            <pc:sldMk cId="2937160207" sldId="272"/>
            <ac:spMk id="3" creationId="{B9F3507B-AD8F-DC48-731D-B01701F5DFE8}"/>
          </ac:spMkLst>
        </pc:spChg>
      </pc:sldChg>
      <pc:sldChg chg="add del">
        <pc:chgData name="Rai, Upama" userId="d8ca7f89-5e54-445b-9d24-0c0dc93119ec" providerId="ADAL" clId="{23F3D788-E39F-4307-9F13-A8E13E4C9956}" dt="2026-08-21T00:22:43.727" v="90" actId="2696"/>
        <pc:sldMkLst>
          <pc:docMk/>
          <pc:sldMk cId="1651203032" sldId="304"/>
        </pc:sldMkLst>
      </pc:sldChg>
      <pc:sldChg chg="add del">
        <pc:chgData name="Rai, Upama" userId="d8ca7f89-5e54-445b-9d24-0c0dc93119ec" providerId="ADAL" clId="{23F3D788-E39F-4307-9F13-A8E13E4C9956}" dt="2026-08-21T00:22:43.727" v="90" actId="2696"/>
        <pc:sldMkLst>
          <pc:docMk/>
          <pc:sldMk cId="1635492909" sldId="305"/>
        </pc:sldMkLst>
      </pc:sldChg>
      <pc:sldChg chg="addSp delSp modSp new del">
        <pc:chgData name="Rai, Upama" userId="d8ca7f89-5e54-445b-9d24-0c0dc93119ec" providerId="ADAL" clId="{23F3D788-E39F-4307-9F13-A8E13E4C9956}" dt="2026-08-21T00:23:24.799" v="91" actId="2696"/>
        <pc:sldMkLst>
          <pc:docMk/>
          <pc:sldMk cId="389096957" sldId="307"/>
        </pc:sldMkLst>
        <pc:graphicFrameChg chg="add mod">
          <ac:chgData name="Rai, Upama" userId="d8ca7f89-5e54-445b-9d24-0c0dc93119ec" providerId="ADAL" clId="{23F3D788-E39F-4307-9F13-A8E13E4C9956}" dt="2026-08-19T05:15:04.489" v="2" actId="21"/>
          <ac:graphicFrameMkLst>
            <pc:docMk/>
            <pc:sldMk cId="389096957" sldId="307"/>
            <ac:graphicFrameMk id="4" creationId="{103F0655-3B0C-1084-0764-4853A9774C59}"/>
          </ac:graphicFrameMkLst>
        </pc:graphicFrameChg>
      </pc:sldChg>
      <pc:sldChg chg="addSp delSp modSp new del mod">
        <pc:chgData name="Rai, Upama" userId="d8ca7f89-5e54-445b-9d24-0c0dc93119ec" providerId="ADAL" clId="{23F3D788-E39F-4307-9F13-A8E13E4C9956}" dt="2026-08-21T00:23:24.799" v="91" actId="2696"/>
        <pc:sldMkLst>
          <pc:docMk/>
          <pc:sldMk cId="505761938" sldId="308"/>
        </pc:sldMkLst>
        <pc:graphicFrameChg chg="add mod">
          <ac:chgData name="Rai, Upama" userId="d8ca7f89-5e54-445b-9d24-0c0dc93119ec" providerId="ADAL" clId="{23F3D788-E39F-4307-9F13-A8E13E4C9956}" dt="2026-08-19T05:15:30.021" v="6" actId="1076"/>
          <ac:graphicFrameMkLst>
            <pc:docMk/>
            <pc:sldMk cId="505761938" sldId="308"/>
            <ac:graphicFrameMk id="4" creationId="{FEEAB807-BE99-E82E-21B4-E095C7C3770B}"/>
          </ac:graphicFrameMkLst>
        </pc:graphicFrameChg>
        <pc:graphicFrameChg chg="add mod">
          <ac:chgData name="Rai, Upama" userId="d8ca7f89-5e54-445b-9d24-0c0dc93119ec" providerId="ADAL" clId="{23F3D788-E39F-4307-9F13-A8E13E4C9956}" dt="2026-08-19T05:15:37.009" v="8" actId="1076"/>
          <ac:graphicFrameMkLst>
            <pc:docMk/>
            <pc:sldMk cId="505761938" sldId="308"/>
            <ac:graphicFrameMk id="5" creationId="{2985A157-7D87-29B4-A9F7-EA6A0754EEA3}"/>
          </ac:graphicFrameMkLst>
        </pc:graphicFrameChg>
      </pc:sldChg>
      <pc:sldChg chg="modSp new del">
        <pc:chgData name="Rai, Upama" userId="d8ca7f89-5e54-445b-9d24-0c0dc93119ec" providerId="ADAL" clId="{23F3D788-E39F-4307-9F13-A8E13E4C9956}" dt="2026-08-21T00:22:43.727" v="90" actId="2696"/>
        <pc:sldMkLst>
          <pc:docMk/>
          <pc:sldMk cId="3789853278" sldId="311"/>
        </pc:sldMkLst>
      </pc:sldChg>
      <pc:sldChg chg="addSp delSp modSp new del mod">
        <pc:chgData name="Rai, Upama" userId="d8ca7f89-5e54-445b-9d24-0c0dc93119ec" providerId="ADAL" clId="{23F3D788-E39F-4307-9F13-A8E13E4C9956}" dt="2026-08-21T00:22:43.727" v="90" actId="2696"/>
        <pc:sldMkLst>
          <pc:docMk/>
          <pc:sldMk cId="1035932967" sldId="312"/>
        </pc:sldMkLst>
      </pc:sldChg>
      <pc:sldChg chg="addSp delSp modSp new del mod">
        <pc:chgData name="Rai, Upama" userId="d8ca7f89-5e54-445b-9d24-0c0dc93119ec" providerId="ADAL" clId="{23F3D788-E39F-4307-9F13-A8E13E4C9956}" dt="2026-08-21T00:22:43.727" v="90" actId="2696"/>
        <pc:sldMkLst>
          <pc:docMk/>
          <pc:sldMk cId="4269810407" sldId="313"/>
        </pc:sldMkLst>
      </pc:sldChg>
      <pc:sldChg chg="modSp new del mod ord">
        <pc:chgData name="Rai, Upama" userId="d8ca7f89-5e54-445b-9d24-0c0dc93119ec" providerId="ADAL" clId="{23F3D788-E39F-4307-9F13-A8E13E4C9956}" dt="2026-08-21T00:22:43.727" v="90" actId="2696"/>
        <pc:sldMkLst>
          <pc:docMk/>
          <pc:sldMk cId="2610336415" sldId="31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49F8-AC5E-0F89-52C8-D802D307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0AF8E-3E36-F492-9ECC-FD47009FE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179D1-1B17-76E5-CFEC-69F51E76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552AE-7E6D-5CF5-CD6E-89440EB6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2DC6E-48E9-7625-C267-8B47F2BD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4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05337-2AE3-6358-0470-9EFD5C85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42446-93FA-7811-5237-4B8D5DBFF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C78D7-C3EE-9CF8-CF52-6E3BBB31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B018-73E5-C0B7-AB9A-E9F3194BC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33ED2-98D7-3101-14DC-92D14467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45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BDBD-25B7-8FF8-0D18-2E53B487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1E605-DC58-D5B2-5560-CBEF9F3C0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06F74-C6BE-8630-C5A1-E702C27B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EB37D-30BA-2735-D16F-0FB7303A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DA9D8-5DF3-0F04-7E39-4A9C7863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0013-1F81-70AE-08CD-B89545FA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64E89-022B-013A-5DE2-049D4072A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4FE49-7A59-B6DA-A197-794F0EFDA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86426-27A9-9BE8-8CBC-9655129A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46176-EBA0-B555-955B-22204A82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3E62-3AB4-3FFD-250A-C906E931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11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3B90-983C-D4F5-D210-369735EE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F939C-2251-8731-7026-2E1718340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E809A-C879-8CD0-6E4F-F8AD79383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28936-1A8B-5F65-F609-6628AD40A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60BBF-C0C6-B359-9636-FDDBDA8DD4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F6C99-ED7C-F76A-3F0D-E7BD6C25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7D681B-C58B-8B86-1708-1D9A63553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0355CC-D709-17CF-465A-A1F8CA89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9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BEB9-9B88-5157-D5C9-04DD5BD88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688F3-E6C0-0261-CCB5-ADC8E1080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CAC56-81C0-BC50-DCF2-6ABB67BF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6CA2A-D471-E1D8-B5AA-A3972D3A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54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AE147D-F915-0027-243F-52114FA7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FD57D-50A2-C32B-A0A8-3C39D79B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81E43-5963-91C2-8AD5-1EB1281D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2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6E7F4-543F-7632-14A9-7D1AC25A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A8B6F-A98F-EFA2-C503-FEFAAF67A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F70AA-3332-D9EA-0EFF-0B8E8D8D7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61949-DBCF-A1D4-4C96-89E1D07B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C59CF-B5D9-4453-12B0-06DC71B5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55A19-EC3F-479C-D0DF-C61A7888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3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B1B5-11CC-FA74-B701-D0665DFE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7F954-370C-23F3-A5FD-6D1CB2833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C3C2F-2FF4-D55F-DCF4-47D876449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5542F-3B89-C125-F1FA-B100B074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034AE-FA95-9635-5123-019F41860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B7A2D-C4EE-8EE0-B2CF-CD6C88B8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D573B-18B1-EFA7-01A2-FC9D9C21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292B9-8ADE-0D76-7771-971C47C57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B3393-9178-0D12-D118-78DF9AEC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D9F5A-C6A2-DDFF-CF97-A9918A7D6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47134-3FFB-11B9-89B3-855A341A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88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FDA629-3732-1FFD-2FAF-67BDD6114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5105A-9437-AF58-76AF-AD6A8675C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B321-2E77-496D-C8BC-98BD8921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C6575-2228-FFB4-68AE-CEC706FDF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1F678-BF06-26E1-A252-4D327723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9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3FDBDF-F89F-0E77-2C0D-3DEA1C49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CC6B-B1B0-A634-3DF0-01DE95CBB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A8FD2-5ABE-B0FF-8011-AEC22BFD3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BBF1D-F8A8-E08D-C866-FB0BDE6AB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71E39-F902-134C-2147-0063FDEB1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0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E7AD-6C6B-260B-0D2E-A674FCA93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7432-6285-45ED-A072-8C1F0C152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/>
          <a:lstStyle/>
          <a:p>
            <a:r>
              <a:rPr lang="en-US" b="1" dirty="0"/>
              <a:t>Introduction to Report Writing &amp; Project Setup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3507B-AD8F-DC48-731D-B01701F5D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Module Name: Report Writing</a:t>
            </a:r>
          </a:p>
          <a:p>
            <a:r>
              <a:rPr lang="en-US" dirty="0"/>
              <a:t>Lecturer: Upama Rai</a:t>
            </a:r>
          </a:p>
          <a:p>
            <a:r>
              <a:rPr lang="en-US" dirty="0"/>
              <a:t>Learning Outcomes</a:t>
            </a:r>
          </a:p>
          <a:p>
            <a:r>
              <a:rPr lang="en-US" dirty="0"/>
              <a:t>Assessment Requirements</a:t>
            </a:r>
          </a:p>
        </p:txBody>
      </p:sp>
    </p:spTree>
    <p:extLst>
      <p:ext uri="{BB962C8B-B14F-4D97-AF65-F5344CB8AC3E}">
        <p14:creationId xmlns:p14="http://schemas.microsoft.com/office/powerpoint/2010/main" val="293716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0DA87-7C65-8F29-5658-629705D1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Report?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55212-DE6B-EC2E-68D4-0BC8DBE7E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384"/>
            <a:ext cx="10515600" cy="4351338"/>
          </a:xfrm>
        </p:spPr>
        <p:txBody>
          <a:bodyPr/>
          <a:lstStyle/>
          <a:p>
            <a:r>
              <a:rPr lang="en-US" dirty="0" err="1"/>
              <a:t>Formal,structured</a:t>
            </a:r>
            <a:r>
              <a:rPr lang="en-US" dirty="0"/>
              <a:t> document (information, findings, analysis, and recommendations) specific topic to a particular audience.</a:t>
            </a:r>
          </a:p>
          <a:p>
            <a:r>
              <a:rPr lang="en-US" dirty="0"/>
              <a:t>Based on research, evidence, observations, or collected data and are written to communicate information clearly and objectively.</a:t>
            </a:r>
          </a:p>
          <a:p>
            <a:r>
              <a:rPr lang="en-US" dirty="0"/>
              <a:t>Example : A report on "Artificial Intelligence in Education" presents information gathered from academic articles, books, surveys, and other reliable sources to examine the benefits, challenges, and future applications of AI in education.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8D22CF-1BF3-246F-0731-E69D6D767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022219"/>
              </p:ext>
            </p:extLst>
          </p:nvPr>
        </p:nvGraphicFramePr>
        <p:xfrm>
          <a:off x="1037706" y="5121275"/>
          <a:ext cx="10515600" cy="13716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951898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When writing a report, imagine that you are presenting information to help someone understand a topic or make a decision. A report is not simply writing what you think; it is presenting what research and evidence show.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789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86557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35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69AD-7AD2-4A2D-C781-7F7D1115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a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A8FC7-2EE8-09AA-73B8-63FFDC176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Why Do We Write Reports?</a:t>
            </a:r>
          </a:p>
          <a:p>
            <a:pPr lvl="1"/>
            <a:r>
              <a:rPr lang="en-US" dirty="0"/>
              <a:t>to provide accurate information supported by evidence.</a:t>
            </a:r>
          </a:p>
          <a:p>
            <a:r>
              <a:rPr lang="en-US" dirty="0"/>
              <a:t> Reports are written to:</a:t>
            </a:r>
          </a:p>
          <a:p>
            <a:pPr lvl="1"/>
            <a:r>
              <a:rPr lang="en-US" dirty="0"/>
              <a:t>Present information in a clear and organized manner</a:t>
            </a:r>
          </a:p>
          <a:p>
            <a:pPr lvl="1"/>
            <a:r>
              <a:rPr lang="en-US" dirty="0"/>
              <a:t>Communicate research findings</a:t>
            </a:r>
          </a:p>
          <a:p>
            <a:pPr lvl="1"/>
            <a:r>
              <a:rPr lang="en-US" dirty="0" err="1"/>
              <a:t>Analyse</a:t>
            </a:r>
            <a:r>
              <a:rPr lang="en-US" dirty="0"/>
              <a:t> a topic, problem, or situations</a:t>
            </a:r>
          </a:p>
          <a:p>
            <a:pPr lvl="1"/>
            <a:r>
              <a:rPr lang="en-US" dirty="0"/>
              <a:t>Support decision-making using evidence</a:t>
            </a:r>
          </a:p>
          <a:p>
            <a:pPr lvl="1"/>
            <a:r>
              <a:rPr lang="en-US" dirty="0"/>
              <a:t>Record observations and results</a:t>
            </a:r>
          </a:p>
          <a:p>
            <a:pPr lvl="1"/>
            <a:r>
              <a:rPr lang="en-US" dirty="0"/>
              <a:t>Provide conclusions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781017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1998-A775-B56F-2E5B-49802F97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Types of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E5017-1BA8-F12F-F435-29DE27649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80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Academic Report </a:t>
            </a:r>
          </a:p>
          <a:p>
            <a:pPr lvl="1"/>
            <a:r>
              <a:rPr lang="en-US" dirty="0" err="1"/>
              <a:t>analyse</a:t>
            </a:r>
            <a:r>
              <a:rPr lang="en-US" dirty="0"/>
              <a:t>, discuss, and evaluate a topic using research and evidence.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Business Report </a:t>
            </a:r>
          </a:p>
          <a:p>
            <a:pPr lvl="1"/>
            <a:r>
              <a:rPr lang="en-US" dirty="0"/>
              <a:t>evaluate business performance, identify issues, and support decision-making.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D58E216-A7BB-895C-1417-BD714195E4DD}"/>
              </a:ext>
            </a:extLst>
          </p:cNvPr>
          <p:cNvGraphicFramePr>
            <a:graphicFrameLocks noGrp="1"/>
          </p:cNvGraphicFramePr>
          <p:nvPr/>
        </p:nvGraphicFramePr>
        <p:xfrm>
          <a:off x="1057656" y="2377609"/>
          <a:ext cx="5257800" cy="130586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54933089"/>
                    </a:ext>
                  </a:extLst>
                </a:gridCol>
              </a:tblGrid>
              <a:tr h="994241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Artificial Intelligence in Education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Cybersecurity Awareness Among Students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Impact of Social Media on Academic Performance</a:t>
                      </a:r>
                    </a:p>
                  </a:txBody>
                  <a:tcPr marL="79576" marR="79576" marT="39788" marB="39788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96361"/>
                  </a:ext>
                </a:extLst>
              </a:tr>
              <a:tr h="3116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400" dirty="0"/>
                    </a:p>
                  </a:txBody>
                  <a:tcPr marL="79576" marR="79576" marT="39788" marB="39788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7310644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AD431F5-A3E9-0DED-4EB7-FB82076F075F}"/>
              </a:ext>
            </a:extLst>
          </p:cNvPr>
          <p:cNvGraphicFramePr>
            <a:graphicFrameLocks noGrp="1"/>
          </p:cNvGraphicFramePr>
          <p:nvPr/>
        </p:nvGraphicFramePr>
        <p:xfrm>
          <a:off x="6556247" y="4791456"/>
          <a:ext cx="5477257" cy="1488635"/>
        </p:xfrm>
        <a:graphic>
          <a:graphicData uri="http://schemas.openxmlformats.org/drawingml/2006/table">
            <a:tbl>
              <a:tblPr/>
              <a:tblGrid>
                <a:gridCol w="5477257">
                  <a:extLst>
                    <a:ext uri="{9D8B030D-6E8A-4147-A177-3AD203B41FA5}">
                      <a16:colId xmlns:a16="http://schemas.microsoft.com/office/drawing/2014/main" val="3071024468"/>
                    </a:ext>
                  </a:extLst>
                </a:gridCol>
              </a:tblGrid>
              <a:tr h="1132657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Sales Performance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Market Analysis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Financial Performance Reports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391672"/>
                  </a:ext>
                </a:extLst>
              </a:tr>
              <a:tr h="3559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82164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309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9CCD-AF2C-F4AF-0753-A97FD915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Types of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BD051-5F15-9865-D2C3-5378BA61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832" y="1550125"/>
            <a:ext cx="10515600" cy="4351338"/>
          </a:xfrm>
        </p:spPr>
        <p:txBody>
          <a:bodyPr/>
          <a:lstStyle/>
          <a:p>
            <a:r>
              <a:rPr lang="en-US" dirty="0"/>
              <a:t>Technical Report </a:t>
            </a:r>
          </a:p>
          <a:p>
            <a:pPr lvl="1"/>
            <a:r>
              <a:rPr lang="en-US" dirty="0"/>
              <a:t>explain a technical process, system, project, or experiment.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Research Report </a:t>
            </a:r>
          </a:p>
          <a:p>
            <a:pPr lvl="1"/>
            <a:r>
              <a:rPr lang="en-US" dirty="0"/>
              <a:t>To present research findings, data analysis, and conclusions from a study.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1A82D6-96FA-FE8C-6297-EB6DCE789413}"/>
              </a:ext>
            </a:extLst>
          </p:cNvPr>
          <p:cNvGraphicFramePr>
            <a:graphicFrameLocks noGrp="1"/>
          </p:cNvGraphicFramePr>
          <p:nvPr/>
        </p:nvGraphicFramePr>
        <p:xfrm>
          <a:off x="1127760" y="5549334"/>
          <a:ext cx="10515600" cy="1097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352048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In this module, your report is not just about collecting information. You must </a:t>
                      </a:r>
                      <a:r>
                        <a:rPr lang="en-US" sz="2000" b="0" i="0" dirty="0" err="1">
                          <a:effectLst/>
                          <a:latin typeface="Segoe UI" panose="020B0502040204020203" pitchFamily="34" charset="0"/>
                        </a:rPr>
                        <a:t>analyse</a:t>
                      </a: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 it, discuss it, and support your arguments using academic sources.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539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0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67045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AED592E-2F72-F6A4-CD80-708BB634C2B6}"/>
              </a:ext>
            </a:extLst>
          </p:cNvPr>
          <p:cNvGraphicFramePr>
            <a:graphicFrameLocks noGrp="1"/>
          </p:cNvGraphicFramePr>
          <p:nvPr/>
        </p:nvGraphicFramePr>
        <p:xfrm>
          <a:off x="8275320" y="2295276"/>
          <a:ext cx="3553968" cy="1133724"/>
        </p:xfrm>
        <a:graphic>
          <a:graphicData uri="http://schemas.openxmlformats.org/drawingml/2006/table">
            <a:tbl>
              <a:tblPr/>
              <a:tblGrid>
                <a:gridCol w="3553968">
                  <a:extLst>
                    <a:ext uri="{9D8B030D-6E8A-4147-A177-3AD203B41FA5}">
                      <a16:colId xmlns:a16="http://schemas.microsoft.com/office/drawing/2014/main" val="2702861812"/>
                    </a:ext>
                  </a:extLst>
                </a:gridCol>
              </a:tblGrid>
              <a:tr h="69206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300" b="1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  <a:endParaRPr lang="en-US" sz="13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effectLst/>
                          <a:latin typeface="Segoe UI" panose="020B0502040204020203" pitchFamily="34" charset="0"/>
                        </a:rPr>
                        <a:t>Software Development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effectLst/>
                          <a:latin typeface="Segoe UI" panose="020B0502040204020203" pitchFamily="34" charset="0"/>
                        </a:rPr>
                        <a:t>Network Design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effectLst/>
                          <a:latin typeface="Segoe UI" panose="020B0502040204020203" pitchFamily="34" charset="0"/>
                        </a:rPr>
                        <a:t>System Implementation Report</a:t>
                      </a:r>
                    </a:p>
                  </a:txBody>
                  <a:tcPr marL="71562" marR="71562" marT="35781" marB="35781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894402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300" dirty="0"/>
                    </a:p>
                  </a:txBody>
                  <a:tcPr marL="71562" marR="71562" marT="35781" marB="35781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2326095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63F275-AF1B-816F-7D42-4736A359EA63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3942046"/>
          <a:ext cx="3435096" cy="1362324"/>
        </p:xfrm>
        <a:graphic>
          <a:graphicData uri="http://schemas.openxmlformats.org/drawingml/2006/table">
            <a:tbl>
              <a:tblPr/>
              <a:tblGrid>
                <a:gridCol w="3435096">
                  <a:extLst>
                    <a:ext uri="{9D8B030D-6E8A-4147-A177-3AD203B41FA5}">
                      <a16:colId xmlns:a16="http://schemas.microsoft.com/office/drawing/2014/main" val="3972798933"/>
                    </a:ext>
                  </a:extLst>
                </a:gridCol>
              </a:tblGrid>
              <a:tr h="1018672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Survey Research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Experimental Research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Case Study Report</a:t>
                      </a:r>
                    </a:p>
                  </a:txBody>
                  <a:tcPr marL="71561" marR="71561" marT="35781" marB="35781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38889"/>
                  </a:ext>
                </a:extLst>
              </a:tr>
              <a:tr h="306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 marL="71561" marR="71561" marT="35781" marB="35781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57269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021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F706F-FD63-411C-28D8-B9678237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a Good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2F87-C912-683C-5CA3-5374789E3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Formal</a:t>
            </a:r>
          </a:p>
          <a:p>
            <a:pPr lvl="1"/>
            <a:r>
              <a:rPr lang="en-US" dirty="0"/>
              <a:t>Uses professional and academic language.</a:t>
            </a:r>
          </a:p>
          <a:p>
            <a:r>
              <a:rPr lang="en-US" dirty="0"/>
              <a:t>Structured</a:t>
            </a:r>
          </a:p>
          <a:p>
            <a:pPr lvl="1"/>
            <a:r>
              <a:rPr lang="en-US" dirty="0"/>
              <a:t>Organized using headings and subheadings.</a:t>
            </a:r>
          </a:p>
          <a:p>
            <a:r>
              <a:rPr lang="en-US" dirty="0"/>
              <a:t>Evidence-Based </a:t>
            </a:r>
          </a:p>
          <a:p>
            <a:pPr lvl="1"/>
            <a:r>
              <a:rPr lang="en-US" dirty="0"/>
              <a:t>Supported by research findings, facts, and reliable sources.</a:t>
            </a:r>
          </a:p>
          <a:p>
            <a:r>
              <a:rPr lang="en-US" dirty="0"/>
              <a:t>Objective </a:t>
            </a:r>
          </a:p>
          <a:p>
            <a:pPr lvl="1"/>
            <a:r>
              <a:rPr lang="en-US" dirty="0"/>
              <a:t>Focuses on facts rather than personal opinions.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These four characteristics make a report professional, credible, and reliable.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875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B53D-32E7-46C8-456F-AAE9FA7D5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Essay and Report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A9D0A55-FF31-9374-C841-72DEFD2718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515164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88769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Essay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308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Discusses a topic or argument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Presents information and 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677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Usually written in continuous paragraphs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Organized into sections and headings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4437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May include personal interpretation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Based on facts, evidence, and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2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Less use of tables and charts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Often includes tables, charts, and figures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98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Flowing narrative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Structured format with clear sections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00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Generally written for academic discussion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Written for a specific purpose or audience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607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May not include recommendations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Often includes conclusions and recommendations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3479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396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AC32-6595-A776-7D22-1121D070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81FC5-5FED-413C-E1B8-8A8BFFBF4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professional language suitable for academic and professional environments.</a:t>
            </a:r>
          </a:p>
          <a:p>
            <a:r>
              <a:rPr lang="en-US" dirty="0"/>
              <a:t>Characteristics of Formal Writing</a:t>
            </a:r>
          </a:p>
          <a:p>
            <a:pPr lvl="1"/>
            <a:r>
              <a:rPr lang="en-US" dirty="0"/>
              <a:t>Professional vocabulary</a:t>
            </a:r>
          </a:p>
          <a:p>
            <a:pPr lvl="1"/>
            <a:r>
              <a:rPr lang="en-US" dirty="0"/>
              <a:t>Complete sentences</a:t>
            </a:r>
          </a:p>
          <a:p>
            <a:pPr lvl="1"/>
            <a:r>
              <a:rPr lang="en-US" dirty="0"/>
              <a:t>Neutral tone</a:t>
            </a:r>
          </a:p>
          <a:p>
            <a:pPr lvl="1"/>
            <a:r>
              <a:rPr lang="en-US" dirty="0"/>
              <a:t>No slang or text language</a:t>
            </a:r>
          </a:p>
          <a:p>
            <a:pPr lvl="1"/>
            <a:r>
              <a:rPr lang="en-US" dirty="0"/>
              <a:t>No unsupported personal opinions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78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2A34-0BC8-EC13-1041-A88C4E8B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Writing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A0CE3-9DAF-4DF9-7D9A-4E074AC8C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Wrong </a:t>
            </a:r>
          </a:p>
          <a:p>
            <a:pPr lvl="1"/>
            <a:r>
              <a:rPr lang="en-US" dirty="0"/>
              <a:t>AI is really cool and helps students a lot.</a:t>
            </a:r>
          </a:p>
          <a:p>
            <a:pPr lvl="1"/>
            <a:r>
              <a:rPr lang="en-US" dirty="0"/>
              <a:t>I think AI is awesome.</a:t>
            </a:r>
            <a:endParaRPr lang="en-US" sz="2800" dirty="0"/>
          </a:p>
          <a:p>
            <a:pPr marL="0" indent="0">
              <a:buNone/>
            </a:pPr>
            <a:r>
              <a:rPr lang="en-US" dirty="0"/>
              <a:t>Correct</a:t>
            </a:r>
          </a:p>
          <a:p>
            <a:pPr lvl="1"/>
            <a:r>
              <a:rPr lang="en-US" dirty="0"/>
              <a:t>Artificial Intelligence can support student learning by providing </a:t>
            </a:r>
            <a:r>
              <a:rPr lang="en-US" dirty="0" err="1"/>
              <a:t>personalised</a:t>
            </a:r>
            <a:r>
              <a:rPr lang="en-US" dirty="0"/>
              <a:t> educational experiences.</a:t>
            </a:r>
          </a:p>
          <a:p>
            <a:pPr lvl="1"/>
            <a:r>
              <a:rPr lang="en-US" dirty="0"/>
              <a:t> Research indicates that AI has the potential to improve learning outcomes.</a:t>
            </a:r>
          </a:p>
          <a:p>
            <a:r>
              <a:rPr lang="en-US" dirty="0"/>
              <a:t>Academic reports should sound professional. The reader should focus on the information and evidence, not on the writer's personal feelings.</a:t>
            </a:r>
          </a:p>
        </p:txBody>
      </p:sp>
    </p:spTree>
    <p:extLst>
      <p:ext uri="{BB962C8B-B14F-4D97-AF65-F5344CB8AC3E}">
        <p14:creationId xmlns:p14="http://schemas.microsoft.com/office/powerpoint/2010/main" val="3532784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88B10-2E37-06C7-D342-43550663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B24DB-F463-BFD1-7C3A-514D9B7E7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673"/>
            <a:ext cx="10515600" cy="4351338"/>
          </a:xfrm>
        </p:spPr>
        <p:txBody>
          <a:bodyPr/>
          <a:lstStyle/>
          <a:p>
            <a:r>
              <a:rPr lang="en-US" dirty="0"/>
              <a:t>A report follows a logical format so that information is easy to locate and understand.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DE07C3-ACC6-62C7-CD67-FA37A55D7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699436"/>
              </p:ext>
            </p:extLst>
          </p:nvPr>
        </p:nvGraphicFramePr>
        <p:xfrm>
          <a:off x="838200" y="2531049"/>
          <a:ext cx="10515600" cy="4145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979859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effectLst/>
                          <a:latin typeface="Segoe UI" panose="020B0502040204020203" pitchFamily="34" charset="0"/>
                        </a:rPr>
                        <a:t>Typical Report Structure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Cover Page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Abstract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Table of Contents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Introduction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Literature Review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Methodology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Results and Discussion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Conclusion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Recommendations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References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Appendices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0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09067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84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7CE6-AA80-C34D-8069-4B9BB7685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B1F16-44A2-152C-234C-222748D5B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7920"/>
            <a:ext cx="10515600" cy="4351338"/>
          </a:xfrm>
        </p:spPr>
        <p:txBody>
          <a:bodyPr/>
          <a:lstStyle/>
          <a:p>
            <a:r>
              <a:rPr lang="en-US" dirty="0"/>
              <a:t>Improves readability</a:t>
            </a:r>
          </a:p>
          <a:p>
            <a:r>
              <a:rPr lang="en-US" dirty="0"/>
              <a:t>Makes navigation easier</a:t>
            </a:r>
          </a:p>
          <a:p>
            <a:r>
              <a:rPr lang="en-US" dirty="0"/>
              <a:t>Helps present information logically</a:t>
            </a:r>
          </a:p>
          <a:p>
            <a:r>
              <a:rPr lang="en-US" dirty="0"/>
              <a:t>Improves professionalism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9084FC-B480-6D29-AB3C-DCD5DA286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647257"/>
              </p:ext>
            </p:extLst>
          </p:nvPr>
        </p:nvGraphicFramePr>
        <p:xfrm>
          <a:off x="838200" y="3818000"/>
          <a:ext cx="10515600" cy="14020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637839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Imagine reading a 20-page report without headings. It would be difficult to find information. Structure makes a report easy to read and understand.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290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163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37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DAD02-3A5F-44F1-96E3-F6F6A6B3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Evidence-Based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121C-2C9A-C5E2-0DCD-700EE0F63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Information presented in a report must be supported by reliable sources and research.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428EA1-4093-260F-28D6-7BCCFDFA5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868376"/>
              </p:ext>
            </p:extLst>
          </p:nvPr>
        </p:nvGraphicFramePr>
        <p:xfrm>
          <a:off x="838200" y="2750186"/>
          <a:ext cx="10515600" cy="32918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580474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effectLst/>
                          <a:latin typeface="Segoe UI" panose="020B0502040204020203" pitchFamily="34" charset="0"/>
                        </a:rPr>
                        <a:t>Sources of Evidence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Journal Articles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Books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Conference Papers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Government Reports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Research Studies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21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effectLst/>
                          <a:latin typeface="Segoe UI" panose="020B0502040204020203" pitchFamily="34" charset="0"/>
                        </a:rPr>
                        <a:t>Example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According to UNESCO (2023), Artificial Intelligence has the potential to support personalized learning and educational accessibility.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224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43676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555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E02A0-4C32-DA85-E1EE-008E7C72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Evidence-Based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3C5E6-E80B-BFD4-452E-0C928CB96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Benefits</a:t>
            </a:r>
          </a:p>
          <a:p>
            <a:r>
              <a:rPr lang="en-US" dirty="0"/>
              <a:t>Improves credibility</a:t>
            </a:r>
          </a:p>
          <a:p>
            <a:r>
              <a:rPr lang="en-US" dirty="0"/>
              <a:t>Supports arguments</a:t>
            </a:r>
          </a:p>
          <a:p>
            <a:r>
              <a:rPr lang="en-US" dirty="0"/>
              <a:t>Reduces misinformation</a:t>
            </a:r>
          </a:p>
          <a:p>
            <a:r>
              <a:rPr lang="en-US" dirty="0"/>
              <a:t>Demonstrates research skills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7AC022-776B-76B1-310A-04966189E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010810"/>
              </p:ext>
            </p:extLst>
          </p:nvPr>
        </p:nvGraphicFramePr>
        <p:xfrm>
          <a:off x="618744" y="4677188"/>
          <a:ext cx="10515600" cy="1097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201203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In report writing, we do not write statements simply because we believe they are true. We support our statements using academic evidence.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077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0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71712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0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43A3B-022C-D9BB-E231-7EC9208A8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79710-2BE8-5B0C-86A4-50949FFFC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focuses on facts and evidence instead of personal opinions or emotions.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C4CC31-D7BC-126E-35BD-64A799590059}"/>
              </a:ext>
            </a:extLst>
          </p:cNvPr>
          <p:cNvGraphicFramePr>
            <a:graphicFrameLocks noGrp="1"/>
          </p:cNvGraphicFramePr>
          <p:nvPr/>
        </p:nvGraphicFramePr>
        <p:xfrm>
          <a:off x="1212136" y="2998901"/>
          <a:ext cx="9542950" cy="2004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1475">
                  <a:extLst>
                    <a:ext uri="{9D8B030D-6E8A-4147-A177-3AD203B41FA5}">
                      <a16:colId xmlns:a16="http://schemas.microsoft.com/office/drawing/2014/main" val="2170879253"/>
                    </a:ext>
                  </a:extLst>
                </a:gridCol>
                <a:gridCol w="4771475">
                  <a:extLst>
                    <a:ext uri="{9D8B030D-6E8A-4147-A177-3AD203B41FA5}">
                      <a16:colId xmlns:a16="http://schemas.microsoft.com/office/drawing/2014/main" val="1642395371"/>
                    </a:ext>
                  </a:extLst>
                </a:gridCol>
              </a:tblGrid>
              <a:tr h="493590">
                <a:tc>
                  <a:txBody>
                    <a:bodyPr/>
                    <a:lstStyle/>
                    <a:p>
                      <a:r>
                        <a:rPr lang="en-US" dirty="0"/>
                        <a:t>Objective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Subjective Writing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918940"/>
                  </a:ext>
                </a:extLst>
              </a:tr>
              <a:tr h="882376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Research suggests that AI can improve learning outcomes when implemented appropriately.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AI is the best invention ever made.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587645"/>
                  </a:ext>
                </a:extLst>
              </a:tr>
              <a:tr h="62882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Studies indicate that AI can provide adaptive learning support.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Everyone should use AI.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90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195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EFC8-F3BB-9CC1-D66E-4C2B1D79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Objectivity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C6861-48F2-B7C4-BC49-8F395A8AC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bias</a:t>
            </a:r>
          </a:p>
          <a:p>
            <a:r>
              <a:rPr lang="en-US" dirty="0"/>
              <a:t>Improves reliability</a:t>
            </a:r>
          </a:p>
          <a:p>
            <a:r>
              <a:rPr lang="en-US" dirty="0"/>
              <a:t>Enhances academic quality</a:t>
            </a:r>
          </a:p>
          <a:p>
            <a:r>
              <a:rPr lang="en-US" dirty="0"/>
              <a:t>Supports critical thinking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6A5025-8488-8909-8B64-FA69687D5C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330587"/>
          <a:ext cx="10515600" cy="1097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899678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Reports should present balanced information. Even when discussing benefits, we should also acknowledge challenges and limitations.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41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0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37763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263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A4D4-F39E-3F93-A072-C69117F2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B6E191-90DE-FEE6-F805-88D5094B52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05631"/>
          <a:ext cx="10515600" cy="40233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06876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By the end of today's session, you should understand: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✓ What a report is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✓ Why reports are written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✓ The main purposes of report writing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✓ The characteristics of a good report: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Formal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Structured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Evidence-Based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Objective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Preparing for the Coursework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Throughout this module, you will develop a complete report on each individual group topic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using the report-writing principles discussed today.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648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825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349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1075-1B2F-DCAE-A7A7-78C51A515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Document Setup and Professional Layout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01D97F-879B-6740-15E1-7B3282087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  <a:p>
            <a:endParaRPr lang="en-US" sz="300" dirty="0"/>
          </a:p>
          <a:p>
            <a:pPr lvl="1"/>
            <a:r>
              <a:rPr lang="en-US" dirty="0"/>
              <a:t>Page Size</a:t>
            </a:r>
          </a:p>
          <a:p>
            <a:pPr lvl="1"/>
            <a:r>
              <a:rPr lang="en-US" dirty="0"/>
              <a:t>Margins</a:t>
            </a:r>
          </a:p>
          <a:p>
            <a:pPr lvl="1"/>
            <a:r>
              <a:rPr lang="en-US" dirty="0"/>
              <a:t>Orientation</a:t>
            </a:r>
          </a:p>
          <a:p>
            <a:pPr lvl="1"/>
            <a:r>
              <a:rPr lang="en-US" dirty="0"/>
              <a:t>Sections</a:t>
            </a:r>
          </a:p>
          <a:p>
            <a:pPr lvl="1"/>
            <a:r>
              <a:rPr lang="en-US" dirty="0"/>
              <a:t>Headers and Footers</a:t>
            </a:r>
          </a:p>
          <a:p>
            <a:pPr lvl="1"/>
            <a:r>
              <a:rPr lang="en-US" dirty="0"/>
              <a:t>Page Numbering</a:t>
            </a:r>
          </a:p>
        </p:txBody>
      </p:sp>
    </p:spTree>
    <p:extLst>
      <p:ext uri="{BB962C8B-B14F-4D97-AF65-F5344CB8AC3E}">
        <p14:creationId xmlns:p14="http://schemas.microsoft.com/office/powerpoint/2010/main" val="3439289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FD64A-5E7F-03D9-54B3-11F030418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13B7-2ACE-465C-4BB1-361CE030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Document Setup and Professional Layout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33FD323-6C0B-868A-0A46-4DA28E970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today's session, students will be able to:</a:t>
            </a:r>
          </a:p>
          <a:p>
            <a:pPr lvl="1"/>
            <a:r>
              <a:rPr lang="en-US" dirty="0"/>
              <a:t> Configure a professional report document</a:t>
            </a:r>
          </a:p>
          <a:p>
            <a:pPr lvl="1"/>
            <a:r>
              <a:rPr lang="en-US" dirty="0"/>
              <a:t> Apply standard page settings</a:t>
            </a:r>
          </a:p>
          <a:p>
            <a:pPr lvl="1"/>
            <a:r>
              <a:rPr lang="en-US" dirty="0"/>
              <a:t> Insert headers and footers</a:t>
            </a:r>
          </a:p>
          <a:p>
            <a:pPr lvl="1"/>
            <a:r>
              <a:rPr lang="en-US" dirty="0"/>
              <a:t> Add page numbers correctly</a:t>
            </a:r>
          </a:p>
          <a:p>
            <a:pPr lvl="1"/>
            <a:r>
              <a:rPr lang="en-US" dirty="0"/>
              <a:t> Prepare a report template for coursework</a:t>
            </a:r>
          </a:p>
        </p:txBody>
      </p:sp>
    </p:spTree>
    <p:extLst>
      <p:ext uri="{BB962C8B-B14F-4D97-AF65-F5344CB8AC3E}">
        <p14:creationId xmlns:p14="http://schemas.microsoft.com/office/powerpoint/2010/main" val="903029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CFB3F-B3E3-5F8B-C00E-3C43C8271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2F7F-C61A-B622-5024-ACA60F84D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Document Setup and Professional Layout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F5D95-2630-49C4-31FF-2E55D1C59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Document Setup Matters?</a:t>
            </a:r>
          </a:p>
          <a:p>
            <a:pPr lvl="1"/>
            <a:r>
              <a:rPr lang="en-US" dirty="0"/>
              <a:t>A professionally formatted document:</a:t>
            </a:r>
          </a:p>
          <a:p>
            <a:pPr lvl="1"/>
            <a:r>
              <a:rPr lang="en-US" dirty="0"/>
              <a:t>Looks organized and readable</a:t>
            </a:r>
          </a:p>
          <a:p>
            <a:pPr lvl="1"/>
            <a:r>
              <a:rPr lang="en-US" dirty="0"/>
              <a:t>Creates a positive first impression</a:t>
            </a:r>
          </a:p>
          <a:p>
            <a:pPr lvl="1"/>
            <a:r>
              <a:rPr lang="en-US" dirty="0"/>
              <a:t>Improves navigation through the report</a:t>
            </a:r>
          </a:p>
          <a:p>
            <a:pPr lvl="1"/>
            <a:r>
              <a:rPr lang="en-US" dirty="0"/>
              <a:t>Maintains consistency</a:t>
            </a:r>
          </a:p>
          <a:p>
            <a:pPr lvl="1"/>
            <a:r>
              <a:rPr lang="en-US" dirty="0"/>
              <a:t>Meets academic and professional standards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A132F37-46C2-0E73-A2AF-C6FD46FDE088}"/>
              </a:ext>
            </a:extLst>
          </p:cNvPr>
          <p:cNvGraphicFramePr>
            <a:graphicFrameLocks noGrp="1"/>
          </p:cNvGraphicFramePr>
          <p:nvPr/>
        </p:nvGraphicFramePr>
        <p:xfrm>
          <a:off x="7987432" y="3929836"/>
          <a:ext cx="3089540" cy="2926080"/>
        </p:xfrm>
        <a:graphic>
          <a:graphicData uri="http://schemas.openxmlformats.org/drawingml/2006/table">
            <a:tbl>
              <a:tblPr/>
              <a:tblGrid>
                <a:gridCol w="3089540">
                  <a:extLst>
                    <a:ext uri="{9D8B030D-6E8A-4147-A177-3AD203B41FA5}">
                      <a16:colId xmlns:a16="http://schemas.microsoft.com/office/drawing/2014/main" val="2272973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Imagine submitting: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Different font sizes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No page numbers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Uneven margins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vs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Consistent layout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Clear structure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Professional appearance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539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09452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33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0B157-81B7-2EA7-F22C-0B5E6365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C673-3632-9A02-D74C-21DA3723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Components of a Professional Report Layout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57961-8E53-FF95-202C-C5CCA45CD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622B8B-0C57-6A58-9225-88FA91EB4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033264"/>
              </p:ext>
            </p:extLst>
          </p:nvPr>
        </p:nvGraphicFramePr>
        <p:xfrm>
          <a:off x="797689" y="1917368"/>
          <a:ext cx="10515600" cy="35204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9881968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 typical report includes: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3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Cover Page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Student Information Page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Abstract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Table of Contents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Main Chapters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References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Appendices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Diagram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Report ↓ Front Matter ↓ Main Body ↓ Back Matter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852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523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771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9A5FA-BF35-1BE8-CC01-154BD1146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BFBFD-428D-F95C-1A6B-B5DEC5335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Page Size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D312D-EB5B-66D5-9ABA-F095F2941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Page Size?</a:t>
            </a:r>
          </a:p>
          <a:p>
            <a:pPr lvl="1"/>
            <a:r>
              <a:rPr lang="en-US" dirty="0"/>
              <a:t>The dimensions of the document page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Why Use A4?</a:t>
            </a:r>
          </a:p>
          <a:p>
            <a:pPr lvl="1"/>
            <a:r>
              <a:rPr lang="en-US" dirty="0"/>
              <a:t>International academic standard</a:t>
            </a:r>
          </a:p>
          <a:p>
            <a:pPr lvl="1"/>
            <a:r>
              <a:rPr lang="en-US" dirty="0"/>
              <a:t>Printing compatibility</a:t>
            </a:r>
          </a:p>
          <a:p>
            <a:pPr lvl="1"/>
            <a:r>
              <a:rPr lang="en-US" dirty="0"/>
              <a:t>Consistent formatting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127906-6D31-57DC-5AFD-00798FA06DE3}"/>
              </a:ext>
            </a:extLst>
          </p:cNvPr>
          <p:cNvGraphicFramePr>
            <a:graphicFrameLocks noGrp="1"/>
          </p:cNvGraphicFramePr>
          <p:nvPr/>
        </p:nvGraphicFramePr>
        <p:xfrm>
          <a:off x="7025640" y="1825625"/>
          <a:ext cx="4165600" cy="1614392"/>
        </p:xfrm>
        <a:graphic>
          <a:graphicData uri="http://schemas.openxmlformats.org/drawingml/2006/table">
            <a:tbl>
              <a:tblPr/>
              <a:tblGrid>
                <a:gridCol w="4165600">
                  <a:extLst>
                    <a:ext uri="{9D8B030D-6E8A-4147-A177-3AD203B41FA5}">
                      <a16:colId xmlns:a16="http://schemas.microsoft.com/office/drawing/2014/main" val="827581824"/>
                    </a:ext>
                  </a:extLst>
                </a:gridCol>
              </a:tblGrid>
              <a:tr h="993236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Common Sizes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A4 (Most Academic Reports)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Letter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Legal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765074"/>
                  </a:ext>
                </a:extLst>
              </a:tr>
              <a:tr h="4256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6722859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5D5CC34-877C-69C5-AF56-8C948F7B0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79796"/>
              </p:ext>
            </p:extLst>
          </p:nvPr>
        </p:nvGraphicFramePr>
        <p:xfrm>
          <a:off x="838200" y="5487035"/>
          <a:ext cx="10515600" cy="10058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502815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Recommended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A4 (210 × 297 mm)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57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62435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471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42173-A496-E235-853A-6DFD19AF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FFAA6-4908-5904-5C92-D29A234C9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Margins?</a:t>
            </a:r>
          </a:p>
          <a:p>
            <a:pPr lvl="1"/>
            <a:r>
              <a:rPr lang="en-US" dirty="0"/>
              <a:t>The blank spaces around the page.</a:t>
            </a:r>
          </a:p>
          <a:p>
            <a:endParaRPr lang="en-US" dirty="0"/>
          </a:p>
          <a:p>
            <a:r>
              <a:rPr lang="en-US" dirty="0"/>
              <a:t>Typical A4 Margins</a:t>
            </a:r>
          </a:p>
          <a:p>
            <a:pPr lvl="1"/>
            <a:r>
              <a:rPr lang="en-US" dirty="0"/>
              <a:t>Top: 2.54 cm</a:t>
            </a:r>
          </a:p>
          <a:p>
            <a:pPr lvl="1"/>
            <a:r>
              <a:rPr lang="en-US" dirty="0"/>
              <a:t>Bottom: 2.54 cm</a:t>
            </a:r>
          </a:p>
          <a:p>
            <a:pPr lvl="1"/>
            <a:r>
              <a:rPr lang="en-US" dirty="0"/>
              <a:t>Left: 2.54 cm</a:t>
            </a:r>
          </a:p>
          <a:p>
            <a:pPr lvl="1"/>
            <a:r>
              <a:rPr lang="en-US" dirty="0"/>
              <a:t>Right: 2.54 cm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B46C65-3ADB-9C79-5DD7-7A0B6BB717F2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1619721"/>
          <a:ext cx="4741190" cy="1554480"/>
        </p:xfrm>
        <a:graphic>
          <a:graphicData uri="http://schemas.openxmlformats.org/drawingml/2006/table">
            <a:tbl>
              <a:tblPr/>
              <a:tblGrid>
                <a:gridCol w="4741190">
                  <a:extLst>
                    <a:ext uri="{9D8B030D-6E8A-4147-A177-3AD203B41FA5}">
                      <a16:colId xmlns:a16="http://schemas.microsoft.com/office/drawing/2014/main" val="1445034059"/>
                    </a:ext>
                  </a:extLst>
                </a:gridCol>
              </a:tblGrid>
              <a:tr h="1160192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Purpose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Improve readability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Allow room for printing and binding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Create a balanced appearance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818926"/>
                  </a:ext>
                </a:extLst>
              </a:tr>
              <a:tr h="3569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87868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561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484F-C939-629F-07A0-50383808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280C9-DBBE-DD97-3080-AF80DF722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50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What is Orientation?</a:t>
            </a:r>
          </a:p>
          <a:p>
            <a:pPr lvl="1"/>
            <a:r>
              <a:rPr lang="en-US" dirty="0"/>
              <a:t>The direction of the page.</a:t>
            </a:r>
          </a:p>
          <a:p>
            <a:r>
              <a:rPr lang="en-US" dirty="0"/>
              <a:t>Portrait</a:t>
            </a:r>
          </a:p>
          <a:p>
            <a:pPr lvl="1"/>
            <a:r>
              <a:rPr lang="en-US" dirty="0"/>
              <a:t>Vertical layout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Landscape</a:t>
            </a:r>
          </a:p>
          <a:p>
            <a:pPr lvl="1"/>
            <a:r>
              <a:rPr lang="en-US" dirty="0"/>
              <a:t>Horizontal layout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6FF314-7E27-8D8E-05DA-E030139641C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51843"/>
          <a:ext cx="10515600" cy="10058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248943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Recommendation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Use Portrait for most report pages.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52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213343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D02FA6-72D0-8ED4-8F11-B6B5F4397B1D}"/>
              </a:ext>
            </a:extLst>
          </p:cNvPr>
          <p:cNvGraphicFramePr>
            <a:graphicFrameLocks noGrp="1"/>
          </p:cNvGraphicFramePr>
          <p:nvPr/>
        </p:nvGraphicFramePr>
        <p:xfrm>
          <a:off x="3965929" y="4023100"/>
          <a:ext cx="1799440" cy="1554480"/>
        </p:xfrm>
        <a:graphic>
          <a:graphicData uri="http://schemas.openxmlformats.org/drawingml/2006/table">
            <a:tbl>
              <a:tblPr/>
              <a:tblGrid>
                <a:gridCol w="1799440">
                  <a:extLst>
                    <a:ext uri="{9D8B030D-6E8A-4147-A177-3AD203B41FA5}">
                      <a16:colId xmlns:a16="http://schemas.microsoft.com/office/drawing/2014/main" val="1768790103"/>
                    </a:ext>
                  </a:extLst>
                </a:gridCol>
              </a:tblGrid>
              <a:tr h="1085017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Used for: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Large tables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Wide charts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Diagrams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436811"/>
                  </a:ext>
                </a:extLst>
              </a:tr>
              <a:tr h="3338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3172327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2E1BE6-08E8-F581-B87C-823AB8F68674}"/>
              </a:ext>
            </a:extLst>
          </p:cNvPr>
          <p:cNvGraphicFramePr>
            <a:graphicFrameLocks noGrp="1"/>
          </p:cNvGraphicFramePr>
          <p:nvPr/>
        </p:nvGraphicFramePr>
        <p:xfrm>
          <a:off x="3507784" y="2331489"/>
          <a:ext cx="1932122" cy="1554480"/>
        </p:xfrm>
        <a:graphic>
          <a:graphicData uri="http://schemas.openxmlformats.org/drawingml/2006/table">
            <a:tbl>
              <a:tblPr/>
              <a:tblGrid>
                <a:gridCol w="1932122">
                  <a:extLst>
                    <a:ext uri="{9D8B030D-6E8A-4147-A177-3AD203B41FA5}">
                      <a16:colId xmlns:a16="http://schemas.microsoft.com/office/drawing/2014/main" val="1120586377"/>
                    </a:ext>
                  </a:extLst>
                </a:gridCol>
              </a:tblGrid>
              <a:tr h="1131722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Used for: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Reports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Assignments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Research papers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337538"/>
                  </a:ext>
                </a:extLst>
              </a:tr>
              <a:tr h="3482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79390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977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6B20-151F-9C78-B13A-700CEEE60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Sections in a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64D02-F85F-BD0F-621F-A36102498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132270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What are Sections?</a:t>
            </a:r>
          </a:p>
          <a:p>
            <a:pPr lvl="1"/>
            <a:r>
              <a:rPr lang="en-US" dirty="0"/>
              <a:t>Sections divide a report into logical parts.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sz="500" dirty="0"/>
          </a:p>
          <a:p>
            <a:r>
              <a:rPr lang="en-US" dirty="0"/>
              <a:t>Benefit</a:t>
            </a:r>
          </a:p>
          <a:p>
            <a:pPr lvl="1"/>
            <a:r>
              <a:rPr lang="en-US" dirty="0"/>
              <a:t>Allows different formatting in different parts of the report.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39713F-4EC2-C80F-8245-37DC4AA23F64}"/>
              </a:ext>
            </a:extLst>
          </p:cNvPr>
          <p:cNvGraphicFramePr>
            <a:graphicFrameLocks noGrp="1"/>
          </p:cNvGraphicFramePr>
          <p:nvPr/>
        </p:nvGraphicFramePr>
        <p:xfrm>
          <a:off x="1000760" y="2311401"/>
          <a:ext cx="3850640" cy="1828800"/>
        </p:xfrm>
        <a:graphic>
          <a:graphicData uri="http://schemas.openxmlformats.org/drawingml/2006/table">
            <a:tbl>
              <a:tblPr/>
              <a:tblGrid>
                <a:gridCol w="3850640">
                  <a:extLst>
                    <a:ext uri="{9D8B030D-6E8A-4147-A177-3AD203B41FA5}">
                      <a16:colId xmlns:a16="http://schemas.microsoft.com/office/drawing/2014/main" val="4075014224"/>
                    </a:ext>
                  </a:extLst>
                </a:gridCol>
              </a:tblGrid>
              <a:tr h="1231391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Section 1: Cover Page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Section 2: Table of Contents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Section 3: Main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Section 4: Appendices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366908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6146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614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32D96-C146-ED90-ED62-2845ACDC6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7979B-489E-6C60-A074-38DB92883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is a Header?</a:t>
            </a:r>
          </a:p>
          <a:p>
            <a:r>
              <a:rPr lang="en-US" dirty="0"/>
              <a:t>Information displayed at the top of each page.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Identifies document</a:t>
            </a:r>
          </a:p>
          <a:p>
            <a:pPr lvl="1"/>
            <a:r>
              <a:rPr lang="en-US" dirty="0"/>
              <a:t>Improves professionalism</a:t>
            </a:r>
          </a:p>
          <a:p>
            <a:pPr lvl="1"/>
            <a:r>
              <a:rPr lang="en-US" dirty="0"/>
              <a:t>Helps navigation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916D0A-BFC2-C4DF-2E12-07A68EEF3C3C}"/>
              </a:ext>
            </a:extLst>
          </p:cNvPr>
          <p:cNvGraphicFramePr>
            <a:graphicFrameLocks noGrp="1"/>
          </p:cNvGraphicFramePr>
          <p:nvPr/>
        </p:nvGraphicFramePr>
        <p:xfrm>
          <a:off x="1132840" y="2839720"/>
          <a:ext cx="3505200" cy="170513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27886284"/>
                    </a:ext>
                  </a:extLst>
                </a:gridCol>
              </a:tblGrid>
              <a:tr h="1303926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Report Writing Module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AI in Education Project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Student Report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367921"/>
                  </a:ext>
                </a:extLst>
              </a:tr>
              <a:tr h="4012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76492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798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FA18C-562C-D4BE-8109-01C39F328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2B522-65A5-23C1-08A9-F9BDF6ACC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Footer?</a:t>
            </a:r>
          </a:p>
          <a:p>
            <a:r>
              <a:rPr lang="en-US" dirty="0"/>
              <a:t>Information displayed at the bottom of each page.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Consistent identification</a:t>
            </a:r>
          </a:p>
          <a:p>
            <a:pPr lvl="1"/>
            <a:r>
              <a:rPr lang="en-US" dirty="0"/>
              <a:t>Professional appearance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1815863-2520-F441-DF7C-5232896AD5B5}"/>
              </a:ext>
            </a:extLst>
          </p:cNvPr>
          <p:cNvGraphicFramePr>
            <a:graphicFrameLocks noGrp="1"/>
          </p:cNvGraphicFramePr>
          <p:nvPr/>
        </p:nvGraphicFramePr>
        <p:xfrm>
          <a:off x="1082040" y="3098800"/>
          <a:ext cx="3251200" cy="1599248"/>
        </p:xfrm>
        <a:graphic>
          <a:graphicData uri="http://schemas.openxmlformats.org/drawingml/2006/table">
            <a:tbl>
              <a:tblPr/>
              <a:tblGrid>
                <a:gridCol w="3251200">
                  <a:extLst>
                    <a:ext uri="{9D8B030D-6E8A-4147-A177-3AD203B41FA5}">
                      <a16:colId xmlns:a16="http://schemas.microsoft.com/office/drawing/2014/main" val="4277427137"/>
                    </a:ext>
                  </a:extLst>
                </a:gridCol>
              </a:tblGrid>
              <a:tr h="957897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Student Name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Student ID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Department </a:t>
                      </a:r>
                      <a:r>
                        <a:rPr lang="en-US" sz="1800" b="0" i="0" dirty="0" err="1">
                          <a:effectLst/>
                          <a:latin typeface="Segoe UI" panose="020B0502040204020203" pitchFamily="34" charset="0"/>
                        </a:rPr>
                        <a:t>Namex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048076"/>
                  </a:ext>
                </a:extLst>
              </a:tr>
              <a:tr h="4105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84241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292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4800-0D14-D528-B10B-A638D699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9377-E4A4-FB8F-B480-FBBA31B41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Use Page Numbers?</a:t>
            </a:r>
          </a:p>
          <a:p>
            <a:pPr lvl="1"/>
            <a:r>
              <a:rPr lang="en-US" dirty="0"/>
              <a:t>Page numbers help:</a:t>
            </a:r>
          </a:p>
          <a:p>
            <a:pPr lvl="1"/>
            <a:r>
              <a:rPr lang="en-US" dirty="0"/>
              <a:t>Navigation</a:t>
            </a:r>
          </a:p>
          <a:p>
            <a:pPr lvl="1"/>
            <a:r>
              <a:rPr lang="en-US" dirty="0"/>
              <a:t>Referencing</a:t>
            </a:r>
          </a:p>
          <a:p>
            <a:pPr lvl="1"/>
            <a:r>
              <a:rPr lang="en-US" dirty="0"/>
              <a:t>TOC generation</a:t>
            </a:r>
          </a:p>
          <a:p>
            <a:pPr lvl="1"/>
            <a:r>
              <a:rPr lang="en-US" dirty="0"/>
              <a:t>Printing and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227651-ED06-6527-6B1C-55A453AF2E96}"/>
              </a:ext>
            </a:extLst>
          </p:cNvPr>
          <p:cNvGraphicFramePr>
            <a:graphicFrameLocks noGrp="1"/>
          </p:cNvGraphicFramePr>
          <p:nvPr/>
        </p:nvGraphicFramePr>
        <p:xfrm>
          <a:off x="7609390" y="1877710"/>
          <a:ext cx="2744164" cy="2468880"/>
        </p:xfrm>
        <a:graphic>
          <a:graphicData uri="http://schemas.openxmlformats.org/drawingml/2006/table">
            <a:tbl>
              <a:tblPr/>
              <a:tblGrid>
                <a:gridCol w="2744164">
                  <a:extLst>
                    <a:ext uri="{9D8B030D-6E8A-4147-A177-3AD203B41FA5}">
                      <a16:colId xmlns:a16="http://schemas.microsoft.com/office/drawing/2014/main" val="3674742648"/>
                    </a:ext>
                  </a:extLst>
                </a:gridCol>
              </a:tblGrid>
              <a:tr h="771834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Common Placement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Bottom Centre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Bottom Right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91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Page 1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Page 2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Page 3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848829"/>
                  </a:ext>
                </a:extLst>
              </a:tr>
              <a:tr h="3087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89624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058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5481-D6F7-B255-7DF0-00D324A60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5E94E-5891-332D-1144-540BBA451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report should have clear sections.</a:t>
            </a:r>
          </a:p>
          <a:p>
            <a:r>
              <a:rPr lang="en-US" dirty="0"/>
              <a:t>1 Introduction</a:t>
            </a:r>
          </a:p>
          <a:p>
            <a:r>
              <a:rPr lang="en-US" dirty="0"/>
              <a:t>1.1 Background</a:t>
            </a:r>
          </a:p>
          <a:p>
            <a:r>
              <a:rPr lang="en-US" dirty="0"/>
              <a:t>1.2 Aim</a:t>
            </a:r>
          </a:p>
          <a:p>
            <a:r>
              <a:rPr lang="en-US" dirty="0"/>
              <a:t>1.3 Objectives</a:t>
            </a:r>
          </a:p>
          <a:p>
            <a:r>
              <a:rPr lang="en-US" dirty="0"/>
              <a:t>1.4 Scope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6F5C62-A647-E1A3-3D4F-0D43306EF554}"/>
              </a:ext>
            </a:extLst>
          </p:cNvPr>
          <p:cNvGraphicFramePr>
            <a:graphicFrameLocks noGrp="1"/>
          </p:cNvGraphicFramePr>
          <p:nvPr/>
        </p:nvGraphicFramePr>
        <p:xfrm>
          <a:off x="6961207" y="1928198"/>
          <a:ext cx="4526666" cy="1520405"/>
        </p:xfrm>
        <a:graphic>
          <a:graphicData uri="http://schemas.openxmlformats.org/drawingml/2006/table">
            <a:tbl>
              <a:tblPr/>
              <a:tblGrid>
                <a:gridCol w="4526666">
                  <a:extLst>
                    <a:ext uri="{9D8B030D-6E8A-4147-A177-3AD203B41FA5}">
                      <a16:colId xmlns:a16="http://schemas.microsoft.com/office/drawing/2014/main" val="1687947394"/>
                    </a:ext>
                  </a:extLst>
                </a:gridCol>
              </a:tblGrid>
              <a:tr h="1086004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Use: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Heading 1 → Main Chapter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Heading 2 → Subsections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738189"/>
                  </a:ext>
                </a:extLst>
              </a:tr>
              <a:tr h="4344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14027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465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23A5D-1D43-E164-711D-8070DC42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FF0B01-C130-2442-8E2B-E38562D247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81703"/>
          <a:ext cx="10515600" cy="46696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865117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Today you will write: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 Introduction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1.1 Background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What is the topic?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1.2 Aim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What does the report investigate?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1.3 Objectives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What are we trying to achieve?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1.4 Scope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What does the report cover?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001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78668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356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C507B-D1D5-551C-085C-AB93980B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Good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FD3DD-A8C0-F04A-EDA8-562F5B705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Objectives should begin with action verbs.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To identify</a:t>
            </a:r>
          </a:p>
          <a:p>
            <a:pPr lvl="1"/>
            <a:r>
              <a:rPr lang="en-US" dirty="0"/>
              <a:t>To examine</a:t>
            </a:r>
          </a:p>
          <a:p>
            <a:pPr lvl="1"/>
            <a:r>
              <a:rPr lang="en-US" dirty="0"/>
              <a:t>To analyze</a:t>
            </a:r>
          </a:p>
          <a:p>
            <a:pPr lvl="1"/>
            <a:r>
              <a:rPr lang="en-US" dirty="0"/>
              <a:t>To evaluate</a:t>
            </a:r>
          </a:p>
          <a:p>
            <a:pPr lvl="1"/>
            <a:r>
              <a:rPr lang="en-US" dirty="0"/>
              <a:t>To recommend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CA73B8-04A1-3597-883F-2C1640E87A9F}"/>
              </a:ext>
            </a:extLst>
          </p:cNvPr>
          <p:cNvGraphicFramePr>
            <a:graphicFrameLocks noGrp="1"/>
          </p:cNvGraphicFramePr>
          <p:nvPr/>
        </p:nvGraphicFramePr>
        <p:xfrm>
          <a:off x="1006033" y="4930815"/>
          <a:ext cx="5319532" cy="1613258"/>
        </p:xfrm>
        <a:graphic>
          <a:graphicData uri="http://schemas.openxmlformats.org/drawingml/2006/table">
            <a:tbl>
              <a:tblPr/>
              <a:tblGrid>
                <a:gridCol w="5319532">
                  <a:extLst>
                    <a:ext uri="{9D8B030D-6E8A-4147-A177-3AD203B41FA5}">
                      <a16:colId xmlns:a16="http://schemas.microsoft.com/office/drawing/2014/main" val="3680342625"/>
                    </a:ext>
                  </a:extLst>
                </a:gridCol>
              </a:tblGrid>
              <a:tr h="1233668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To identify the applications of AI in education.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To examine benefits of AI for students.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To evaluate challenges of AI adoption.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651682"/>
                  </a:ext>
                </a:extLst>
              </a:tr>
              <a:tr h="379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365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691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6028-D6E0-D806-1245-A7172ADC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263301-2048-2DD5-DAED-5D74000C9A0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30797" y="1690688"/>
          <a:ext cx="10515600" cy="34351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294226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Avoid: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❌ Multiple fonts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❌ Multiple font sizes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❌ Very long paragraphs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❌ No headings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❌ Copy-paste from websites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❌ Inconsistent formatting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66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55866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173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526C-7ECC-6C99-C5BE-D79CCB4F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Report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E438-A1DF-1407-6D59-1EB416BB9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this coursework:</a:t>
            </a:r>
          </a:p>
          <a:p>
            <a:pPr lvl="1"/>
            <a:r>
              <a:rPr lang="en-US" dirty="0"/>
              <a:t>Document Format</a:t>
            </a:r>
          </a:p>
          <a:p>
            <a:pPr lvl="1"/>
            <a:r>
              <a:rPr lang="en-US" dirty="0"/>
              <a:t>Paper Size: A4</a:t>
            </a:r>
          </a:p>
          <a:p>
            <a:pPr lvl="1"/>
            <a:r>
              <a:rPr lang="en-US" dirty="0"/>
              <a:t>Orientation: Portrait</a:t>
            </a:r>
          </a:p>
          <a:p>
            <a:pPr lvl="1"/>
            <a:r>
              <a:rPr lang="en-US" dirty="0"/>
              <a:t>Margins: Normal</a:t>
            </a:r>
          </a:p>
          <a:p>
            <a:pPr lvl="1"/>
            <a:r>
              <a:rPr lang="en-US" dirty="0"/>
              <a:t>Font: Times New Roman</a:t>
            </a:r>
          </a:p>
          <a:p>
            <a:pPr lvl="1"/>
            <a:r>
              <a:rPr lang="en-US" dirty="0"/>
              <a:t>Font Size: 12pt</a:t>
            </a:r>
          </a:p>
          <a:p>
            <a:pPr lvl="1"/>
            <a:r>
              <a:rPr lang="en-US" dirty="0"/>
              <a:t>Line Spacing: 1.5</a:t>
            </a:r>
          </a:p>
          <a:p>
            <a:pPr lvl="1"/>
            <a:r>
              <a:rPr lang="en-US" dirty="0"/>
              <a:t>Alignment: Justified</a:t>
            </a:r>
          </a:p>
          <a:p>
            <a:pPr lvl="1"/>
            <a:r>
              <a:rPr lang="en-US" dirty="0"/>
              <a:t>Page Numbers: Bottom Centre</a:t>
            </a:r>
          </a:p>
        </p:txBody>
      </p:sp>
    </p:spTree>
    <p:extLst>
      <p:ext uri="{BB962C8B-B14F-4D97-AF65-F5344CB8AC3E}">
        <p14:creationId xmlns:p14="http://schemas.microsoft.com/office/powerpoint/2010/main" val="630778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792FC-8E23-64AA-9E66-9D00E37A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Practical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55EDF-2189-D35E-B78C-67AA57FD3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will create:</a:t>
            </a:r>
          </a:p>
          <a:p>
            <a:pPr lvl="1"/>
            <a:r>
              <a:rPr lang="en-US" dirty="0"/>
              <a:t>Cover Page</a:t>
            </a:r>
          </a:p>
          <a:p>
            <a:pPr lvl="1"/>
            <a:r>
              <a:rPr lang="en-US" dirty="0"/>
              <a:t> Student Information Page</a:t>
            </a:r>
          </a:p>
          <a:p>
            <a:pPr lvl="1"/>
            <a:r>
              <a:rPr lang="en-US" dirty="0"/>
              <a:t>Table of Contents Page</a:t>
            </a:r>
          </a:p>
          <a:p>
            <a:pPr lvl="1"/>
            <a:r>
              <a:rPr lang="en-US" dirty="0"/>
              <a:t>Header</a:t>
            </a:r>
          </a:p>
          <a:p>
            <a:pPr lvl="1"/>
            <a:r>
              <a:rPr lang="en-US" dirty="0"/>
              <a:t> Footer</a:t>
            </a:r>
          </a:p>
          <a:p>
            <a:pPr lvl="1"/>
            <a:r>
              <a:rPr lang="en-US" dirty="0"/>
              <a:t> Page Numbering</a:t>
            </a:r>
          </a:p>
          <a:p>
            <a:pPr lvl="1"/>
            <a:r>
              <a:rPr lang="en-US" dirty="0"/>
              <a:t> Basic Report Template</a:t>
            </a:r>
          </a:p>
        </p:txBody>
      </p:sp>
    </p:spTree>
    <p:extLst>
      <p:ext uri="{BB962C8B-B14F-4D97-AF65-F5344CB8AC3E}">
        <p14:creationId xmlns:p14="http://schemas.microsoft.com/office/powerpoint/2010/main" val="3080709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1544</Words>
  <Application>Microsoft Office PowerPoint</Application>
  <PresentationFormat>Widescreen</PresentationFormat>
  <Paragraphs>372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Segoe UI</vt:lpstr>
      <vt:lpstr>Office Theme</vt:lpstr>
      <vt:lpstr>Introduction to Report Writing &amp; Project Setup</vt:lpstr>
      <vt:lpstr>What is a Report?</vt:lpstr>
      <vt:lpstr>Purpose of a Report</vt:lpstr>
      <vt:lpstr>Common Types of Reports</vt:lpstr>
      <vt:lpstr>Common Types of Reports</vt:lpstr>
      <vt:lpstr>Characteristics of a Good Report</vt:lpstr>
      <vt:lpstr>Difference Between Essay and Report</vt:lpstr>
      <vt:lpstr>Formal Writing</vt:lpstr>
      <vt:lpstr>Formal Writing Examples</vt:lpstr>
      <vt:lpstr>Structured Writing</vt:lpstr>
      <vt:lpstr>Benefits of Structure</vt:lpstr>
      <vt:lpstr>Evidence-Based Writing</vt:lpstr>
      <vt:lpstr>Evidence-Based Writing</vt:lpstr>
      <vt:lpstr>Objective Writing</vt:lpstr>
      <vt:lpstr>Benefits of Objectivity</vt:lpstr>
      <vt:lpstr>Summary</vt:lpstr>
      <vt:lpstr>Day 2: Document Setup and Professional Layout</vt:lpstr>
      <vt:lpstr>Day 2: Document Setup and Professional Layout</vt:lpstr>
      <vt:lpstr>Day 2: Document Setup and Professional Layout</vt:lpstr>
      <vt:lpstr>Day 2: Components of a Professional Report Layout</vt:lpstr>
      <vt:lpstr>Day 2: Page Size</vt:lpstr>
      <vt:lpstr>Margins</vt:lpstr>
      <vt:lpstr>Orientation</vt:lpstr>
      <vt:lpstr>Sections in a Report</vt:lpstr>
      <vt:lpstr>Headers</vt:lpstr>
      <vt:lpstr>Footers</vt:lpstr>
      <vt:lpstr>Page Numbers</vt:lpstr>
      <vt:lpstr>Heading Hierarchy</vt:lpstr>
      <vt:lpstr>Chapter 1 Structure</vt:lpstr>
      <vt:lpstr>Writing Good Objectives</vt:lpstr>
      <vt:lpstr>Common Mistakes</vt:lpstr>
      <vt:lpstr>Recommended Report Settings</vt:lpstr>
      <vt:lpstr>Today's Practical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Rai, Upama</dc:creator>
  <cp:lastModifiedBy>Rai, Upama</cp:lastModifiedBy>
  <cp:revision>1</cp:revision>
  <dcterms:created xsi:type="dcterms:W3CDTF">2026-08-19T01:19:16Z</dcterms:created>
  <dcterms:modified xsi:type="dcterms:W3CDTF">2026-08-21T00:23:33Z</dcterms:modified>
</cp:coreProperties>
</file>