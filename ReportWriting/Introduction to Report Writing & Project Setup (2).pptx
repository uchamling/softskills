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306" r:id="rId3"/>
    <p:sldId id="258" r:id="rId4"/>
    <p:sldId id="259" r:id="rId5"/>
    <p:sldId id="270" r:id="rId6"/>
    <p:sldId id="260" r:id="rId7"/>
    <p:sldId id="271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3" r:id="rId18"/>
    <p:sldId id="274" r:id="rId19"/>
    <p:sldId id="275" r:id="rId20"/>
    <p:sldId id="276" r:id="rId21"/>
    <p:sldId id="283" r:id="rId22"/>
    <p:sldId id="278" r:id="rId23"/>
    <p:sldId id="279" r:id="rId24"/>
    <p:sldId id="280" r:id="rId25"/>
    <p:sldId id="281" r:id="rId26"/>
    <p:sldId id="282" r:id="rId27"/>
    <p:sldId id="284" r:id="rId28"/>
    <p:sldId id="289" r:id="rId29"/>
    <p:sldId id="290" r:id="rId30"/>
    <p:sldId id="291" r:id="rId31"/>
    <p:sldId id="292" r:id="rId32"/>
    <p:sldId id="285" r:id="rId33"/>
    <p:sldId id="313" r:id="rId34"/>
    <p:sldId id="314" r:id="rId35"/>
    <p:sldId id="315" r:id="rId36"/>
    <p:sldId id="316" r:id="rId37"/>
    <p:sldId id="293" r:id="rId38"/>
    <p:sldId id="294" r:id="rId39"/>
    <p:sldId id="295" r:id="rId40"/>
    <p:sldId id="296" r:id="rId41"/>
    <p:sldId id="297" r:id="rId42"/>
    <p:sldId id="299" r:id="rId43"/>
    <p:sldId id="298" r:id="rId44"/>
    <p:sldId id="318" r:id="rId45"/>
    <p:sldId id="300" r:id="rId46"/>
    <p:sldId id="301" r:id="rId47"/>
    <p:sldId id="302" r:id="rId48"/>
    <p:sldId id="303" r:id="rId49"/>
    <p:sldId id="286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BBB8F4-DE55-4BB7-BC91-90F90D6E8E1D}" v="18" dt="2026-08-19T06:00:14.9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49" autoAdjust="0"/>
    <p:restoredTop sz="94660"/>
  </p:normalViewPr>
  <p:slideViewPr>
    <p:cSldViewPr snapToGrid="0">
      <p:cViewPr>
        <p:scale>
          <a:sx n="92" d="100"/>
          <a:sy n="92" d="100"/>
        </p:scale>
        <p:origin x="89" y="3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i, Upama" userId="d8ca7f89-5e54-445b-9d24-0c0dc93119ec" providerId="ADAL" clId="{23F3D788-E39F-4307-9F13-A8E13E4C9956}"/>
    <pc:docChg chg="undo custSel addSld delSld modSld sldOrd">
      <pc:chgData name="Rai, Upama" userId="d8ca7f89-5e54-445b-9d24-0c0dc93119ec" providerId="ADAL" clId="{23F3D788-E39F-4307-9F13-A8E13E4C9956}" dt="2026-08-21T00:23:24.799" v="91" actId="2696"/>
      <pc:docMkLst>
        <pc:docMk/>
      </pc:docMkLst>
      <pc:sldChg chg="modSp mod">
        <pc:chgData name="Rai, Upama" userId="d8ca7f89-5e54-445b-9d24-0c0dc93119ec" providerId="ADAL" clId="{23F3D788-E39F-4307-9F13-A8E13E4C9956}" dt="2026-08-19T05:16:16.052" v="14" actId="20577"/>
        <pc:sldMkLst>
          <pc:docMk/>
          <pc:sldMk cId="2937160207" sldId="272"/>
        </pc:sldMkLst>
        <pc:spChg chg="mod">
          <ac:chgData name="Rai, Upama" userId="d8ca7f89-5e54-445b-9d24-0c0dc93119ec" providerId="ADAL" clId="{23F3D788-E39F-4307-9F13-A8E13E4C9956}" dt="2026-08-19T05:16:16.052" v="14" actId="20577"/>
          <ac:spMkLst>
            <pc:docMk/>
            <pc:sldMk cId="2937160207" sldId="272"/>
            <ac:spMk id="2" creationId="{58A67432-6285-45ED-A072-8C1F0C152B5F}"/>
          </ac:spMkLst>
        </pc:spChg>
        <pc:spChg chg="mod">
          <ac:chgData name="Rai, Upama" userId="d8ca7f89-5e54-445b-9d24-0c0dc93119ec" providerId="ADAL" clId="{23F3D788-E39F-4307-9F13-A8E13E4C9956}" dt="2026-08-19T05:16:15.651" v="13" actId="20577"/>
          <ac:spMkLst>
            <pc:docMk/>
            <pc:sldMk cId="2937160207" sldId="272"/>
            <ac:spMk id="3" creationId="{B9F3507B-AD8F-DC48-731D-B01701F5DFE8}"/>
          </ac:spMkLst>
        </pc:spChg>
      </pc:sldChg>
      <pc:sldChg chg="add del">
        <pc:chgData name="Rai, Upama" userId="d8ca7f89-5e54-445b-9d24-0c0dc93119ec" providerId="ADAL" clId="{23F3D788-E39F-4307-9F13-A8E13E4C9956}" dt="2026-08-21T00:22:43.727" v="90" actId="2696"/>
        <pc:sldMkLst>
          <pc:docMk/>
          <pc:sldMk cId="1651203032" sldId="304"/>
        </pc:sldMkLst>
      </pc:sldChg>
      <pc:sldChg chg="add del">
        <pc:chgData name="Rai, Upama" userId="d8ca7f89-5e54-445b-9d24-0c0dc93119ec" providerId="ADAL" clId="{23F3D788-E39F-4307-9F13-A8E13E4C9956}" dt="2026-08-21T00:22:43.727" v="90" actId="2696"/>
        <pc:sldMkLst>
          <pc:docMk/>
          <pc:sldMk cId="1635492909" sldId="305"/>
        </pc:sldMkLst>
      </pc:sldChg>
      <pc:sldChg chg="addSp delSp modSp new del">
        <pc:chgData name="Rai, Upama" userId="d8ca7f89-5e54-445b-9d24-0c0dc93119ec" providerId="ADAL" clId="{23F3D788-E39F-4307-9F13-A8E13E4C9956}" dt="2026-08-21T00:23:24.799" v="91" actId="2696"/>
        <pc:sldMkLst>
          <pc:docMk/>
          <pc:sldMk cId="389096957" sldId="307"/>
        </pc:sldMkLst>
        <pc:graphicFrameChg chg="add mod">
          <ac:chgData name="Rai, Upama" userId="d8ca7f89-5e54-445b-9d24-0c0dc93119ec" providerId="ADAL" clId="{23F3D788-E39F-4307-9F13-A8E13E4C9956}" dt="2026-08-19T05:15:04.489" v="2" actId="21"/>
          <ac:graphicFrameMkLst>
            <pc:docMk/>
            <pc:sldMk cId="389096957" sldId="307"/>
            <ac:graphicFrameMk id="4" creationId="{103F0655-3B0C-1084-0764-4853A9774C59}"/>
          </ac:graphicFrameMkLst>
        </pc:graphicFrameChg>
      </pc:sldChg>
      <pc:sldChg chg="addSp delSp modSp new del mod">
        <pc:chgData name="Rai, Upama" userId="d8ca7f89-5e54-445b-9d24-0c0dc93119ec" providerId="ADAL" clId="{23F3D788-E39F-4307-9F13-A8E13E4C9956}" dt="2026-08-21T00:23:24.799" v="91" actId="2696"/>
        <pc:sldMkLst>
          <pc:docMk/>
          <pc:sldMk cId="505761938" sldId="308"/>
        </pc:sldMkLst>
        <pc:graphicFrameChg chg="add mod">
          <ac:chgData name="Rai, Upama" userId="d8ca7f89-5e54-445b-9d24-0c0dc93119ec" providerId="ADAL" clId="{23F3D788-E39F-4307-9F13-A8E13E4C9956}" dt="2026-08-19T05:15:30.021" v="6" actId="1076"/>
          <ac:graphicFrameMkLst>
            <pc:docMk/>
            <pc:sldMk cId="505761938" sldId="308"/>
            <ac:graphicFrameMk id="4" creationId="{FEEAB807-BE99-E82E-21B4-E095C7C3770B}"/>
          </ac:graphicFrameMkLst>
        </pc:graphicFrameChg>
        <pc:graphicFrameChg chg="add mod">
          <ac:chgData name="Rai, Upama" userId="d8ca7f89-5e54-445b-9d24-0c0dc93119ec" providerId="ADAL" clId="{23F3D788-E39F-4307-9F13-A8E13E4C9956}" dt="2026-08-19T05:15:37.009" v="8" actId="1076"/>
          <ac:graphicFrameMkLst>
            <pc:docMk/>
            <pc:sldMk cId="505761938" sldId="308"/>
            <ac:graphicFrameMk id="5" creationId="{2985A157-7D87-29B4-A9F7-EA6A0754EEA3}"/>
          </ac:graphicFrameMkLst>
        </pc:graphicFrameChg>
      </pc:sldChg>
      <pc:sldChg chg="modSp new del">
        <pc:chgData name="Rai, Upama" userId="d8ca7f89-5e54-445b-9d24-0c0dc93119ec" providerId="ADAL" clId="{23F3D788-E39F-4307-9F13-A8E13E4C9956}" dt="2026-08-21T00:22:43.727" v="90" actId="2696"/>
        <pc:sldMkLst>
          <pc:docMk/>
          <pc:sldMk cId="3789853278" sldId="311"/>
        </pc:sldMkLst>
      </pc:sldChg>
      <pc:sldChg chg="addSp delSp modSp new del mod">
        <pc:chgData name="Rai, Upama" userId="d8ca7f89-5e54-445b-9d24-0c0dc93119ec" providerId="ADAL" clId="{23F3D788-E39F-4307-9F13-A8E13E4C9956}" dt="2026-08-21T00:22:43.727" v="90" actId="2696"/>
        <pc:sldMkLst>
          <pc:docMk/>
          <pc:sldMk cId="1035932967" sldId="312"/>
        </pc:sldMkLst>
      </pc:sldChg>
      <pc:sldChg chg="addSp delSp modSp new del mod">
        <pc:chgData name="Rai, Upama" userId="d8ca7f89-5e54-445b-9d24-0c0dc93119ec" providerId="ADAL" clId="{23F3D788-E39F-4307-9F13-A8E13E4C9956}" dt="2026-08-21T00:22:43.727" v="90" actId="2696"/>
        <pc:sldMkLst>
          <pc:docMk/>
          <pc:sldMk cId="4269810407" sldId="313"/>
        </pc:sldMkLst>
      </pc:sldChg>
      <pc:sldChg chg="modSp new del mod ord">
        <pc:chgData name="Rai, Upama" userId="d8ca7f89-5e54-445b-9d24-0c0dc93119ec" providerId="ADAL" clId="{23F3D788-E39F-4307-9F13-A8E13E4C9956}" dt="2026-08-21T00:22:43.727" v="90" actId="2696"/>
        <pc:sldMkLst>
          <pc:docMk/>
          <pc:sldMk cId="2610336415" sldId="31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749F8-AC5E-0F89-52C8-D802D307C6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50AF8E-3E36-F492-9ECC-FD47009FE0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A179D1-1B17-76E5-CFEC-69F51E766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0690F-A0F4-4646-BB3F-645E2ACAD13E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2552AE-7E6D-5CF5-CD6E-89440EB6F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62DC6E-48E9-7625-C267-8B47F2BD7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17C59-145D-4077-BDB9-49B20B24D8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04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05337-2AE3-6358-0470-9EFD5C852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442446-93FA-7811-5237-4B8D5DBFF9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0C78D7-C3EE-9CF8-CF52-6E3BBB31E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0690F-A0F4-4646-BB3F-645E2ACAD13E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DB018-73E5-C0B7-AB9A-E9F3194BC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933ED2-98D7-3101-14DC-92D14467A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17C59-145D-4077-BDB9-49B20B24D8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545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0BDBD-25B7-8FF8-0D18-2E53B487F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21E605-DC58-D5B2-5560-CBEF9F3C0A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606F74-C6BE-8630-C5A1-E702C27BD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0690F-A0F4-4646-BB3F-645E2ACAD13E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BEB37D-30BA-2735-D16F-0FB7303AB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DA9D8-5DF3-0F04-7E39-4A9C7863F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17C59-145D-4077-BDB9-49B20B24D8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72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60013-1F81-70AE-08CD-B89545FA6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A64E89-022B-013A-5DE2-049D4072A3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C4FE49-7A59-B6DA-A197-794F0EFDA6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986426-27A9-9BE8-8CBC-9655129AB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0690F-A0F4-4646-BB3F-645E2ACAD13E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A46176-EBA0-B555-955B-22204A826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33E62-3AB4-3FFD-250A-C906E931E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17C59-145D-4077-BDB9-49B20B24D8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811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13B90-983C-D4F5-D210-369735EEB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8F939C-2251-8731-7026-2E1718340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DE809A-C879-8CD0-6E4F-F8AD79383C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928936-1A8B-5F65-F609-6628AD40A6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960BBF-C0C6-B359-9636-FDDBDA8DD4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2F6C99-ED7C-F76A-3F0D-E7BD6C253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0690F-A0F4-4646-BB3F-645E2ACAD13E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7D681B-C58B-8B86-1708-1D9A63553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0355CC-D709-17CF-465A-A1F8CA892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17C59-145D-4077-BDB9-49B20B24D8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090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ABEB9-9B88-5157-D5C9-04DD5BD88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3688F3-E6C0-0261-CCB5-ADC8E1080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0690F-A0F4-4646-BB3F-645E2ACAD13E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3CAC56-81C0-BC50-DCF2-6ABB67BF5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E6CA2A-D471-E1D8-B5AA-A3972D3A2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17C59-145D-4077-BDB9-49B20B24D8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654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AE147D-F915-0027-243F-52114FA7F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0690F-A0F4-4646-BB3F-645E2ACAD13E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8FD57D-50A2-C32B-A0A8-3C39D79B4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681E43-5963-91C2-8AD5-1EB1281DF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17C59-145D-4077-BDB9-49B20B24D8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123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6E7F4-543F-7632-14A9-7D1AC25AB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2A8B6F-A98F-EFA2-C503-FEFAAF67A4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FF70AA-3332-D9EA-0EFF-0B8E8D8D73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461949-DBCF-A1D4-4C96-89E1D07B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0690F-A0F4-4646-BB3F-645E2ACAD13E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C59CF-B5D9-4453-12B0-06DC71B56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455A19-EC3F-479C-D0DF-C61A78883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17C59-145D-4077-BDB9-49B20B24D8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431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BB1B5-11CC-FA74-B701-D0665DFEA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E7F954-370C-23F3-A5FD-6D1CB2833A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DC3C2F-2FF4-D55F-DCF4-47D876449D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15542F-3B89-C125-F1FA-B100B074E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0690F-A0F4-4646-BB3F-645E2ACAD13E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3034AE-FA95-9635-5123-019F41860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BB7A2D-C4EE-8EE0-B2CF-CD6C88B8C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17C59-145D-4077-BDB9-49B20B24D8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81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D573B-18B1-EFA7-01A2-FC9D9C211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F292B9-8ADE-0D76-7771-971C47C579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6B3393-9178-0D12-D118-78DF9AECC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0690F-A0F4-4646-BB3F-645E2ACAD13E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DD9F5A-C6A2-DDFF-CF97-A9918A7D6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47134-3FFB-11B9-89B3-855A341A7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17C59-145D-4077-BDB9-49B20B24D8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388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FDA629-3732-1FFD-2FAF-67BDD6114D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35105A-9437-AF58-76AF-AD6A8675C4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FAB321-2E77-496D-C8BC-98BD89216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0690F-A0F4-4646-BB3F-645E2ACAD13E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C6575-2228-FFB4-68AE-CEC706FDF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31F678-BF06-26E1-A252-4D327723D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17C59-145D-4077-BDB9-49B20B24D8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598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3FDBDF-F89F-0E77-2C0D-3DEA1C49C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7ACC6B-B1B0-A634-3DF0-01DE95CBBA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3A8FD2-5ABE-B0FF-8011-AEC22BFD38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D0690F-A0F4-4646-BB3F-645E2ACAD13E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FBBF1D-F8A8-E08D-C866-FB0BDE6AB2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471E39-F902-134C-2147-0063FDEB17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F17C59-145D-4077-BDB9-49B20B24D8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202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4E7AD-6C6B-260B-0D2E-A674FCA93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67432-6285-45ED-A072-8C1F0C152B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06400"/>
            <a:ext cx="9144000" cy="2387600"/>
          </a:xfrm>
        </p:spPr>
        <p:txBody>
          <a:bodyPr/>
          <a:lstStyle/>
          <a:p>
            <a:r>
              <a:rPr lang="en-US" b="1" dirty="0"/>
              <a:t>Introduction to Report Writing &amp; Project Setup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F3507B-AD8F-DC48-731D-B01701F5DF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29000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Module Name: Report Writing</a:t>
            </a:r>
          </a:p>
          <a:p>
            <a:r>
              <a:rPr lang="en-US" dirty="0"/>
              <a:t>Lecturer: Upama Rai</a:t>
            </a:r>
          </a:p>
          <a:p>
            <a:r>
              <a:rPr lang="en-US" dirty="0"/>
              <a:t>Learning Outcomes</a:t>
            </a:r>
          </a:p>
          <a:p>
            <a:r>
              <a:rPr lang="en-US" dirty="0"/>
              <a:t>Assessment Requirements</a:t>
            </a:r>
          </a:p>
        </p:txBody>
      </p:sp>
    </p:spTree>
    <p:extLst>
      <p:ext uri="{BB962C8B-B14F-4D97-AF65-F5344CB8AC3E}">
        <p14:creationId xmlns:p14="http://schemas.microsoft.com/office/powerpoint/2010/main" val="29371602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0DA87-7C65-8F29-5658-629705D1E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Report?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755212-DE6B-EC2E-68D4-0BC8DBE7E6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4384"/>
            <a:ext cx="10515600" cy="4351338"/>
          </a:xfrm>
        </p:spPr>
        <p:txBody>
          <a:bodyPr/>
          <a:lstStyle/>
          <a:p>
            <a:r>
              <a:rPr lang="en-US" dirty="0" err="1"/>
              <a:t>Formal,structured</a:t>
            </a:r>
            <a:r>
              <a:rPr lang="en-US" dirty="0"/>
              <a:t> document (information, findings, analysis, and recommendations) specific topic to a particular audience.</a:t>
            </a:r>
          </a:p>
          <a:p>
            <a:r>
              <a:rPr lang="en-US" dirty="0"/>
              <a:t>Based on research, evidence, observations, or collected data and are written to communicate information clearly and objectively.</a:t>
            </a:r>
          </a:p>
          <a:p>
            <a:r>
              <a:rPr lang="en-US" dirty="0"/>
              <a:t>Example : A report on "Artificial Intelligence in Education" presents information gathered from academic articles, books, surveys, and other reliable sources to examine the benefits, challenges, and future applications of AI in education.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98D22CF-1BF3-246F-0731-E69D6D767D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1022219"/>
              </p:ext>
            </p:extLst>
          </p:nvPr>
        </p:nvGraphicFramePr>
        <p:xfrm>
          <a:off x="1037706" y="5121275"/>
          <a:ext cx="10515600" cy="13716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39518980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0" dirty="0">
                          <a:effectLst/>
                          <a:latin typeface="Segoe UI" panose="020B0502040204020203" pitchFamily="34" charset="0"/>
                        </a:rPr>
                        <a:t>When writing a report, imagine that you are presenting information to help someone understand a topic or make a decision. A report is not simply writing what you think; it is presenting what research and evidence show.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078935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0865574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8359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E69AD-7AD2-4A2D-C781-7F7D11153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Purpose of a Report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A8FC7-2EE8-09AA-73B8-63FFDC1761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Why Do We Write Reports?</a:t>
            </a:r>
          </a:p>
          <a:p>
            <a:pPr lvl="1"/>
            <a:r>
              <a:rPr lang="en-US" dirty="0"/>
              <a:t>to provide accurate information supported by evidence.</a:t>
            </a:r>
          </a:p>
          <a:p>
            <a:r>
              <a:rPr lang="en-US" dirty="0"/>
              <a:t> Reports are written to:</a:t>
            </a:r>
          </a:p>
          <a:p>
            <a:pPr lvl="1"/>
            <a:r>
              <a:rPr lang="en-US" dirty="0"/>
              <a:t>Present information in a clear and organized manner</a:t>
            </a:r>
          </a:p>
          <a:p>
            <a:pPr lvl="1"/>
            <a:r>
              <a:rPr lang="en-US" dirty="0"/>
              <a:t>Communicate research findings</a:t>
            </a:r>
          </a:p>
          <a:p>
            <a:pPr lvl="1"/>
            <a:r>
              <a:rPr lang="en-US" dirty="0" err="1"/>
              <a:t>Analyse</a:t>
            </a:r>
            <a:r>
              <a:rPr lang="en-US" dirty="0"/>
              <a:t> a topic, problem, or situations</a:t>
            </a:r>
          </a:p>
          <a:p>
            <a:pPr lvl="1"/>
            <a:r>
              <a:rPr lang="en-US" dirty="0"/>
              <a:t>Support decision-making using evidence</a:t>
            </a:r>
          </a:p>
          <a:p>
            <a:pPr lvl="1"/>
            <a:r>
              <a:rPr lang="en-US" dirty="0"/>
              <a:t>Record observations and results</a:t>
            </a:r>
          </a:p>
          <a:p>
            <a:pPr lvl="1"/>
            <a:r>
              <a:rPr lang="en-US" dirty="0"/>
              <a:t>Provide conclusions and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2781017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F1998-A775-B56F-2E5B-49802F97C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Types of Reports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E5017-1BA8-F12F-F435-29DE276493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7808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Academic Report </a:t>
            </a:r>
          </a:p>
          <a:p>
            <a:pPr lvl="1"/>
            <a:r>
              <a:rPr lang="en-US" dirty="0" err="1"/>
              <a:t>analyse</a:t>
            </a:r>
            <a:r>
              <a:rPr lang="en-US" dirty="0"/>
              <a:t>, discuss, and evaluate a topic using research and evidence.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dirty="0"/>
              <a:t>Business Report </a:t>
            </a:r>
          </a:p>
          <a:p>
            <a:pPr lvl="1"/>
            <a:r>
              <a:rPr lang="en-US" dirty="0"/>
              <a:t>evaluate business performance, identify issues, and support decision-making.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D58E216-A7BB-895C-1417-BD714195E4DD}"/>
              </a:ext>
            </a:extLst>
          </p:cNvPr>
          <p:cNvGraphicFramePr>
            <a:graphicFrameLocks noGrp="1"/>
          </p:cNvGraphicFramePr>
          <p:nvPr/>
        </p:nvGraphicFramePr>
        <p:xfrm>
          <a:off x="1057656" y="2377609"/>
          <a:ext cx="5257800" cy="1305868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154933089"/>
                    </a:ext>
                  </a:extLst>
                </a:gridCol>
              </a:tblGrid>
              <a:tr h="994241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400" b="1" i="0" dirty="0">
                          <a:effectLst/>
                          <a:latin typeface="Segoe UI" panose="020B0502040204020203" pitchFamily="34" charset="0"/>
                        </a:rPr>
                        <a:t>Examples:</a:t>
                      </a:r>
                      <a:endParaRPr lang="en-US" sz="14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dirty="0">
                          <a:effectLst/>
                          <a:latin typeface="Segoe UI" panose="020B0502040204020203" pitchFamily="34" charset="0"/>
                        </a:rPr>
                        <a:t>Artificial Intelligence in Education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dirty="0">
                          <a:effectLst/>
                          <a:latin typeface="Segoe UI" panose="020B0502040204020203" pitchFamily="34" charset="0"/>
                        </a:rPr>
                        <a:t>Cybersecurity Awareness Among Students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dirty="0">
                          <a:effectLst/>
                          <a:latin typeface="Segoe UI" panose="020B0502040204020203" pitchFamily="34" charset="0"/>
                        </a:rPr>
                        <a:t>Impact of Social Media on Academic Performance</a:t>
                      </a:r>
                    </a:p>
                  </a:txBody>
                  <a:tcPr marL="79576" marR="79576" marT="39788" marB="39788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096361"/>
                  </a:ext>
                </a:extLst>
              </a:tr>
              <a:tr h="31162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1400" dirty="0"/>
                    </a:p>
                  </a:txBody>
                  <a:tcPr marL="79576" marR="79576" marT="39788" marB="39788"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673106444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7AD431F5-A3E9-0DED-4EB7-FB82076F075F}"/>
              </a:ext>
            </a:extLst>
          </p:cNvPr>
          <p:cNvGraphicFramePr>
            <a:graphicFrameLocks noGrp="1"/>
          </p:cNvGraphicFramePr>
          <p:nvPr/>
        </p:nvGraphicFramePr>
        <p:xfrm>
          <a:off x="6556247" y="4791456"/>
          <a:ext cx="5477257" cy="1488635"/>
        </p:xfrm>
        <a:graphic>
          <a:graphicData uri="http://schemas.openxmlformats.org/drawingml/2006/table">
            <a:tbl>
              <a:tblPr/>
              <a:tblGrid>
                <a:gridCol w="5477257">
                  <a:extLst>
                    <a:ext uri="{9D8B030D-6E8A-4147-A177-3AD203B41FA5}">
                      <a16:colId xmlns:a16="http://schemas.microsoft.com/office/drawing/2014/main" val="3071024468"/>
                    </a:ext>
                  </a:extLst>
                </a:gridCol>
              </a:tblGrid>
              <a:tr h="1132657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600" b="1" i="0" dirty="0">
                          <a:effectLst/>
                          <a:latin typeface="Segoe UI" panose="020B0502040204020203" pitchFamily="34" charset="0"/>
                        </a:rPr>
                        <a:t>Examples:</a:t>
                      </a:r>
                      <a:endParaRPr lang="en-US" sz="16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Sales Performance Report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Market Analysis Report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Financial Performance Reports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7391672"/>
                  </a:ext>
                </a:extLst>
              </a:tr>
              <a:tr h="35597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1600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2821640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03096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19CCD-AF2C-F4AF-0753-A97FD915A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Types of Reports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BD051-5F15-9865-D2C3-5378BA6120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1832" y="1550125"/>
            <a:ext cx="10515600" cy="4351338"/>
          </a:xfrm>
        </p:spPr>
        <p:txBody>
          <a:bodyPr/>
          <a:lstStyle/>
          <a:p>
            <a:r>
              <a:rPr lang="en-US" dirty="0"/>
              <a:t>Technical Report </a:t>
            </a:r>
          </a:p>
          <a:p>
            <a:pPr lvl="1"/>
            <a:r>
              <a:rPr lang="en-US" dirty="0"/>
              <a:t>explain a technical process, system, project, or experiment.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Research Report </a:t>
            </a:r>
          </a:p>
          <a:p>
            <a:pPr lvl="1"/>
            <a:r>
              <a:rPr lang="en-US" dirty="0"/>
              <a:t>To present research findings, data analysis, and conclusions from a study.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51A82D6-96FA-FE8C-6297-EB6DCE789413}"/>
              </a:ext>
            </a:extLst>
          </p:cNvPr>
          <p:cNvGraphicFramePr>
            <a:graphicFrameLocks noGrp="1"/>
          </p:cNvGraphicFramePr>
          <p:nvPr/>
        </p:nvGraphicFramePr>
        <p:xfrm>
          <a:off x="1127760" y="5549334"/>
          <a:ext cx="10515600" cy="109728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23520489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0" dirty="0">
                          <a:effectLst/>
                          <a:latin typeface="Segoe UI" panose="020B0502040204020203" pitchFamily="34" charset="0"/>
                        </a:rPr>
                        <a:t>In this module, your report is not just about collecting information. You must </a:t>
                      </a:r>
                      <a:r>
                        <a:rPr lang="en-US" sz="2000" b="0" i="0" dirty="0" err="1">
                          <a:effectLst/>
                          <a:latin typeface="Segoe UI" panose="020B0502040204020203" pitchFamily="34" charset="0"/>
                        </a:rPr>
                        <a:t>analyse</a:t>
                      </a:r>
                      <a:r>
                        <a:rPr lang="en-US" sz="2000" b="0" i="0" dirty="0">
                          <a:effectLst/>
                          <a:latin typeface="Segoe UI" panose="020B0502040204020203" pitchFamily="34" charset="0"/>
                        </a:rPr>
                        <a:t> it, discuss it, and support your arguments using academic sources.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5398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000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66704587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AED592E-2F72-F6A4-CD80-708BB634C2B6}"/>
              </a:ext>
            </a:extLst>
          </p:cNvPr>
          <p:cNvGraphicFramePr>
            <a:graphicFrameLocks noGrp="1"/>
          </p:cNvGraphicFramePr>
          <p:nvPr/>
        </p:nvGraphicFramePr>
        <p:xfrm>
          <a:off x="8275320" y="2295276"/>
          <a:ext cx="3553968" cy="1133724"/>
        </p:xfrm>
        <a:graphic>
          <a:graphicData uri="http://schemas.openxmlformats.org/drawingml/2006/table">
            <a:tbl>
              <a:tblPr/>
              <a:tblGrid>
                <a:gridCol w="3553968">
                  <a:extLst>
                    <a:ext uri="{9D8B030D-6E8A-4147-A177-3AD203B41FA5}">
                      <a16:colId xmlns:a16="http://schemas.microsoft.com/office/drawing/2014/main" val="2702861812"/>
                    </a:ext>
                  </a:extLst>
                </a:gridCol>
              </a:tblGrid>
              <a:tr h="69206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300" b="1" i="0" dirty="0">
                          <a:effectLst/>
                          <a:latin typeface="Segoe UI" panose="020B0502040204020203" pitchFamily="34" charset="0"/>
                        </a:rPr>
                        <a:t>Examples:</a:t>
                      </a:r>
                      <a:endParaRPr lang="en-US" sz="13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dirty="0">
                          <a:effectLst/>
                          <a:latin typeface="Segoe UI" panose="020B0502040204020203" pitchFamily="34" charset="0"/>
                        </a:rPr>
                        <a:t>Software Development Report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dirty="0">
                          <a:effectLst/>
                          <a:latin typeface="Segoe UI" panose="020B0502040204020203" pitchFamily="34" charset="0"/>
                        </a:rPr>
                        <a:t>Network Design Report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dirty="0">
                          <a:effectLst/>
                          <a:latin typeface="Segoe UI" panose="020B0502040204020203" pitchFamily="34" charset="0"/>
                        </a:rPr>
                        <a:t>System Implementation Report</a:t>
                      </a:r>
                    </a:p>
                  </a:txBody>
                  <a:tcPr marL="71562" marR="71562" marT="35781" marB="35781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5894402"/>
                  </a:ext>
                </a:extLst>
              </a:tr>
              <a:tr h="21600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1300" dirty="0"/>
                    </a:p>
                  </a:txBody>
                  <a:tcPr marL="71562" marR="71562" marT="35781" marB="35781"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32326095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463F275-AF1B-816F-7D42-4736A359EA63}"/>
              </a:ext>
            </a:extLst>
          </p:cNvPr>
          <p:cNvGraphicFramePr>
            <a:graphicFrameLocks noGrp="1"/>
          </p:cNvGraphicFramePr>
          <p:nvPr/>
        </p:nvGraphicFramePr>
        <p:xfrm>
          <a:off x="1280160" y="3942046"/>
          <a:ext cx="3435096" cy="1362324"/>
        </p:xfrm>
        <a:graphic>
          <a:graphicData uri="http://schemas.openxmlformats.org/drawingml/2006/table">
            <a:tbl>
              <a:tblPr/>
              <a:tblGrid>
                <a:gridCol w="3435096">
                  <a:extLst>
                    <a:ext uri="{9D8B030D-6E8A-4147-A177-3AD203B41FA5}">
                      <a16:colId xmlns:a16="http://schemas.microsoft.com/office/drawing/2014/main" val="3972798933"/>
                    </a:ext>
                  </a:extLst>
                </a:gridCol>
              </a:tblGrid>
              <a:tr h="1018672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600" b="1" i="0" dirty="0">
                          <a:effectLst/>
                          <a:latin typeface="Segoe UI" panose="020B0502040204020203" pitchFamily="34" charset="0"/>
                        </a:rPr>
                        <a:t>Examples:</a:t>
                      </a:r>
                      <a:endParaRPr lang="en-US" sz="16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Survey Research Report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Experimental Research Report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Case Study Report</a:t>
                      </a:r>
                    </a:p>
                  </a:txBody>
                  <a:tcPr marL="71561" marR="71561" marT="35781" marB="35781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38889"/>
                  </a:ext>
                </a:extLst>
              </a:tr>
              <a:tr h="30689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1600" dirty="0"/>
                    </a:p>
                  </a:txBody>
                  <a:tcPr marL="71561" marR="71561" marT="35781" marB="35781"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5572693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5021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F706F-FD63-411C-28D8-B96782373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Characteristics of a Good Report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62F87-C912-683C-5CA3-5374789E37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Formal</a:t>
            </a:r>
          </a:p>
          <a:p>
            <a:pPr lvl="1"/>
            <a:r>
              <a:rPr lang="en-US" dirty="0"/>
              <a:t>Uses professional and academic language.</a:t>
            </a:r>
          </a:p>
          <a:p>
            <a:r>
              <a:rPr lang="en-US" dirty="0"/>
              <a:t>Structured</a:t>
            </a:r>
          </a:p>
          <a:p>
            <a:pPr lvl="1"/>
            <a:r>
              <a:rPr lang="en-US" dirty="0"/>
              <a:t>Organized using headings and subheadings.</a:t>
            </a:r>
          </a:p>
          <a:p>
            <a:r>
              <a:rPr lang="en-US" dirty="0"/>
              <a:t>Evidence-Based </a:t>
            </a:r>
          </a:p>
          <a:p>
            <a:pPr lvl="1"/>
            <a:r>
              <a:rPr lang="en-US" dirty="0"/>
              <a:t>Supported by research findings, facts, and reliable sources.</a:t>
            </a:r>
          </a:p>
          <a:p>
            <a:r>
              <a:rPr lang="en-US" dirty="0"/>
              <a:t>Objective </a:t>
            </a:r>
          </a:p>
          <a:p>
            <a:pPr lvl="1"/>
            <a:r>
              <a:rPr lang="en-US" dirty="0"/>
              <a:t>Focuses on facts rather than personal opinions.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These four characteristics make a report professional, credible, and reliable.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1875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EB53D-32E7-46C8-456F-AAE9FA7D5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 Between Essay and Report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A9D0A55-FF31-9374-C841-72DEFD27188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15151641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7887699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Essay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6308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Discusses a topic or argument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Presents information and findings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6774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Usually written in continuous paragraphs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Organized into sections and headings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4437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May include personal interpretation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Based on facts, evidence, and analysis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42822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Less use of tables and charts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Often includes tables, charts, and figures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1984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Flowing narrative structure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Structured format with clear sections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5002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Generally written for academic discussion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Written for a specific purpose or audience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1607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May not include recommendations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dirty="0">
                          <a:effectLst/>
                        </a:rPr>
                        <a:t>Often includes conclusions and recommendations</a:t>
                      </a:r>
                      <a:endParaRPr lang="en-US" sz="1050" b="0" i="0" dirty="0">
                        <a:effectLst/>
                        <a:latin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34797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43969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AAC32-6595-A776-7D22-1121D070C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Formal Writing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C81FC5-5FED-413C-E1B8-8A8BFFBF41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uses professional language suitable for academic and professional environments.</a:t>
            </a:r>
          </a:p>
          <a:p>
            <a:r>
              <a:rPr lang="en-US" dirty="0"/>
              <a:t>Characteristics of Formal Writing</a:t>
            </a:r>
          </a:p>
          <a:p>
            <a:pPr lvl="1"/>
            <a:r>
              <a:rPr lang="en-US" dirty="0"/>
              <a:t>Professional vocabulary</a:t>
            </a:r>
          </a:p>
          <a:p>
            <a:pPr lvl="1"/>
            <a:r>
              <a:rPr lang="en-US" dirty="0"/>
              <a:t>Complete sentences</a:t>
            </a:r>
          </a:p>
          <a:p>
            <a:pPr lvl="1"/>
            <a:r>
              <a:rPr lang="en-US" dirty="0"/>
              <a:t>Neutral tone</a:t>
            </a:r>
          </a:p>
          <a:p>
            <a:pPr lvl="1"/>
            <a:r>
              <a:rPr lang="en-US" dirty="0"/>
              <a:t>No slang or text language</a:t>
            </a:r>
          </a:p>
          <a:p>
            <a:pPr lvl="1"/>
            <a:r>
              <a:rPr lang="en-US" dirty="0"/>
              <a:t>No unsupported personal opinions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57875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42A34-0BC8-EC13-1041-A88C4E8BB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Formal Writing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7A0CE3-9DAF-4DF9-7D9A-4E074AC8C5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Wrong </a:t>
            </a:r>
          </a:p>
          <a:p>
            <a:pPr lvl="1"/>
            <a:r>
              <a:rPr lang="en-US" dirty="0"/>
              <a:t>AI is really cool and helps students a lot.</a:t>
            </a:r>
          </a:p>
          <a:p>
            <a:pPr lvl="1"/>
            <a:r>
              <a:rPr lang="en-US" dirty="0"/>
              <a:t>I think AI is awesome.</a:t>
            </a:r>
            <a:endParaRPr lang="en-US" sz="2800" dirty="0"/>
          </a:p>
          <a:p>
            <a:pPr marL="0" indent="0">
              <a:buNone/>
            </a:pPr>
            <a:r>
              <a:rPr lang="en-US" dirty="0"/>
              <a:t>Correct</a:t>
            </a:r>
          </a:p>
          <a:p>
            <a:pPr lvl="1"/>
            <a:r>
              <a:rPr lang="en-US" dirty="0"/>
              <a:t>Artificial Intelligence can support student learning by providing </a:t>
            </a:r>
            <a:r>
              <a:rPr lang="en-US" dirty="0" err="1"/>
              <a:t>personalised</a:t>
            </a:r>
            <a:r>
              <a:rPr lang="en-US" dirty="0"/>
              <a:t> educational experiences.</a:t>
            </a:r>
          </a:p>
          <a:p>
            <a:pPr lvl="1"/>
            <a:r>
              <a:rPr lang="en-US" dirty="0"/>
              <a:t> Research indicates that AI has the potential to improve learning outcomes.</a:t>
            </a:r>
          </a:p>
          <a:p>
            <a:r>
              <a:rPr lang="en-US" dirty="0"/>
              <a:t>Academic reports should sound professional. The reader should focus on the information and evidence, not on the writer's personal feelings.</a:t>
            </a:r>
          </a:p>
        </p:txBody>
      </p:sp>
    </p:spTree>
    <p:extLst>
      <p:ext uri="{BB962C8B-B14F-4D97-AF65-F5344CB8AC3E}">
        <p14:creationId xmlns:p14="http://schemas.microsoft.com/office/powerpoint/2010/main" val="35327847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88B10-2E37-06C7-D342-435506634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Structured Writing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B24DB-F463-BFD1-7C3A-514D9B7E7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7673"/>
            <a:ext cx="10515600" cy="4351338"/>
          </a:xfrm>
        </p:spPr>
        <p:txBody>
          <a:bodyPr/>
          <a:lstStyle/>
          <a:p>
            <a:r>
              <a:rPr lang="en-US" dirty="0"/>
              <a:t>A report follows a logical format so that information is easy to locate and understand.</a:t>
            </a:r>
          </a:p>
          <a:p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3DE07C3-ACC6-62C7-CD67-FA37A55D71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6699436"/>
              </p:ext>
            </p:extLst>
          </p:nvPr>
        </p:nvGraphicFramePr>
        <p:xfrm>
          <a:off x="838200" y="2531049"/>
          <a:ext cx="10515600" cy="414528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9798599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2000" b="1" i="0" dirty="0">
                          <a:effectLst/>
                          <a:latin typeface="Segoe UI" panose="020B0502040204020203" pitchFamily="34" charset="0"/>
                        </a:rPr>
                        <a:t>Typical Report Structure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i="0" dirty="0">
                          <a:effectLst/>
                          <a:latin typeface="Segoe UI" panose="020B0502040204020203" pitchFamily="34" charset="0"/>
                        </a:rPr>
                        <a:t>Cover Page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i="0" dirty="0">
                          <a:effectLst/>
                          <a:latin typeface="Segoe UI" panose="020B0502040204020203" pitchFamily="34" charset="0"/>
                        </a:rPr>
                        <a:t>Abstract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i="0" dirty="0">
                          <a:effectLst/>
                          <a:latin typeface="Segoe UI" panose="020B0502040204020203" pitchFamily="34" charset="0"/>
                        </a:rPr>
                        <a:t>Table of Contents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i="0" dirty="0">
                          <a:effectLst/>
                          <a:latin typeface="Segoe UI" panose="020B0502040204020203" pitchFamily="34" charset="0"/>
                        </a:rPr>
                        <a:t>Introduction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i="0" dirty="0">
                          <a:effectLst/>
                          <a:latin typeface="Segoe UI" panose="020B0502040204020203" pitchFamily="34" charset="0"/>
                        </a:rPr>
                        <a:t>Literature Review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i="0" dirty="0">
                          <a:effectLst/>
                          <a:latin typeface="Segoe UI" panose="020B0502040204020203" pitchFamily="34" charset="0"/>
                        </a:rPr>
                        <a:t>Methodology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i="0" dirty="0">
                          <a:effectLst/>
                          <a:latin typeface="Segoe UI" panose="020B0502040204020203" pitchFamily="34" charset="0"/>
                        </a:rPr>
                        <a:t>Results and Discussion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i="0" dirty="0">
                          <a:effectLst/>
                          <a:latin typeface="Segoe UI" panose="020B0502040204020203" pitchFamily="34" charset="0"/>
                        </a:rPr>
                        <a:t>Conclusion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i="0" dirty="0">
                          <a:effectLst/>
                          <a:latin typeface="Segoe UI" panose="020B0502040204020203" pitchFamily="34" charset="0"/>
                        </a:rPr>
                        <a:t>Recommendations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i="0" dirty="0">
                          <a:effectLst/>
                          <a:latin typeface="Segoe UI" panose="020B0502040204020203" pitchFamily="34" charset="0"/>
                        </a:rPr>
                        <a:t>References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i="0" dirty="0">
                          <a:effectLst/>
                          <a:latin typeface="Segoe UI" panose="020B0502040204020203" pitchFamily="34" charset="0"/>
                        </a:rPr>
                        <a:t>Appendices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8055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000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1090679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18404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27CE6-AA80-C34D-8069-4B9BB7685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B1F16-44A2-152C-234C-222748D5B1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7920"/>
            <a:ext cx="10515600" cy="4351338"/>
          </a:xfrm>
        </p:spPr>
        <p:txBody>
          <a:bodyPr/>
          <a:lstStyle/>
          <a:p>
            <a:r>
              <a:rPr lang="en-US" dirty="0"/>
              <a:t>Improves readability</a:t>
            </a:r>
          </a:p>
          <a:p>
            <a:r>
              <a:rPr lang="en-US" dirty="0"/>
              <a:t>Makes navigation easier</a:t>
            </a:r>
          </a:p>
          <a:p>
            <a:r>
              <a:rPr lang="en-US" dirty="0"/>
              <a:t>Helps present information logically</a:t>
            </a:r>
          </a:p>
          <a:p>
            <a:r>
              <a:rPr lang="en-US" dirty="0"/>
              <a:t>Improves professionalism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F9084FC-B480-6D29-AB3C-DCD5DA2862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4647257"/>
              </p:ext>
            </p:extLst>
          </p:nvPr>
        </p:nvGraphicFramePr>
        <p:xfrm>
          <a:off x="838200" y="3818000"/>
          <a:ext cx="10515600" cy="140208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2637839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ct val="150000"/>
                        </a:lnSpc>
                        <a:buNone/>
                      </a:pPr>
                      <a:r>
                        <a:rPr lang="en-US" sz="2000" b="0" i="0" dirty="0">
                          <a:effectLst/>
                          <a:latin typeface="Segoe UI" panose="020B0502040204020203" pitchFamily="34" charset="0"/>
                        </a:rPr>
                        <a:t>Imagine reading a 20-page report without headings. It would be difficult to find information. Structure makes a report easy to read and understand.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2290726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4163904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63795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DAD02-3A5F-44F1-96E3-F6F6A6B38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Evidence-Based Writing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A121C-2C9A-C5E2-0DCD-700EE0F632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en-US" dirty="0"/>
              <a:t>Information presented in a report must be supported by reliable sources and research.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0428EA1-4093-260F-28D6-7BCCFDFA55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7868376"/>
              </p:ext>
            </p:extLst>
          </p:nvPr>
        </p:nvGraphicFramePr>
        <p:xfrm>
          <a:off x="838200" y="2750186"/>
          <a:ext cx="10515600" cy="329184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5804743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2000" b="1" i="0" dirty="0">
                          <a:effectLst/>
                          <a:latin typeface="Segoe UI" panose="020B0502040204020203" pitchFamily="34" charset="0"/>
                        </a:rPr>
                        <a:t>Sources of Evidence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i="0" dirty="0">
                          <a:effectLst/>
                          <a:latin typeface="Segoe UI" panose="020B0502040204020203" pitchFamily="34" charset="0"/>
                        </a:rPr>
                        <a:t>Journal Articles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i="0" dirty="0">
                          <a:effectLst/>
                          <a:latin typeface="Segoe UI" panose="020B0502040204020203" pitchFamily="34" charset="0"/>
                        </a:rPr>
                        <a:t>Books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i="0" dirty="0">
                          <a:effectLst/>
                          <a:latin typeface="Segoe UI" panose="020B0502040204020203" pitchFamily="34" charset="0"/>
                        </a:rPr>
                        <a:t>Conference Papers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i="0" dirty="0">
                          <a:effectLst/>
                          <a:latin typeface="Segoe UI" panose="020B0502040204020203" pitchFamily="34" charset="0"/>
                        </a:rPr>
                        <a:t>Government Reports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i="0" dirty="0">
                          <a:effectLst/>
                          <a:latin typeface="Segoe UI" panose="020B0502040204020203" pitchFamily="34" charset="0"/>
                        </a:rPr>
                        <a:t>Research Studies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8421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2000" b="1" i="0" dirty="0">
                          <a:effectLst/>
                          <a:latin typeface="Segoe UI" panose="020B0502040204020203" pitchFamily="34" charset="0"/>
                        </a:rPr>
                        <a:t>Example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0" dirty="0">
                          <a:effectLst/>
                          <a:latin typeface="Segoe UI" panose="020B0502040204020203" pitchFamily="34" charset="0"/>
                        </a:rPr>
                        <a:t>According to UNESCO (2023), Artificial Intelligence has the potential to support personalized learning and educational accessibility.</a:t>
                      </a:r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8224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4436760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15550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E02A0-4C32-DA85-E1EE-008E7C72B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Evidence-Based Writing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B3C5E6-E80B-BFD4-452E-0C928CB968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en-US" dirty="0"/>
              <a:t>Benefits</a:t>
            </a:r>
          </a:p>
          <a:p>
            <a:r>
              <a:rPr lang="en-US" dirty="0"/>
              <a:t>Improves credibility</a:t>
            </a:r>
          </a:p>
          <a:p>
            <a:r>
              <a:rPr lang="en-US" dirty="0"/>
              <a:t>Supports arguments</a:t>
            </a:r>
          </a:p>
          <a:p>
            <a:r>
              <a:rPr lang="en-US" dirty="0"/>
              <a:t>Reduces misinformation</a:t>
            </a:r>
          </a:p>
          <a:p>
            <a:r>
              <a:rPr lang="en-US" dirty="0"/>
              <a:t>Demonstrates research skills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77AC022-776B-76B1-310A-04966189EA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4010810"/>
              </p:ext>
            </p:extLst>
          </p:nvPr>
        </p:nvGraphicFramePr>
        <p:xfrm>
          <a:off x="618744" y="4677188"/>
          <a:ext cx="10515600" cy="109728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22012039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0" dirty="0">
                          <a:effectLst/>
                          <a:latin typeface="Segoe UI" panose="020B0502040204020203" pitchFamily="34" charset="0"/>
                        </a:rPr>
                        <a:t>In report writing, we do not write statements simply because we believe they are true. We support our statements using academic evidence.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0779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000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8717120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406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43A3B-022C-D9BB-E231-7EC9208A8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 Writing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D79710-2BE8-5B0C-86A4-50949FFFC3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focuses on facts and evidence instead of personal opinions or emotions.</a:t>
            </a:r>
          </a:p>
          <a:p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8C4CC31-D7BC-126E-35BD-64A799590059}"/>
              </a:ext>
            </a:extLst>
          </p:cNvPr>
          <p:cNvGraphicFramePr>
            <a:graphicFrameLocks noGrp="1"/>
          </p:cNvGraphicFramePr>
          <p:nvPr/>
        </p:nvGraphicFramePr>
        <p:xfrm>
          <a:off x="1212136" y="2998901"/>
          <a:ext cx="9542950" cy="20047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71475">
                  <a:extLst>
                    <a:ext uri="{9D8B030D-6E8A-4147-A177-3AD203B41FA5}">
                      <a16:colId xmlns:a16="http://schemas.microsoft.com/office/drawing/2014/main" val="2170879253"/>
                    </a:ext>
                  </a:extLst>
                </a:gridCol>
                <a:gridCol w="4771475">
                  <a:extLst>
                    <a:ext uri="{9D8B030D-6E8A-4147-A177-3AD203B41FA5}">
                      <a16:colId xmlns:a16="http://schemas.microsoft.com/office/drawing/2014/main" val="1642395371"/>
                    </a:ext>
                  </a:extLst>
                </a:gridCol>
              </a:tblGrid>
              <a:tr h="493590">
                <a:tc>
                  <a:txBody>
                    <a:bodyPr/>
                    <a:lstStyle/>
                    <a:p>
                      <a:r>
                        <a:rPr lang="en-US" dirty="0"/>
                        <a:t>Objective Writing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Subjective Writing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6918940"/>
                  </a:ext>
                </a:extLst>
              </a:tr>
              <a:tr h="882376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Research suggests that AI can improve learning outcomes when implemented appropriately.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AI is the best invention ever made.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587645"/>
                  </a:ext>
                </a:extLst>
              </a:tr>
              <a:tr h="62882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Studies indicate that AI can provide adaptive learning support.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Everyone should use AI.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29050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91953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8EFC8-F3BB-9CC1-D66E-4C2B1D791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Objectivity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DC6861-48F2-B7C4-BC49-8F395A8ACA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Reduces bias</a:t>
            </a:r>
          </a:p>
          <a:p>
            <a:r>
              <a:rPr lang="en-US" dirty="0"/>
              <a:t>Improves reliability</a:t>
            </a:r>
          </a:p>
          <a:p>
            <a:r>
              <a:rPr lang="en-US" dirty="0"/>
              <a:t>Enhances academic quality</a:t>
            </a:r>
          </a:p>
          <a:p>
            <a:r>
              <a:rPr lang="en-US" dirty="0"/>
              <a:t>Supports critical thinking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D6A5025-8488-8909-8B64-FA69687D5C5A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4330587"/>
          <a:ext cx="10515600" cy="109728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8996785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0" dirty="0">
                          <a:effectLst/>
                          <a:latin typeface="Segoe UI" panose="020B0502040204020203" pitchFamily="34" charset="0"/>
                        </a:rPr>
                        <a:t>Reports should present balanced information. Even when discussing benefits, we should also acknowledge challenges and limitations.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9419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000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7377638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32636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DA4D4-F39E-3F93-A072-C69117F28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7B6E191-90DE-FEE6-F805-88D5094B522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505631"/>
          <a:ext cx="10515600" cy="40233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21068764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By the end of today's session, you should understand: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✓ What a report is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✓ Why reports are written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✓ The main purposes of report writing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✓ The characteristics of a good report: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Formal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Structured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Evidence-Based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Objective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endParaRPr lang="en-US" sz="18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1" i="0" dirty="0">
                          <a:effectLst/>
                          <a:latin typeface="Segoe UI" panose="020B0502040204020203" pitchFamily="34" charset="0"/>
                        </a:rPr>
                        <a:t>Preparing for the Coursework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Throughout this module, you will develop a complete report on each individual group topic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using the report-writing principles discussed today.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76489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1800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08258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63490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71075-1B2F-DCAE-A7A7-78C51A515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Day 2: Document Setup and Professional Layout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601D97F-879B-6740-15E1-7B32820870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Topics Covered</a:t>
            </a:r>
          </a:p>
          <a:p>
            <a:endParaRPr lang="en-US" sz="300" dirty="0"/>
          </a:p>
          <a:p>
            <a:pPr lvl="1"/>
            <a:r>
              <a:rPr lang="en-US" dirty="0"/>
              <a:t>Page Size</a:t>
            </a:r>
          </a:p>
          <a:p>
            <a:pPr lvl="1"/>
            <a:r>
              <a:rPr lang="en-US" dirty="0"/>
              <a:t>Margins</a:t>
            </a:r>
          </a:p>
          <a:p>
            <a:pPr lvl="1"/>
            <a:r>
              <a:rPr lang="en-US" dirty="0"/>
              <a:t>Orientation</a:t>
            </a:r>
          </a:p>
          <a:p>
            <a:pPr lvl="1"/>
            <a:r>
              <a:rPr lang="en-US" dirty="0"/>
              <a:t>Sections</a:t>
            </a:r>
          </a:p>
          <a:p>
            <a:pPr lvl="1"/>
            <a:r>
              <a:rPr lang="en-US" dirty="0"/>
              <a:t>Headers and Footers</a:t>
            </a:r>
          </a:p>
          <a:p>
            <a:pPr lvl="1"/>
            <a:r>
              <a:rPr lang="en-US" dirty="0"/>
              <a:t>Page Numbering</a:t>
            </a:r>
          </a:p>
        </p:txBody>
      </p:sp>
    </p:spTree>
    <p:extLst>
      <p:ext uri="{BB962C8B-B14F-4D97-AF65-F5344CB8AC3E}">
        <p14:creationId xmlns:p14="http://schemas.microsoft.com/office/powerpoint/2010/main" val="34392899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FD64A-5E7F-03D9-54B3-11F030418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513B7-2ACE-465C-4BB1-361CE0300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Day 2: Document Setup and Professional Layout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33FD323-6C0B-868A-0A46-4DA28E9704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By the end of today's session, students will be able to:</a:t>
            </a:r>
          </a:p>
          <a:p>
            <a:pPr lvl="1"/>
            <a:r>
              <a:rPr lang="en-US" dirty="0"/>
              <a:t> Configure a professional report document</a:t>
            </a:r>
          </a:p>
          <a:p>
            <a:pPr lvl="1"/>
            <a:r>
              <a:rPr lang="en-US" dirty="0"/>
              <a:t> Apply standard page settings</a:t>
            </a:r>
          </a:p>
          <a:p>
            <a:pPr lvl="1"/>
            <a:r>
              <a:rPr lang="en-US" dirty="0"/>
              <a:t> Insert headers and footers</a:t>
            </a:r>
          </a:p>
          <a:p>
            <a:pPr lvl="1"/>
            <a:r>
              <a:rPr lang="en-US" dirty="0"/>
              <a:t> Add page numbers correctly</a:t>
            </a:r>
          </a:p>
          <a:p>
            <a:pPr lvl="1"/>
            <a:r>
              <a:rPr lang="en-US" dirty="0"/>
              <a:t> Prepare a report template for coursework</a:t>
            </a:r>
          </a:p>
        </p:txBody>
      </p:sp>
    </p:spTree>
    <p:extLst>
      <p:ext uri="{BB962C8B-B14F-4D97-AF65-F5344CB8AC3E}">
        <p14:creationId xmlns:p14="http://schemas.microsoft.com/office/powerpoint/2010/main" val="9030291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CFB3F-B3E3-5F8B-C00E-3C43C8271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E2F7F-C61A-B622-5024-ACA60F84D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Day 2: Document Setup and Professional Layout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FF5D95-2630-49C4-31FF-2E55D1C59B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Document Setup Matters?</a:t>
            </a:r>
          </a:p>
          <a:p>
            <a:pPr lvl="1"/>
            <a:r>
              <a:rPr lang="en-US" dirty="0"/>
              <a:t>A professionally formatted document:</a:t>
            </a:r>
          </a:p>
          <a:p>
            <a:pPr lvl="1"/>
            <a:r>
              <a:rPr lang="en-US" dirty="0"/>
              <a:t>Looks organized and readable</a:t>
            </a:r>
          </a:p>
          <a:p>
            <a:pPr lvl="1"/>
            <a:r>
              <a:rPr lang="en-US" dirty="0"/>
              <a:t>Creates a positive first impression</a:t>
            </a:r>
          </a:p>
          <a:p>
            <a:pPr lvl="1"/>
            <a:r>
              <a:rPr lang="en-US" dirty="0"/>
              <a:t>Improves navigation through the report</a:t>
            </a:r>
          </a:p>
          <a:p>
            <a:pPr lvl="1"/>
            <a:r>
              <a:rPr lang="en-US" dirty="0"/>
              <a:t>Maintains consistency</a:t>
            </a:r>
          </a:p>
          <a:p>
            <a:pPr lvl="1"/>
            <a:r>
              <a:rPr lang="en-US" dirty="0"/>
              <a:t>Meets academic and professional standards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A132F37-46C2-0E73-A2AF-C6FD46FDE088}"/>
              </a:ext>
            </a:extLst>
          </p:cNvPr>
          <p:cNvGraphicFramePr>
            <a:graphicFrameLocks noGrp="1"/>
          </p:cNvGraphicFramePr>
          <p:nvPr/>
        </p:nvGraphicFramePr>
        <p:xfrm>
          <a:off x="7987432" y="3929836"/>
          <a:ext cx="3089540" cy="2926080"/>
        </p:xfrm>
        <a:graphic>
          <a:graphicData uri="http://schemas.openxmlformats.org/drawingml/2006/table">
            <a:tbl>
              <a:tblPr/>
              <a:tblGrid>
                <a:gridCol w="3089540">
                  <a:extLst>
                    <a:ext uri="{9D8B030D-6E8A-4147-A177-3AD203B41FA5}">
                      <a16:colId xmlns:a16="http://schemas.microsoft.com/office/drawing/2014/main" val="22729730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1" i="0" dirty="0">
                          <a:effectLst/>
                          <a:latin typeface="Segoe UI" panose="020B0502040204020203" pitchFamily="34" charset="0"/>
                        </a:rPr>
                        <a:t>Example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Imagine submitting: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Different font sizes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No page numbers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Uneven margins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vs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Consistent layout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Clear structure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Professional appearance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65398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1800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2094528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8335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0B157-81B7-2EA7-F22C-0B5E6365B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9C673-3632-9A02-D74C-21DA3723B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Day 2: Components of a Professional Report Layout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457961-8E53-FF95-202C-C5CCA45CD7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C622B8B-0C57-6A58-9225-88FA91EB4A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8033264"/>
              </p:ext>
            </p:extLst>
          </p:nvPr>
        </p:nvGraphicFramePr>
        <p:xfrm>
          <a:off x="797689" y="1917368"/>
          <a:ext cx="10515600" cy="352044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39881968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A typical report includes: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endParaRPr lang="en-US" sz="3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Cover Page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Student Information Page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Abstract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Table of Contents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Main Chapters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References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Appendices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sz="18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1" i="0" dirty="0">
                          <a:effectLst/>
                          <a:latin typeface="Segoe UI" panose="020B0502040204020203" pitchFamily="34" charset="0"/>
                        </a:rPr>
                        <a:t>Diagram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Report ↓ Front Matter ↓ Main Body ↓ Back Matter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98521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1800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95233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37716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9A5FA-BF35-1BE8-CC01-154BD1146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BFBFD-428D-F95C-1A6B-B5DEC5335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Day 2: Page Size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2D312D-EB5B-66D5-9ABA-F095F29413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Page Size?</a:t>
            </a:r>
          </a:p>
          <a:p>
            <a:pPr lvl="1"/>
            <a:r>
              <a:rPr lang="en-US" dirty="0"/>
              <a:t>The dimensions of the document page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Why Use A4?</a:t>
            </a:r>
          </a:p>
          <a:p>
            <a:pPr lvl="1"/>
            <a:r>
              <a:rPr lang="en-US" dirty="0"/>
              <a:t>International academic standard</a:t>
            </a:r>
          </a:p>
          <a:p>
            <a:pPr lvl="1"/>
            <a:r>
              <a:rPr lang="en-US" dirty="0"/>
              <a:t>Printing compatibility</a:t>
            </a:r>
          </a:p>
          <a:p>
            <a:pPr lvl="1"/>
            <a:r>
              <a:rPr lang="en-US" dirty="0"/>
              <a:t>Consistent formatting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3127906-6D31-57DC-5AFD-00798FA06DE3}"/>
              </a:ext>
            </a:extLst>
          </p:cNvPr>
          <p:cNvGraphicFramePr>
            <a:graphicFrameLocks noGrp="1"/>
          </p:cNvGraphicFramePr>
          <p:nvPr/>
        </p:nvGraphicFramePr>
        <p:xfrm>
          <a:off x="7025640" y="1825625"/>
          <a:ext cx="4165600" cy="1614392"/>
        </p:xfrm>
        <a:graphic>
          <a:graphicData uri="http://schemas.openxmlformats.org/drawingml/2006/table">
            <a:tbl>
              <a:tblPr/>
              <a:tblGrid>
                <a:gridCol w="4165600">
                  <a:extLst>
                    <a:ext uri="{9D8B030D-6E8A-4147-A177-3AD203B41FA5}">
                      <a16:colId xmlns:a16="http://schemas.microsoft.com/office/drawing/2014/main" val="827581824"/>
                    </a:ext>
                  </a:extLst>
                </a:gridCol>
              </a:tblGrid>
              <a:tr h="993236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1" i="0" dirty="0">
                          <a:effectLst/>
                          <a:latin typeface="Segoe UI" panose="020B0502040204020203" pitchFamily="34" charset="0"/>
                        </a:rPr>
                        <a:t>Common Sizes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A4 (Most Academic Reports)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Letter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Legal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5765074"/>
                  </a:ext>
                </a:extLst>
              </a:tr>
              <a:tr h="42567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1800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36722859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5D5CC34-877C-69C5-AF56-8C948F7B0C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979796"/>
              </p:ext>
            </p:extLst>
          </p:nvPr>
        </p:nvGraphicFramePr>
        <p:xfrm>
          <a:off x="838200" y="5487035"/>
          <a:ext cx="10515600" cy="100584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25028157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1" i="0" dirty="0">
                          <a:effectLst/>
                          <a:latin typeface="Segoe UI" panose="020B0502040204020203" pitchFamily="34" charset="0"/>
                        </a:rPr>
                        <a:t>Recommended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A4 (210 × 297 mm)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1572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1800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2624355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24710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42173-A496-E235-853A-6DFD19AF1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Margins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2FFAA6-4908-5904-5C92-D29A234C95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are Margins?</a:t>
            </a:r>
          </a:p>
          <a:p>
            <a:pPr lvl="1"/>
            <a:r>
              <a:rPr lang="en-US" dirty="0"/>
              <a:t>The blank spaces around the page.</a:t>
            </a:r>
          </a:p>
          <a:p>
            <a:endParaRPr lang="en-US" dirty="0"/>
          </a:p>
          <a:p>
            <a:r>
              <a:rPr lang="en-US" dirty="0"/>
              <a:t>Typical A4 Margins</a:t>
            </a:r>
          </a:p>
          <a:p>
            <a:pPr lvl="1"/>
            <a:r>
              <a:rPr lang="en-US" dirty="0"/>
              <a:t>Top: 2.54 cm</a:t>
            </a:r>
          </a:p>
          <a:p>
            <a:pPr lvl="1"/>
            <a:r>
              <a:rPr lang="en-US" dirty="0"/>
              <a:t>Bottom: 2.54 cm</a:t>
            </a:r>
          </a:p>
          <a:p>
            <a:pPr lvl="1"/>
            <a:r>
              <a:rPr lang="en-US" dirty="0"/>
              <a:t>Left: 2.54 cm</a:t>
            </a:r>
          </a:p>
          <a:p>
            <a:pPr lvl="1"/>
            <a:r>
              <a:rPr lang="en-US" dirty="0"/>
              <a:t>Right: 2.54 cm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4B46C65-3ADB-9C79-5DD7-7A0B6BB717F2}"/>
              </a:ext>
            </a:extLst>
          </p:cNvPr>
          <p:cNvGraphicFramePr>
            <a:graphicFrameLocks noGrp="1"/>
          </p:cNvGraphicFramePr>
          <p:nvPr/>
        </p:nvGraphicFramePr>
        <p:xfrm>
          <a:off x="6324600" y="1619721"/>
          <a:ext cx="4741190" cy="1554480"/>
        </p:xfrm>
        <a:graphic>
          <a:graphicData uri="http://schemas.openxmlformats.org/drawingml/2006/table">
            <a:tbl>
              <a:tblPr/>
              <a:tblGrid>
                <a:gridCol w="4741190">
                  <a:extLst>
                    <a:ext uri="{9D8B030D-6E8A-4147-A177-3AD203B41FA5}">
                      <a16:colId xmlns:a16="http://schemas.microsoft.com/office/drawing/2014/main" val="1445034059"/>
                    </a:ext>
                  </a:extLst>
                </a:gridCol>
              </a:tblGrid>
              <a:tr h="1160192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1" i="0" dirty="0">
                          <a:effectLst/>
                          <a:latin typeface="Segoe UI" panose="020B0502040204020203" pitchFamily="34" charset="0"/>
                        </a:rPr>
                        <a:t>Purpose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Improve readability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Allow room for printing and binding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Create a balanced appearance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6818926"/>
                  </a:ext>
                </a:extLst>
              </a:tr>
              <a:tr h="35698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1800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5878680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15614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C484F-C939-629F-07A0-503838084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Orientation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6280C9-DBBE-DD97-3080-AF80DF722B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050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What is Orientation?</a:t>
            </a:r>
          </a:p>
          <a:p>
            <a:pPr lvl="1"/>
            <a:r>
              <a:rPr lang="en-US" dirty="0"/>
              <a:t>The direction of the page.</a:t>
            </a:r>
          </a:p>
          <a:p>
            <a:r>
              <a:rPr lang="en-US" dirty="0"/>
              <a:t>Portrait</a:t>
            </a:r>
          </a:p>
          <a:p>
            <a:pPr lvl="1"/>
            <a:r>
              <a:rPr lang="en-US" dirty="0"/>
              <a:t>Vertical layout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Landscape</a:t>
            </a:r>
          </a:p>
          <a:p>
            <a:pPr lvl="1"/>
            <a:r>
              <a:rPr lang="en-US" dirty="0"/>
              <a:t>Horizontal layout</a:t>
            </a:r>
          </a:p>
          <a:p>
            <a:pPr marL="457200" lvl="1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D6FF314-7E27-8D8E-05DA-E030139641CD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5851843"/>
          <a:ext cx="10515600" cy="100584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32489430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1" i="0" dirty="0">
                          <a:effectLst/>
                          <a:latin typeface="Segoe UI" panose="020B0502040204020203" pitchFamily="34" charset="0"/>
                        </a:rPr>
                        <a:t>Recommendation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Use Portrait for most report pages.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15274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1800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02133434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ED02FA6-72D0-8ED4-8F11-B6B5F4397B1D}"/>
              </a:ext>
            </a:extLst>
          </p:cNvPr>
          <p:cNvGraphicFramePr>
            <a:graphicFrameLocks noGrp="1"/>
          </p:cNvGraphicFramePr>
          <p:nvPr/>
        </p:nvGraphicFramePr>
        <p:xfrm>
          <a:off x="3965929" y="4023100"/>
          <a:ext cx="1799440" cy="1554480"/>
        </p:xfrm>
        <a:graphic>
          <a:graphicData uri="http://schemas.openxmlformats.org/drawingml/2006/table">
            <a:tbl>
              <a:tblPr/>
              <a:tblGrid>
                <a:gridCol w="1799440">
                  <a:extLst>
                    <a:ext uri="{9D8B030D-6E8A-4147-A177-3AD203B41FA5}">
                      <a16:colId xmlns:a16="http://schemas.microsoft.com/office/drawing/2014/main" val="1768790103"/>
                    </a:ext>
                  </a:extLst>
                </a:gridCol>
              </a:tblGrid>
              <a:tr h="1085017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Used for: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Large tables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Wide charts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Diagrams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8436811"/>
                  </a:ext>
                </a:extLst>
              </a:tr>
              <a:tr h="33385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1800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03172327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12E1BE6-08E8-F581-B87C-823AB8F68674}"/>
              </a:ext>
            </a:extLst>
          </p:cNvPr>
          <p:cNvGraphicFramePr>
            <a:graphicFrameLocks noGrp="1"/>
          </p:cNvGraphicFramePr>
          <p:nvPr/>
        </p:nvGraphicFramePr>
        <p:xfrm>
          <a:off x="3507784" y="2331489"/>
          <a:ext cx="1932122" cy="1554480"/>
        </p:xfrm>
        <a:graphic>
          <a:graphicData uri="http://schemas.openxmlformats.org/drawingml/2006/table">
            <a:tbl>
              <a:tblPr/>
              <a:tblGrid>
                <a:gridCol w="1932122">
                  <a:extLst>
                    <a:ext uri="{9D8B030D-6E8A-4147-A177-3AD203B41FA5}">
                      <a16:colId xmlns:a16="http://schemas.microsoft.com/office/drawing/2014/main" val="1120586377"/>
                    </a:ext>
                  </a:extLst>
                </a:gridCol>
              </a:tblGrid>
              <a:tr h="1131722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Used for: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Reports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Assignments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Research papers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4337538"/>
                  </a:ext>
                </a:extLst>
              </a:tr>
              <a:tr h="34822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1800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2793900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29778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16B20-151F-9C78-B13A-700CEEE60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Sections in a Report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64D02-F85F-BD0F-621F-A36102498B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7400" y="132270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What are Sections?</a:t>
            </a:r>
          </a:p>
          <a:p>
            <a:pPr lvl="1"/>
            <a:r>
              <a:rPr lang="en-US" dirty="0"/>
              <a:t>Sections divide a report into logical parts.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sz="500" dirty="0"/>
          </a:p>
          <a:p>
            <a:r>
              <a:rPr lang="en-US" dirty="0"/>
              <a:t>Benefit</a:t>
            </a:r>
          </a:p>
          <a:p>
            <a:pPr lvl="1"/>
            <a:r>
              <a:rPr lang="en-US" dirty="0"/>
              <a:t>Allows different formatting in different parts of the report.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F39713F-4EC2-C80F-8245-37DC4AA23F64}"/>
              </a:ext>
            </a:extLst>
          </p:cNvPr>
          <p:cNvGraphicFramePr>
            <a:graphicFrameLocks noGrp="1"/>
          </p:cNvGraphicFramePr>
          <p:nvPr/>
        </p:nvGraphicFramePr>
        <p:xfrm>
          <a:off x="1000760" y="2311401"/>
          <a:ext cx="3850640" cy="1828800"/>
        </p:xfrm>
        <a:graphic>
          <a:graphicData uri="http://schemas.openxmlformats.org/drawingml/2006/table">
            <a:tbl>
              <a:tblPr/>
              <a:tblGrid>
                <a:gridCol w="3850640">
                  <a:extLst>
                    <a:ext uri="{9D8B030D-6E8A-4147-A177-3AD203B41FA5}">
                      <a16:colId xmlns:a16="http://schemas.microsoft.com/office/drawing/2014/main" val="4075014224"/>
                    </a:ext>
                  </a:extLst>
                </a:gridCol>
              </a:tblGrid>
              <a:tr h="1231391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1" i="0" dirty="0">
                          <a:effectLst/>
                          <a:latin typeface="Segoe UI" panose="020B0502040204020203" pitchFamily="34" charset="0"/>
                        </a:rPr>
                        <a:t>Example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Section 1: Cover Page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Section 2: Table of Contents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Section 3: Main Report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Section 4: Appendices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8366908"/>
                  </a:ext>
                </a:extLst>
              </a:tr>
              <a:tr h="3078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1800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5461461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36148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32D96-C146-ED90-ED62-2845ACDC6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67979B-489E-6C60-A074-38DB928836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What is a Header?</a:t>
            </a:r>
          </a:p>
          <a:p>
            <a:r>
              <a:rPr lang="en-US" dirty="0"/>
              <a:t>Information displayed at the top of each page.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Benefits</a:t>
            </a:r>
          </a:p>
          <a:p>
            <a:pPr lvl="1"/>
            <a:r>
              <a:rPr lang="en-US" dirty="0"/>
              <a:t>Identifies document</a:t>
            </a:r>
          </a:p>
          <a:p>
            <a:pPr lvl="1"/>
            <a:r>
              <a:rPr lang="en-US" dirty="0"/>
              <a:t>Improves professionalism</a:t>
            </a:r>
          </a:p>
          <a:p>
            <a:pPr lvl="1"/>
            <a:r>
              <a:rPr lang="en-US" dirty="0"/>
              <a:t>Helps navigation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8916D0A-BFC2-C4DF-2E12-07A68EEF3C3C}"/>
              </a:ext>
            </a:extLst>
          </p:cNvPr>
          <p:cNvGraphicFramePr>
            <a:graphicFrameLocks noGrp="1"/>
          </p:cNvGraphicFramePr>
          <p:nvPr/>
        </p:nvGraphicFramePr>
        <p:xfrm>
          <a:off x="1132840" y="2839720"/>
          <a:ext cx="3505200" cy="1705134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927886284"/>
                    </a:ext>
                  </a:extLst>
                </a:gridCol>
              </a:tblGrid>
              <a:tr h="1303926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1" i="0" dirty="0">
                          <a:effectLst/>
                          <a:latin typeface="Segoe UI" panose="020B0502040204020203" pitchFamily="34" charset="0"/>
                        </a:rPr>
                        <a:t>Examples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Report Writing Module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AI in Education Project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Student Report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1367921"/>
                  </a:ext>
                </a:extLst>
              </a:tr>
              <a:tr h="4012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1800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2764923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77985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FA18C-562C-D4BE-8109-01C39F328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Footers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2B522-65A5-23C1-08A9-F9BDF6ACC4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a Footer?</a:t>
            </a:r>
          </a:p>
          <a:p>
            <a:r>
              <a:rPr lang="en-US" dirty="0"/>
              <a:t>Information displayed at the bottom of each page.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Benefits</a:t>
            </a:r>
          </a:p>
          <a:p>
            <a:pPr lvl="1"/>
            <a:r>
              <a:rPr lang="en-US" dirty="0"/>
              <a:t>Consistent identification</a:t>
            </a:r>
          </a:p>
          <a:p>
            <a:pPr lvl="1"/>
            <a:r>
              <a:rPr lang="en-US" dirty="0"/>
              <a:t>Professional appearance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1815863-2520-F441-DF7C-5232896AD5B5}"/>
              </a:ext>
            </a:extLst>
          </p:cNvPr>
          <p:cNvGraphicFramePr>
            <a:graphicFrameLocks noGrp="1"/>
          </p:cNvGraphicFramePr>
          <p:nvPr/>
        </p:nvGraphicFramePr>
        <p:xfrm>
          <a:off x="1082040" y="3098800"/>
          <a:ext cx="3251200" cy="1599248"/>
        </p:xfrm>
        <a:graphic>
          <a:graphicData uri="http://schemas.openxmlformats.org/drawingml/2006/table">
            <a:tbl>
              <a:tblPr/>
              <a:tblGrid>
                <a:gridCol w="3251200">
                  <a:extLst>
                    <a:ext uri="{9D8B030D-6E8A-4147-A177-3AD203B41FA5}">
                      <a16:colId xmlns:a16="http://schemas.microsoft.com/office/drawing/2014/main" val="4277427137"/>
                    </a:ext>
                  </a:extLst>
                </a:gridCol>
              </a:tblGrid>
              <a:tr h="957897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1" i="0" dirty="0">
                          <a:effectLst/>
                          <a:latin typeface="Segoe UI" panose="020B0502040204020203" pitchFamily="34" charset="0"/>
                        </a:rPr>
                        <a:t>Examples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Student Name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Student ID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Department </a:t>
                      </a:r>
                      <a:r>
                        <a:rPr lang="en-US" sz="1800" b="0" i="0" dirty="0" err="1">
                          <a:effectLst/>
                          <a:latin typeface="Segoe UI" panose="020B0502040204020203" pitchFamily="34" charset="0"/>
                        </a:rPr>
                        <a:t>Namex</a:t>
                      </a:r>
                      <a:endParaRPr lang="en-US" sz="1800" b="0" i="0" dirty="0">
                        <a:effectLst/>
                        <a:latin typeface="Segoe UI" panose="020B0502040204020203" pitchFamily="34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1048076"/>
                  </a:ext>
                </a:extLst>
              </a:tr>
              <a:tr h="41052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1800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4842413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32926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84800-0D14-D528-B10B-A638D699F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Page Numbers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89377-E4A4-FB8F-B480-FBBA31B417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Use Page Numbers?</a:t>
            </a:r>
          </a:p>
          <a:p>
            <a:pPr lvl="1"/>
            <a:r>
              <a:rPr lang="en-US" dirty="0"/>
              <a:t>Page numbers help:</a:t>
            </a:r>
          </a:p>
          <a:p>
            <a:pPr lvl="1"/>
            <a:r>
              <a:rPr lang="en-US" dirty="0"/>
              <a:t>Navigation</a:t>
            </a:r>
          </a:p>
          <a:p>
            <a:pPr lvl="1"/>
            <a:r>
              <a:rPr lang="en-US" dirty="0"/>
              <a:t>Referencing</a:t>
            </a:r>
          </a:p>
          <a:p>
            <a:pPr lvl="1"/>
            <a:r>
              <a:rPr lang="en-US" dirty="0"/>
              <a:t>TOC generation</a:t>
            </a:r>
          </a:p>
          <a:p>
            <a:pPr lvl="1"/>
            <a:r>
              <a:rPr lang="en-US" dirty="0"/>
              <a:t>Printing and review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8227651-ED06-6527-6B1C-55A453AF2E96}"/>
              </a:ext>
            </a:extLst>
          </p:cNvPr>
          <p:cNvGraphicFramePr>
            <a:graphicFrameLocks noGrp="1"/>
          </p:cNvGraphicFramePr>
          <p:nvPr/>
        </p:nvGraphicFramePr>
        <p:xfrm>
          <a:off x="7609390" y="1877710"/>
          <a:ext cx="2744164" cy="2468880"/>
        </p:xfrm>
        <a:graphic>
          <a:graphicData uri="http://schemas.openxmlformats.org/drawingml/2006/table">
            <a:tbl>
              <a:tblPr/>
              <a:tblGrid>
                <a:gridCol w="2744164">
                  <a:extLst>
                    <a:ext uri="{9D8B030D-6E8A-4147-A177-3AD203B41FA5}">
                      <a16:colId xmlns:a16="http://schemas.microsoft.com/office/drawing/2014/main" val="3674742648"/>
                    </a:ext>
                  </a:extLst>
                </a:gridCol>
              </a:tblGrid>
              <a:tr h="771834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1" i="0" dirty="0">
                          <a:effectLst/>
                          <a:latin typeface="Segoe UI" panose="020B0502040204020203" pitchFamily="34" charset="0"/>
                        </a:rPr>
                        <a:t>Common Placement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 Bottom Centre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 Bottom Right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89109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1" i="0" dirty="0">
                          <a:effectLst/>
                          <a:latin typeface="Segoe UI" panose="020B0502040204020203" pitchFamily="34" charset="0"/>
                        </a:rPr>
                        <a:t>Example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Page 1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Page 2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Page 3</a:t>
                      </a:r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848829"/>
                  </a:ext>
                </a:extLst>
              </a:tr>
              <a:tr h="30873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0896247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70581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75481-D6F7-B255-7DF0-00D324A60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Heading Hierarchy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C5E94E-5891-332D-1144-540BBA4519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report should have clear sections.</a:t>
            </a:r>
          </a:p>
          <a:p>
            <a:r>
              <a:rPr lang="en-US" dirty="0"/>
              <a:t>1 Introduction</a:t>
            </a:r>
          </a:p>
          <a:p>
            <a:r>
              <a:rPr lang="en-US" dirty="0"/>
              <a:t>1.1 Background</a:t>
            </a:r>
          </a:p>
          <a:p>
            <a:r>
              <a:rPr lang="en-US" dirty="0"/>
              <a:t>1.2 Aim</a:t>
            </a:r>
          </a:p>
          <a:p>
            <a:r>
              <a:rPr lang="en-US" dirty="0"/>
              <a:t>1.3 Objectives</a:t>
            </a:r>
          </a:p>
          <a:p>
            <a:r>
              <a:rPr lang="en-US" dirty="0"/>
              <a:t>1.4 Scope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56F5C62-A647-E1A3-3D4F-0D43306EF554}"/>
              </a:ext>
            </a:extLst>
          </p:cNvPr>
          <p:cNvGraphicFramePr>
            <a:graphicFrameLocks noGrp="1"/>
          </p:cNvGraphicFramePr>
          <p:nvPr/>
        </p:nvGraphicFramePr>
        <p:xfrm>
          <a:off x="6961207" y="1928198"/>
          <a:ext cx="4526666" cy="1520405"/>
        </p:xfrm>
        <a:graphic>
          <a:graphicData uri="http://schemas.openxmlformats.org/drawingml/2006/table">
            <a:tbl>
              <a:tblPr/>
              <a:tblGrid>
                <a:gridCol w="4526666">
                  <a:extLst>
                    <a:ext uri="{9D8B030D-6E8A-4147-A177-3AD203B41FA5}">
                      <a16:colId xmlns:a16="http://schemas.microsoft.com/office/drawing/2014/main" val="1687947394"/>
                    </a:ext>
                  </a:extLst>
                </a:gridCol>
              </a:tblGrid>
              <a:tr h="1086004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1" i="0" dirty="0">
                          <a:effectLst/>
                          <a:latin typeface="Segoe UI" panose="020B0502040204020203" pitchFamily="34" charset="0"/>
                        </a:rPr>
                        <a:t>Use: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Heading 1 → Main Chapter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Heading 2 → Subsections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738189"/>
                  </a:ext>
                </a:extLst>
              </a:tr>
              <a:tr h="43440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1800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5140277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74659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23A5D-1D43-E164-711D-8070DC420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1 Structure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0FF0B01-C130-2442-8E2B-E38562D247C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581703"/>
          <a:ext cx="10515600" cy="46696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8651175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ct val="15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Today you will write:</a:t>
                      </a:r>
                    </a:p>
                    <a:p>
                      <a:pPr fontAlgn="t">
                        <a:lnSpc>
                          <a:spcPct val="150000"/>
                        </a:lnSpc>
                        <a:buNone/>
                      </a:pPr>
                      <a:r>
                        <a:rPr lang="en-US" sz="1800" b="1" i="0" dirty="0">
                          <a:effectLst/>
                          <a:latin typeface="Segoe UI" panose="020B0502040204020203" pitchFamily="34" charset="0"/>
                        </a:rPr>
                        <a:t>1 Introduction</a:t>
                      </a:r>
                    </a:p>
                    <a:p>
                      <a:pPr fontAlgn="t">
                        <a:lnSpc>
                          <a:spcPct val="150000"/>
                        </a:lnSpc>
                        <a:buNone/>
                      </a:pPr>
                      <a:r>
                        <a:rPr lang="en-US" sz="1800" b="1" i="0" dirty="0">
                          <a:effectLst/>
                          <a:latin typeface="Segoe UI" panose="020B0502040204020203" pitchFamily="34" charset="0"/>
                        </a:rPr>
                        <a:t>1.1 Background</a:t>
                      </a:r>
                    </a:p>
                    <a:p>
                      <a:pPr fontAlgn="t">
                        <a:lnSpc>
                          <a:spcPct val="15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What is the topic?</a:t>
                      </a:r>
                    </a:p>
                    <a:p>
                      <a:pPr fontAlgn="t">
                        <a:lnSpc>
                          <a:spcPct val="150000"/>
                        </a:lnSpc>
                        <a:buNone/>
                      </a:pPr>
                      <a:r>
                        <a:rPr lang="en-US" sz="1800" b="1" i="0" dirty="0">
                          <a:effectLst/>
                          <a:latin typeface="Segoe UI" panose="020B0502040204020203" pitchFamily="34" charset="0"/>
                        </a:rPr>
                        <a:t>1.2 Aim</a:t>
                      </a:r>
                    </a:p>
                    <a:p>
                      <a:pPr fontAlgn="t">
                        <a:lnSpc>
                          <a:spcPct val="15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What does the report investigate?</a:t>
                      </a:r>
                    </a:p>
                    <a:p>
                      <a:pPr fontAlgn="t">
                        <a:lnSpc>
                          <a:spcPct val="150000"/>
                        </a:lnSpc>
                        <a:buNone/>
                      </a:pPr>
                      <a:r>
                        <a:rPr lang="en-US" sz="1800" b="1" i="0" dirty="0">
                          <a:effectLst/>
                          <a:latin typeface="Segoe UI" panose="020B0502040204020203" pitchFamily="34" charset="0"/>
                        </a:rPr>
                        <a:t>1.3 Objectives</a:t>
                      </a:r>
                    </a:p>
                    <a:p>
                      <a:pPr fontAlgn="t">
                        <a:lnSpc>
                          <a:spcPct val="15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What are we trying to achieve?</a:t>
                      </a:r>
                    </a:p>
                    <a:p>
                      <a:pPr fontAlgn="t">
                        <a:lnSpc>
                          <a:spcPct val="150000"/>
                        </a:lnSpc>
                        <a:buNone/>
                      </a:pPr>
                      <a:r>
                        <a:rPr lang="en-US" sz="1800" b="1" i="0" dirty="0">
                          <a:effectLst/>
                          <a:latin typeface="Segoe UI" panose="020B0502040204020203" pitchFamily="34" charset="0"/>
                        </a:rPr>
                        <a:t>1.4 Scope</a:t>
                      </a:r>
                    </a:p>
                    <a:p>
                      <a:pPr fontAlgn="t">
                        <a:lnSpc>
                          <a:spcPct val="15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What does the report cover?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60015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en-US" sz="1800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7786680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23563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C507B-D1D5-551C-085C-AB93980B6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 Good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1FD3DD-A8C0-F04A-EDA8-562F5B7057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Objectives should begin with action verbs.</a:t>
            </a:r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To identify</a:t>
            </a:r>
          </a:p>
          <a:p>
            <a:pPr lvl="1"/>
            <a:r>
              <a:rPr lang="en-US" dirty="0"/>
              <a:t>To examine</a:t>
            </a:r>
          </a:p>
          <a:p>
            <a:pPr lvl="1"/>
            <a:r>
              <a:rPr lang="en-US" dirty="0"/>
              <a:t>To analyze</a:t>
            </a:r>
          </a:p>
          <a:p>
            <a:pPr lvl="1"/>
            <a:r>
              <a:rPr lang="en-US" dirty="0"/>
              <a:t>To evaluate</a:t>
            </a:r>
          </a:p>
          <a:p>
            <a:pPr lvl="1"/>
            <a:r>
              <a:rPr lang="en-US" dirty="0"/>
              <a:t>To recommend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BCA73B8-04A1-3597-883F-2C1640E87A9F}"/>
              </a:ext>
            </a:extLst>
          </p:cNvPr>
          <p:cNvGraphicFramePr>
            <a:graphicFrameLocks noGrp="1"/>
          </p:cNvGraphicFramePr>
          <p:nvPr/>
        </p:nvGraphicFramePr>
        <p:xfrm>
          <a:off x="1006033" y="4930815"/>
          <a:ext cx="5319532" cy="1613258"/>
        </p:xfrm>
        <a:graphic>
          <a:graphicData uri="http://schemas.openxmlformats.org/drawingml/2006/table">
            <a:tbl>
              <a:tblPr/>
              <a:tblGrid>
                <a:gridCol w="5319532">
                  <a:extLst>
                    <a:ext uri="{9D8B030D-6E8A-4147-A177-3AD203B41FA5}">
                      <a16:colId xmlns:a16="http://schemas.microsoft.com/office/drawing/2014/main" val="3680342625"/>
                    </a:ext>
                  </a:extLst>
                </a:gridCol>
              </a:tblGrid>
              <a:tr h="1233668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1" i="0" dirty="0">
                          <a:effectLst/>
                          <a:latin typeface="Segoe UI" panose="020B0502040204020203" pitchFamily="34" charset="0"/>
                        </a:rPr>
                        <a:t>Example: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To identify the applications of AI in education.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To examine benefits of AI for students.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To evaluate challenges of AI adoption.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2651682"/>
                  </a:ext>
                </a:extLst>
              </a:tr>
              <a:tr h="3795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1800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736551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96915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46028-D6E0-D806-1245-A7172ADC0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Mistakes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4263301-2048-2DD5-DAED-5D74000C9A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2956339"/>
              </p:ext>
            </p:extLst>
          </p:nvPr>
        </p:nvGraphicFramePr>
        <p:xfrm>
          <a:off x="930797" y="1690688"/>
          <a:ext cx="10515600" cy="34351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2942265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ct val="150000"/>
                        </a:lnSpc>
                        <a:buNone/>
                      </a:pPr>
                      <a:r>
                        <a:rPr lang="en-US" sz="1800" b="1" i="0" dirty="0">
                          <a:effectLst/>
                          <a:latin typeface="Segoe UI" panose="020B0502040204020203" pitchFamily="34" charset="0"/>
                        </a:rPr>
                        <a:t>Avoid:</a:t>
                      </a:r>
                    </a:p>
                    <a:p>
                      <a:pPr fontAlgn="t">
                        <a:lnSpc>
                          <a:spcPct val="15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Multiple fonts</a:t>
                      </a:r>
                    </a:p>
                    <a:p>
                      <a:pPr fontAlgn="t">
                        <a:lnSpc>
                          <a:spcPct val="15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Multiple font sizes</a:t>
                      </a:r>
                    </a:p>
                    <a:p>
                      <a:pPr fontAlgn="t">
                        <a:lnSpc>
                          <a:spcPct val="15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Very long paragraphs</a:t>
                      </a:r>
                    </a:p>
                    <a:p>
                      <a:pPr fontAlgn="t">
                        <a:lnSpc>
                          <a:spcPct val="15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No headings</a:t>
                      </a:r>
                    </a:p>
                    <a:p>
                      <a:pPr fontAlgn="t">
                        <a:lnSpc>
                          <a:spcPct val="15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Copy-paste from websites</a:t>
                      </a:r>
                    </a:p>
                    <a:p>
                      <a:pPr fontAlgn="t">
                        <a:lnSpc>
                          <a:spcPct val="15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Inconsistent formatting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7669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en-US" sz="1800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5558668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11731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B526C-7ECC-6C99-C5BE-D79CCB4F3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Recommended Report Settings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FE438-A1DF-1407-6D59-1EB416BB94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For this coursework:</a:t>
            </a:r>
          </a:p>
          <a:p>
            <a:pPr lvl="1"/>
            <a:r>
              <a:rPr lang="en-US" dirty="0"/>
              <a:t>Document Format</a:t>
            </a:r>
          </a:p>
          <a:p>
            <a:pPr lvl="1"/>
            <a:r>
              <a:rPr lang="en-US" dirty="0"/>
              <a:t>Paper Size: A4</a:t>
            </a:r>
          </a:p>
          <a:p>
            <a:pPr lvl="1"/>
            <a:r>
              <a:rPr lang="en-US" dirty="0"/>
              <a:t>Orientation: Portrait</a:t>
            </a:r>
          </a:p>
          <a:p>
            <a:pPr lvl="1"/>
            <a:r>
              <a:rPr lang="en-US" dirty="0"/>
              <a:t>Margins: Normal</a:t>
            </a:r>
          </a:p>
          <a:p>
            <a:pPr lvl="1"/>
            <a:r>
              <a:rPr lang="en-US" dirty="0"/>
              <a:t>Font: Times New Roman</a:t>
            </a:r>
          </a:p>
          <a:p>
            <a:pPr lvl="1"/>
            <a:r>
              <a:rPr lang="en-US" dirty="0"/>
              <a:t>Font Size: 12pt</a:t>
            </a:r>
          </a:p>
          <a:p>
            <a:pPr lvl="1"/>
            <a:r>
              <a:rPr lang="en-US" dirty="0"/>
              <a:t>Line Spacing: 1.5</a:t>
            </a:r>
          </a:p>
          <a:p>
            <a:pPr lvl="1"/>
            <a:r>
              <a:rPr lang="en-US" dirty="0"/>
              <a:t>Alignment: Justified</a:t>
            </a:r>
          </a:p>
          <a:p>
            <a:pPr lvl="1"/>
            <a:r>
              <a:rPr lang="en-US" dirty="0"/>
              <a:t>Page Numbers: Bottom Centre</a:t>
            </a:r>
          </a:p>
        </p:txBody>
      </p:sp>
    </p:spTree>
    <p:extLst>
      <p:ext uri="{BB962C8B-B14F-4D97-AF65-F5344CB8AC3E}">
        <p14:creationId xmlns:p14="http://schemas.microsoft.com/office/powerpoint/2010/main" val="6307783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D267C-71D9-E48B-50F6-7614AAEE0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Recommended Font Format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F1BA514-3AE9-AA0A-FEF2-105DEF5BE2F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91962" y="1825626"/>
          <a:ext cx="10008076" cy="4003229"/>
        </p:xfrm>
        <a:graphic>
          <a:graphicData uri="http://schemas.openxmlformats.org/drawingml/2006/table">
            <a:tbl>
              <a:tblPr/>
              <a:tblGrid>
                <a:gridCol w="2502019">
                  <a:extLst>
                    <a:ext uri="{9D8B030D-6E8A-4147-A177-3AD203B41FA5}">
                      <a16:colId xmlns:a16="http://schemas.microsoft.com/office/drawing/2014/main" val="1005553836"/>
                    </a:ext>
                  </a:extLst>
                </a:gridCol>
                <a:gridCol w="2502019">
                  <a:extLst>
                    <a:ext uri="{9D8B030D-6E8A-4147-A177-3AD203B41FA5}">
                      <a16:colId xmlns:a16="http://schemas.microsoft.com/office/drawing/2014/main" val="970038149"/>
                    </a:ext>
                  </a:extLst>
                </a:gridCol>
                <a:gridCol w="2502019">
                  <a:extLst>
                    <a:ext uri="{9D8B030D-6E8A-4147-A177-3AD203B41FA5}">
                      <a16:colId xmlns:a16="http://schemas.microsoft.com/office/drawing/2014/main" val="3162223436"/>
                    </a:ext>
                  </a:extLst>
                </a:gridCol>
                <a:gridCol w="2502019">
                  <a:extLst>
                    <a:ext uri="{9D8B030D-6E8A-4147-A177-3AD203B41FA5}">
                      <a16:colId xmlns:a16="http://schemas.microsoft.com/office/drawing/2014/main" val="918390456"/>
                    </a:ext>
                  </a:extLst>
                </a:gridCol>
              </a:tblGrid>
              <a:tr h="348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effectLst/>
                        </a:rPr>
                        <a:t>Report Element</a:t>
                      </a:r>
                    </a:p>
                  </a:txBody>
                  <a:tcPr marL="87027" marR="87027" marT="43513" marB="43513" anchor="ctr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>
                          <a:effectLst/>
                        </a:rPr>
                        <a:t>Font Style</a:t>
                      </a:r>
                    </a:p>
                  </a:txBody>
                  <a:tcPr marL="87027" marR="87027" marT="43513" marB="43513" anchor="ctr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effectLst/>
                        </a:rPr>
                        <a:t>Font Size</a:t>
                      </a:r>
                    </a:p>
                  </a:txBody>
                  <a:tcPr marL="87027" marR="87027" marT="43513" marB="43513" anchor="ctr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>
                          <a:effectLst/>
                        </a:rPr>
                        <a:t>Formatting</a:t>
                      </a:r>
                    </a:p>
                  </a:txBody>
                  <a:tcPr marL="87027" marR="87027" marT="43513" marB="43513" anchor="ctr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8182339"/>
                  </a:ext>
                </a:extLst>
              </a:tr>
              <a:tr h="6091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effectLst/>
                        </a:rPr>
                        <a:t>Main body text</a:t>
                      </a:r>
                    </a:p>
                  </a:txBody>
                  <a:tcPr marL="87027" marR="87027" marT="43513" marB="43513" anchor="ctr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effectLst/>
                        </a:rPr>
                        <a:t>Times New Roman / Calibri</a:t>
                      </a:r>
                    </a:p>
                  </a:txBody>
                  <a:tcPr marL="87027" marR="87027" marT="43513" marB="43513" anchor="ctr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effectLst/>
                        </a:rPr>
                        <a:t>12 pt</a:t>
                      </a:r>
                    </a:p>
                  </a:txBody>
                  <a:tcPr marL="87027" marR="87027" marT="43513" marB="43513" anchor="ctr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effectLst/>
                        </a:rPr>
                        <a:t>Regular</a:t>
                      </a:r>
                    </a:p>
                  </a:txBody>
                  <a:tcPr marL="87027" marR="87027" marT="43513" marB="43513" anchor="ctr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82293"/>
                  </a:ext>
                </a:extLst>
              </a:tr>
              <a:tr h="6091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effectLst/>
                        </a:rPr>
                        <a:t>Chapter headings</a:t>
                      </a:r>
                    </a:p>
                  </a:txBody>
                  <a:tcPr marL="87027" marR="87027" marT="43513" marB="43513" anchor="ctr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effectLst/>
                        </a:rPr>
                        <a:t>Times New Roman / Calibri</a:t>
                      </a:r>
                    </a:p>
                  </a:txBody>
                  <a:tcPr marL="87027" marR="87027" marT="43513" marB="43513" anchor="ctr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effectLst/>
                        </a:rPr>
                        <a:t>14 to 16 pt</a:t>
                      </a:r>
                    </a:p>
                  </a:txBody>
                  <a:tcPr marL="87027" marR="87027" marT="43513" marB="43513" anchor="ctr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effectLst/>
                        </a:rPr>
                        <a:t>Bold</a:t>
                      </a:r>
                    </a:p>
                  </a:txBody>
                  <a:tcPr marL="87027" marR="87027" marT="43513" marB="43513" anchor="ctr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002844"/>
                  </a:ext>
                </a:extLst>
              </a:tr>
              <a:tr h="6091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effectLst/>
                        </a:rPr>
                        <a:t>Subheadings</a:t>
                      </a:r>
                    </a:p>
                  </a:txBody>
                  <a:tcPr marL="87027" marR="87027" marT="43513" marB="43513" anchor="ctr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effectLst/>
                        </a:rPr>
                        <a:t>Times New Roman / Calibri</a:t>
                      </a:r>
                    </a:p>
                  </a:txBody>
                  <a:tcPr marL="87027" marR="87027" marT="43513" marB="43513" anchor="ctr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effectLst/>
                        </a:rPr>
                        <a:t>12 to 14 pt</a:t>
                      </a:r>
                    </a:p>
                  </a:txBody>
                  <a:tcPr marL="87027" marR="87027" marT="43513" marB="43513" anchor="ctr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effectLst/>
                        </a:rPr>
                        <a:t>Bold</a:t>
                      </a:r>
                    </a:p>
                  </a:txBody>
                  <a:tcPr marL="87027" marR="87027" marT="43513" marB="43513" anchor="ctr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4631206"/>
                  </a:ext>
                </a:extLst>
              </a:tr>
              <a:tr h="6091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effectLst/>
                        </a:rPr>
                        <a:t>Table and figure captions</a:t>
                      </a:r>
                    </a:p>
                  </a:txBody>
                  <a:tcPr marL="87027" marR="87027" marT="43513" marB="43513" anchor="ctr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effectLst/>
                        </a:rPr>
                        <a:t>Times New Roman / Calibri</a:t>
                      </a:r>
                    </a:p>
                  </a:txBody>
                  <a:tcPr marL="87027" marR="87027" marT="43513" marB="43513" anchor="ctr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effectLst/>
                        </a:rPr>
                        <a:t>10 to 11 pt</a:t>
                      </a:r>
                    </a:p>
                  </a:txBody>
                  <a:tcPr marL="87027" marR="87027" marT="43513" marB="43513" anchor="ctr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effectLst/>
                        </a:rPr>
                        <a:t>Regular / Italic optional</a:t>
                      </a:r>
                    </a:p>
                  </a:txBody>
                  <a:tcPr marL="87027" marR="87027" marT="43513" marB="43513" anchor="ctr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639413"/>
                  </a:ext>
                </a:extLst>
              </a:tr>
              <a:tr h="6091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effectLst/>
                        </a:rPr>
                        <a:t>References</a:t>
                      </a:r>
                    </a:p>
                  </a:txBody>
                  <a:tcPr marL="87027" marR="87027" marT="43513" marB="43513" anchor="ctr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effectLst/>
                        </a:rPr>
                        <a:t>Times New Roman / Calibri</a:t>
                      </a:r>
                    </a:p>
                  </a:txBody>
                  <a:tcPr marL="87027" marR="87027" marT="43513" marB="43513" anchor="ctr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effectLst/>
                        </a:rPr>
                        <a:t>12 pt</a:t>
                      </a:r>
                    </a:p>
                  </a:txBody>
                  <a:tcPr marL="87027" marR="87027" marT="43513" marB="43513" anchor="ctr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effectLst/>
                        </a:rPr>
                        <a:t>Regular</a:t>
                      </a:r>
                    </a:p>
                  </a:txBody>
                  <a:tcPr marL="87027" marR="87027" marT="43513" marB="43513" anchor="ctr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4797850"/>
                  </a:ext>
                </a:extLst>
              </a:tr>
              <a:tr h="6091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effectLst/>
                        </a:rPr>
                        <a:t>Cover page title</a:t>
                      </a:r>
                    </a:p>
                  </a:txBody>
                  <a:tcPr marL="87027" marR="87027" marT="43513" marB="43513" anchor="ctr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effectLst/>
                        </a:rPr>
                        <a:t>Times New Roman / Calibri</a:t>
                      </a:r>
                    </a:p>
                  </a:txBody>
                  <a:tcPr marL="87027" marR="87027" marT="43513" marB="43513" anchor="ctr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effectLst/>
                        </a:rPr>
                        <a:t>16 to 18 pt</a:t>
                      </a:r>
                    </a:p>
                  </a:txBody>
                  <a:tcPr marL="87027" marR="87027" marT="43513" marB="43513" anchor="ctr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700" dirty="0">
                          <a:effectLst/>
                        </a:rPr>
                        <a:t>Bold</a:t>
                      </a:r>
                      <a:endParaRPr lang="en-US" sz="1000" b="0" i="0" dirty="0"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7027" marR="87027" marT="43513" marB="43513" anchor="ctr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18997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59329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03288-F9FF-B532-D672-8D33F757E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Paragraph Formatting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5632A94A-5F78-D51D-9678-79575AA708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2318085"/>
              </p:ext>
            </p:extLst>
          </p:nvPr>
        </p:nvGraphicFramePr>
        <p:xfrm>
          <a:off x="792480" y="1374472"/>
          <a:ext cx="10515600" cy="4902645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784070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ct val="150000"/>
                        </a:lnSpc>
                        <a:buNone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The report should use </a:t>
                      </a:r>
                      <a:r>
                        <a:rPr lang="en-US" sz="1600" b="1" i="0" dirty="0">
                          <a:effectLst/>
                          <a:latin typeface="Segoe UI" panose="020B0502040204020203" pitchFamily="34" charset="0"/>
                        </a:rPr>
                        <a:t>1.5 line spacing</a:t>
                      </a: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 for the main body text. Paragraphs should be aligned using </a:t>
                      </a:r>
                      <a:r>
                        <a:rPr lang="en-US" sz="1600" b="1" i="0" dirty="0">
                          <a:effectLst/>
                          <a:latin typeface="Segoe UI" panose="020B0502040204020203" pitchFamily="34" charset="0"/>
                        </a:rPr>
                        <a:t>Justify</a:t>
                      </a: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 so that the text looks neat on both the left and right sides. Students should avoid using too many font types, random </a:t>
                      </a:r>
                      <a:r>
                        <a:rPr lang="en-US" sz="1600" b="0" i="0" dirty="0" err="1">
                          <a:effectLst/>
                          <a:latin typeface="Segoe UI" panose="020B0502040204020203" pitchFamily="34" charset="0"/>
                        </a:rPr>
                        <a:t>colours</a:t>
                      </a: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, or decorative styles because academic reports should look formal and consistent.</a:t>
                      </a:r>
                    </a:p>
                    <a:p>
                      <a:pPr fontAlgn="t">
                        <a:lnSpc>
                          <a:spcPct val="150000"/>
                        </a:lnSpc>
                        <a:buNone/>
                      </a:pPr>
                      <a:r>
                        <a:rPr lang="en-US" sz="1600" b="1" i="0" dirty="0">
                          <a:effectLst/>
                          <a:latin typeface="Segoe UI" panose="020B0502040204020203" pitchFamily="34" charset="0"/>
                        </a:rPr>
                        <a:t>Heading Style</a:t>
                      </a:r>
                    </a:p>
                    <a:p>
                      <a:pPr fontAlgn="t">
                        <a:lnSpc>
                          <a:spcPct val="150000"/>
                        </a:lnSpc>
                        <a:buNone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Students should use Word’s built-in heading styles:</a:t>
                      </a:r>
                    </a:p>
                    <a:p>
                      <a:pPr fontAlgn="t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i="0" dirty="0">
                          <a:effectLst/>
                          <a:latin typeface="Segoe UI" panose="020B0502040204020203" pitchFamily="34" charset="0"/>
                        </a:rPr>
                        <a:t>Heading 1</a:t>
                      </a: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 for main chapters, for example:</a:t>
                      </a:r>
                      <a:b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n-US" sz="1600" b="0" i="0" dirty="0">
                          <a:effectLst/>
                          <a:latin typeface="Courier New" panose="02070309020205020404" pitchFamily="49" charset="0"/>
                        </a:rPr>
                        <a:t>1. Introduction</a:t>
                      </a:r>
                      <a:endParaRPr lang="en-US" sz="16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i="0" dirty="0">
                          <a:effectLst/>
                          <a:latin typeface="Segoe UI" panose="020B0502040204020203" pitchFamily="34" charset="0"/>
                        </a:rPr>
                        <a:t>Heading 2</a:t>
                      </a: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 for subsections, for example:</a:t>
                      </a:r>
                      <a:b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n-US" sz="1600" b="0" i="0" dirty="0">
                          <a:effectLst/>
                          <a:latin typeface="Courier New" panose="02070309020205020404" pitchFamily="49" charset="0"/>
                        </a:rPr>
                        <a:t>1.1 Background</a:t>
                      </a:r>
                      <a:endParaRPr lang="en-US" sz="16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i="0" dirty="0">
                          <a:effectLst/>
                          <a:latin typeface="Segoe UI" panose="020B0502040204020203" pitchFamily="34" charset="0"/>
                        </a:rPr>
                        <a:t>Heading 3</a:t>
                      </a: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 for smaller subsections, if needed.</a:t>
                      </a:r>
                    </a:p>
                    <a:p>
                      <a:pPr fontAlgn="t">
                        <a:lnSpc>
                          <a:spcPct val="150000"/>
                        </a:lnSpc>
                        <a:buNone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This is important because heading styles help create an automatic </a:t>
                      </a:r>
                      <a:r>
                        <a:rPr lang="en-US" sz="1600" b="1" i="0" dirty="0">
                          <a:effectLst/>
                          <a:latin typeface="Segoe UI" panose="020B0502040204020203" pitchFamily="34" charset="0"/>
                        </a:rPr>
                        <a:t>Table of Contents</a:t>
                      </a: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 in Microsoft Word. Your own deck also notes that Word’s automatic table of contents is based on headings in the document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28162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en-US" sz="1600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1104754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98104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33239-2596-0FB0-4477-F6C29836F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 Header Only on Page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6FE030-68D0-5C58-E983-A4F51DB1E9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Step 1: Create a Section Before Page 3</a:t>
            </a:r>
          </a:p>
          <a:p>
            <a:pPr lvl="1"/>
            <a:r>
              <a:rPr lang="en-US" dirty="0"/>
              <a:t>Place the cursor at the end of Page 2.</a:t>
            </a:r>
          </a:p>
          <a:p>
            <a:pPr lvl="1"/>
            <a:r>
              <a:rPr lang="en-US" dirty="0"/>
              <a:t>Go to Layout → Breaks → Next Page.</a:t>
            </a:r>
          </a:p>
          <a:p>
            <a:pPr lvl="1"/>
            <a:r>
              <a:rPr lang="en-US" dirty="0"/>
              <a:t>Step 2: Create a Section After Page 3</a:t>
            </a:r>
          </a:p>
          <a:p>
            <a:pPr lvl="1"/>
            <a:r>
              <a:rPr lang="en-US" dirty="0"/>
              <a:t>Place the cursor at the end of Page 3.</a:t>
            </a:r>
          </a:p>
          <a:p>
            <a:pPr lvl="1"/>
            <a:r>
              <a:rPr lang="en-US" dirty="0"/>
              <a:t>Go to Layout → Breaks → Next Page.</a:t>
            </a:r>
          </a:p>
          <a:p>
            <a:r>
              <a:rPr lang="fr-FR" b="1" dirty="0"/>
              <a:t>Now:</a:t>
            </a:r>
          </a:p>
          <a:p>
            <a:pPr lvl="1"/>
            <a:r>
              <a:rPr lang="fr-FR" dirty="0"/>
              <a:t>Pages 1-2 = Section 1</a:t>
            </a:r>
          </a:p>
          <a:p>
            <a:pPr lvl="1"/>
            <a:r>
              <a:rPr lang="fr-FR" dirty="0"/>
              <a:t>Page 3 = Section 2</a:t>
            </a:r>
          </a:p>
          <a:p>
            <a:pPr lvl="1"/>
            <a:r>
              <a:rPr lang="fr-FR" dirty="0"/>
              <a:t>Pages 4 </a:t>
            </a:r>
            <a:r>
              <a:rPr lang="fr-FR" dirty="0" err="1"/>
              <a:t>onward</a:t>
            </a:r>
            <a:r>
              <a:rPr lang="fr-FR" dirty="0"/>
              <a:t> = Section 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793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BEBCF-9D32-BF4C-2463-1370AA4A2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 Header Only on Page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E6F4C-FD15-0271-9053-81E40961A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Step 3: Unlink Headers</a:t>
            </a:r>
          </a:p>
          <a:p>
            <a:pPr lvl="1"/>
            <a:r>
              <a:rPr lang="en-US" dirty="0"/>
              <a:t>Double-click the header on Page 3.</a:t>
            </a:r>
          </a:p>
          <a:p>
            <a:pPr lvl="1"/>
            <a:r>
              <a:rPr lang="en-US" dirty="0"/>
              <a:t>In the Header &amp; Footer tab, click Link to Previous to turn it OFF.</a:t>
            </a:r>
          </a:p>
          <a:p>
            <a:pPr lvl="1"/>
            <a:r>
              <a:rPr lang="en-US" dirty="0"/>
              <a:t>Go to Page 4 (Section 3).</a:t>
            </a:r>
          </a:p>
          <a:p>
            <a:pPr lvl="1"/>
            <a:r>
              <a:rPr lang="en-US" dirty="0"/>
              <a:t>Double-click its header and also turn Link to Previous OFF.</a:t>
            </a:r>
          </a:p>
          <a:p>
            <a:r>
              <a:rPr lang="en-US" b="1" dirty="0"/>
              <a:t>Step 4: Add Your Custom Header</a:t>
            </a:r>
          </a:p>
          <a:p>
            <a:pPr lvl="1"/>
            <a:r>
              <a:rPr lang="en-US" dirty="0"/>
              <a:t>On Page 3, type your custom header.</a:t>
            </a:r>
          </a:p>
          <a:p>
            <a:r>
              <a:rPr lang="en-US" b="1" dirty="0"/>
              <a:t>Step 5: Remove Header from Other Sections</a:t>
            </a:r>
          </a:p>
          <a:p>
            <a:pPr lvl="1"/>
            <a:r>
              <a:rPr lang="en-US" dirty="0"/>
              <a:t>Go to Section 1 header and delete any text.</a:t>
            </a:r>
          </a:p>
          <a:p>
            <a:pPr lvl="1"/>
            <a:r>
              <a:rPr lang="en-US" dirty="0"/>
              <a:t>Go to Section 3 header and delete any text.</a:t>
            </a:r>
          </a:p>
        </p:txBody>
      </p:sp>
    </p:spTree>
    <p:extLst>
      <p:ext uri="{BB962C8B-B14F-4D97-AF65-F5344CB8AC3E}">
        <p14:creationId xmlns:p14="http://schemas.microsoft.com/office/powerpoint/2010/main" val="18358781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141A9-721B-3310-657E-D00B60DC3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Paper Size Format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38B289-03E4-219F-FAC1-118A105604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Step 1: Create a New Word Document</a:t>
            </a:r>
            <a:endParaRPr lang="en-US" dirty="0"/>
          </a:p>
          <a:p>
            <a:pPr lvl="1"/>
            <a:r>
              <a:rPr lang="en-US" dirty="0"/>
              <a:t>Open </a:t>
            </a:r>
            <a:r>
              <a:rPr lang="en-US" b="1" dirty="0"/>
              <a:t>Microsoft Word</a:t>
            </a:r>
            <a:endParaRPr lang="en-US" dirty="0"/>
          </a:p>
          <a:p>
            <a:pPr lvl="1"/>
            <a:r>
              <a:rPr lang="en-US" dirty="0"/>
              <a:t>Click </a:t>
            </a:r>
            <a:r>
              <a:rPr lang="en-US" b="1" dirty="0"/>
              <a:t>Blank Document</a:t>
            </a:r>
            <a:endParaRPr lang="en-US" dirty="0"/>
          </a:p>
          <a:p>
            <a:pPr lvl="1"/>
            <a:r>
              <a:rPr lang="en-US" dirty="0"/>
              <a:t>Save the file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Step 2: Set Paper Size (A4)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Why?</a:t>
            </a:r>
            <a:endParaRPr lang="en-US" dirty="0"/>
          </a:p>
          <a:p>
            <a:pPr lvl="1"/>
            <a:r>
              <a:rPr lang="en-US" dirty="0"/>
              <a:t>Most universities and organizations use A4 paper.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Steps</a:t>
            </a:r>
            <a:endParaRPr lang="en-US" dirty="0"/>
          </a:p>
          <a:p>
            <a:pPr lvl="1"/>
            <a:r>
              <a:rPr lang="en-US" dirty="0"/>
              <a:t>Click </a:t>
            </a:r>
            <a:r>
              <a:rPr lang="en-US" b="1" dirty="0"/>
              <a:t>Layout</a:t>
            </a:r>
            <a:r>
              <a:rPr lang="en-US" dirty="0"/>
              <a:t> tab</a:t>
            </a:r>
          </a:p>
          <a:p>
            <a:pPr lvl="1"/>
            <a:r>
              <a:rPr lang="en-US" dirty="0"/>
              <a:t>Click </a:t>
            </a:r>
            <a:r>
              <a:rPr lang="en-US" b="1" dirty="0"/>
              <a:t>Size</a:t>
            </a:r>
            <a:endParaRPr lang="en-US" dirty="0"/>
          </a:p>
          <a:p>
            <a:pPr lvl="1"/>
            <a:r>
              <a:rPr lang="en-US" dirty="0"/>
              <a:t>Select </a:t>
            </a:r>
            <a:r>
              <a:rPr lang="en-US" b="1" dirty="0"/>
              <a:t>A4 (210 × 297 mm)</a:t>
            </a:r>
            <a:endParaRPr lang="en-US" dirty="0"/>
          </a:p>
          <a:p>
            <a:pPr lvl="1"/>
            <a:r>
              <a:rPr lang="en-US" dirty="0"/>
              <a:t>Your document now uses A4 paper size.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lvl="0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47787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8AE6A-0110-F63B-4FC6-FCDD2F559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Margins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FA927-269D-C0D2-DA7E-C296A46679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Why?</a:t>
            </a:r>
            <a:endParaRPr lang="en-US" dirty="0"/>
          </a:p>
          <a:p>
            <a:pPr marL="914400" lvl="2" indent="0">
              <a:buNone/>
            </a:pPr>
            <a:r>
              <a:rPr lang="en-US" dirty="0"/>
              <a:t>Margins create white space around the page.</a:t>
            </a:r>
          </a:p>
          <a:p>
            <a:pPr marL="0" indent="0">
              <a:buNone/>
            </a:pPr>
            <a:r>
              <a:rPr lang="en-US" b="1" dirty="0"/>
              <a:t>Steps</a:t>
            </a:r>
            <a:endParaRPr lang="en-US" dirty="0"/>
          </a:p>
          <a:p>
            <a:pPr lvl="2"/>
            <a:r>
              <a:rPr lang="en-US" dirty="0"/>
              <a:t>Go to </a:t>
            </a:r>
            <a:r>
              <a:rPr lang="en-US" b="1" dirty="0"/>
              <a:t>Layout</a:t>
            </a:r>
            <a:endParaRPr lang="en-US" dirty="0"/>
          </a:p>
          <a:p>
            <a:pPr lvl="2"/>
            <a:r>
              <a:rPr lang="en-US" dirty="0"/>
              <a:t>Click </a:t>
            </a:r>
            <a:r>
              <a:rPr lang="en-US" b="1" dirty="0"/>
              <a:t>Margins</a:t>
            </a:r>
            <a:endParaRPr lang="en-US" dirty="0"/>
          </a:p>
          <a:p>
            <a:pPr lvl="2"/>
            <a:r>
              <a:rPr lang="en-US" dirty="0"/>
              <a:t>Select </a:t>
            </a:r>
            <a:r>
              <a:rPr lang="en-US" b="1" dirty="0"/>
              <a:t>Normal</a:t>
            </a:r>
            <a:endParaRPr lang="en-US" dirty="0"/>
          </a:p>
          <a:p>
            <a:pPr lvl="2"/>
            <a:r>
              <a:rPr lang="en-US" dirty="0"/>
              <a:t>Default Values:</a:t>
            </a:r>
          </a:p>
          <a:p>
            <a:pPr lvl="2"/>
            <a:r>
              <a:rPr lang="en-US" dirty="0"/>
              <a:t>Top: 2.54 cm</a:t>
            </a:r>
          </a:p>
          <a:p>
            <a:pPr lvl="2"/>
            <a:r>
              <a:rPr lang="en-US" dirty="0"/>
              <a:t>Bottom: 2.54 cm</a:t>
            </a:r>
          </a:p>
          <a:p>
            <a:pPr lvl="2"/>
            <a:r>
              <a:rPr lang="en-US" dirty="0"/>
              <a:t>Left: 2.54 cm</a:t>
            </a:r>
          </a:p>
          <a:p>
            <a:pPr lvl="2"/>
            <a:r>
              <a:rPr lang="en-US" dirty="0"/>
              <a:t>Right: 2.54 cm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59626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A6F9D-D9BB-ECCF-750F-7C148AA4B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Orientation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62BE52-02BB-63CE-B80C-8CE7401D35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Why?</a:t>
            </a:r>
          </a:p>
          <a:p>
            <a:pPr lvl="1"/>
            <a:r>
              <a:rPr lang="en-US" dirty="0"/>
              <a:t>Orientation determines whether the page is vertical or horizontal.</a:t>
            </a:r>
          </a:p>
          <a:p>
            <a:pPr marL="0" indent="0">
              <a:buNone/>
            </a:pPr>
            <a:r>
              <a:rPr lang="en-US" b="1" dirty="0"/>
              <a:t>Steps</a:t>
            </a:r>
          </a:p>
          <a:p>
            <a:pPr marL="914400" lvl="2" indent="0">
              <a:buNone/>
            </a:pPr>
            <a:r>
              <a:rPr lang="en-US" dirty="0"/>
              <a:t>1.Go to Layout</a:t>
            </a:r>
          </a:p>
          <a:p>
            <a:pPr marL="914400" lvl="2" indent="0">
              <a:buNone/>
            </a:pPr>
            <a:r>
              <a:rPr lang="en-US" dirty="0"/>
              <a:t>2.Click Orientation</a:t>
            </a:r>
          </a:p>
          <a:p>
            <a:pPr marL="914400" lvl="2" indent="0">
              <a:buNone/>
            </a:pPr>
            <a:r>
              <a:rPr lang="en-US" dirty="0"/>
              <a:t>3.Select: Portrait</a:t>
            </a:r>
          </a:p>
          <a:p>
            <a:pPr marL="0" indent="0">
              <a:buNone/>
            </a:pPr>
            <a:r>
              <a:rPr lang="en-US" dirty="0"/>
              <a:t>(Use Landscape only for large tables and charts.)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522673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5603A-77F5-B28B-9DA6-1D4ACA078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Header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5E7ADE-EFD0-F517-1AF9-E3F5299F17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Why?</a:t>
            </a:r>
            <a:endParaRPr lang="en-US" dirty="0"/>
          </a:p>
          <a:p>
            <a:pPr lvl="1"/>
            <a:r>
              <a:rPr lang="en-US" dirty="0"/>
              <a:t>Displays report information at the top of every page.</a:t>
            </a:r>
          </a:p>
          <a:p>
            <a:r>
              <a:rPr lang="en-US" b="1" dirty="0"/>
              <a:t>Steps</a:t>
            </a:r>
            <a:endParaRPr lang="en-US" dirty="0"/>
          </a:p>
          <a:p>
            <a:pPr lvl="1"/>
            <a:r>
              <a:rPr lang="en-US" dirty="0"/>
              <a:t>Double-click top area of page</a:t>
            </a:r>
          </a:p>
          <a:p>
            <a:pPr lvl="1"/>
            <a:r>
              <a:rPr lang="en-US" dirty="0"/>
              <a:t>OR</a:t>
            </a:r>
          </a:p>
          <a:p>
            <a:pPr lvl="1"/>
            <a:r>
              <a:rPr lang="en-US" dirty="0"/>
              <a:t>Insert → Header</a:t>
            </a:r>
          </a:p>
          <a:p>
            <a:pPr lvl="1"/>
            <a:r>
              <a:rPr lang="en-US" dirty="0"/>
              <a:t>Choose Blank Header</a:t>
            </a:r>
          </a:p>
          <a:p>
            <a:pPr lvl="1"/>
            <a:r>
              <a:rPr lang="en-US" dirty="0"/>
              <a:t>Type</a:t>
            </a:r>
          </a:p>
          <a:p>
            <a:pPr lvl="1"/>
            <a:r>
              <a:rPr lang="en-US" dirty="0"/>
              <a:t>Report Writing Coursework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786462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5E7D8-23A4-1F75-3D10-593F21D89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Footer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1D8A11-8208-BE06-FD73-4C45C9D3AB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Why?</a:t>
            </a:r>
            <a:endParaRPr lang="en-US" dirty="0"/>
          </a:p>
          <a:p>
            <a:pPr lvl="1"/>
            <a:r>
              <a:rPr lang="en-US" dirty="0"/>
              <a:t>Displays information at bottom of page.</a:t>
            </a:r>
          </a:p>
          <a:p>
            <a:r>
              <a:rPr lang="en-US" b="1" dirty="0"/>
              <a:t>Steps</a:t>
            </a:r>
            <a:endParaRPr lang="en-US" dirty="0"/>
          </a:p>
          <a:p>
            <a:pPr lvl="0"/>
            <a:r>
              <a:rPr lang="en-US" dirty="0"/>
              <a:t>Double-click bottom area</a:t>
            </a:r>
          </a:p>
          <a:p>
            <a:pPr lvl="1"/>
            <a:r>
              <a:rPr lang="en-US" dirty="0"/>
              <a:t>OR</a:t>
            </a:r>
          </a:p>
          <a:p>
            <a:pPr lvl="1"/>
            <a:r>
              <a:rPr lang="en-US" dirty="0"/>
              <a:t>Insert → Footer</a:t>
            </a:r>
          </a:p>
          <a:p>
            <a:pPr lvl="1"/>
            <a:r>
              <a:rPr lang="en-US" dirty="0"/>
              <a:t>Choose Blank Footer</a:t>
            </a:r>
          </a:p>
          <a:p>
            <a:pPr lvl="1"/>
            <a:r>
              <a:rPr lang="en-US" dirty="0"/>
              <a:t>Type PCPS College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22923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651FE-B84D-1FEF-DDC4-4851DA233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Page Number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EB8BF5-E1FC-039B-780D-BFD91AC117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Open your Word document.</a:t>
            </a:r>
          </a:p>
          <a:p>
            <a:pPr lvl="1"/>
            <a:r>
              <a:rPr lang="en-US" dirty="0"/>
              <a:t>Click Insert tab.</a:t>
            </a:r>
          </a:p>
          <a:p>
            <a:pPr lvl="1"/>
            <a:r>
              <a:rPr lang="en-US" dirty="0"/>
              <a:t>Click Page Number.</a:t>
            </a:r>
          </a:p>
          <a:p>
            <a:pPr lvl="1"/>
            <a:r>
              <a:rPr lang="en-US" dirty="0"/>
              <a:t>Choose Bottom of Page.</a:t>
            </a:r>
          </a:p>
          <a:p>
            <a:pPr lvl="1"/>
            <a:r>
              <a:rPr lang="en-US" dirty="0"/>
              <a:t>Select Plain Number 2 (centered page number).</a:t>
            </a:r>
          </a:p>
        </p:txBody>
      </p:sp>
    </p:spTree>
    <p:extLst>
      <p:ext uri="{BB962C8B-B14F-4D97-AF65-F5344CB8AC3E}">
        <p14:creationId xmlns:p14="http://schemas.microsoft.com/office/powerpoint/2010/main" val="366744223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4F074-645C-94C1-7683-D62B30E8F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Remove Page Number from Cover Page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3E23B6-3C41-1FA8-1ED7-21BF44B479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This is Important</a:t>
            </a:r>
            <a:endParaRPr lang="en-US" dirty="0"/>
          </a:p>
          <a:p>
            <a:r>
              <a:rPr lang="en-US" dirty="0"/>
              <a:t>Cover page should not display page number.</a:t>
            </a:r>
          </a:p>
          <a:p>
            <a:r>
              <a:rPr lang="en-US" dirty="0"/>
              <a:t>Steps:</a:t>
            </a:r>
          </a:p>
          <a:p>
            <a:pPr lvl="0"/>
            <a:r>
              <a:rPr lang="en-US" dirty="0"/>
              <a:t>Double-click Footer</a:t>
            </a:r>
          </a:p>
          <a:p>
            <a:pPr lvl="0"/>
            <a:r>
              <a:rPr lang="en-US" dirty="0"/>
              <a:t>Tick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510782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6976B-79BE-A82B-8B11-38D1E95F2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Page Number -&gt; Cover Page Formatting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F1542-08B0-7FB0-600B-BDF57D6AF2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 fontAlgn="t">
              <a:buNone/>
            </a:pPr>
            <a:r>
              <a:rPr lang="en-US" dirty="0"/>
              <a:t>Create a section break after the cover page and start numbering from Page 1 on the second page.</a:t>
            </a:r>
          </a:p>
          <a:p>
            <a:pPr marL="0" indent="0" fontAlgn="t">
              <a:buNone/>
            </a:pPr>
            <a:r>
              <a:rPr lang="en-US" dirty="0"/>
              <a:t>Put cursor at end of Cover Page.</a:t>
            </a:r>
          </a:p>
          <a:p>
            <a:pPr marL="457200" lvl="1" indent="0" fontAlgn="t">
              <a:buNone/>
            </a:pPr>
            <a:r>
              <a:rPr lang="en-US" b="1" dirty="0"/>
              <a:t>Layout → Breaks → Next Page</a:t>
            </a:r>
            <a:endParaRPr lang="en-US" dirty="0"/>
          </a:p>
          <a:p>
            <a:pPr marL="457200" lvl="1" indent="0" fontAlgn="t">
              <a:buNone/>
            </a:pPr>
            <a:r>
              <a:rPr lang="en-US" dirty="0"/>
              <a:t>Go to Page 2 footer.</a:t>
            </a:r>
          </a:p>
          <a:p>
            <a:pPr marL="457200" lvl="1" indent="0" fontAlgn="t">
              <a:buNone/>
            </a:pPr>
            <a:r>
              <a:rPr lang="en-US" dirty="0"/>
              <a:t>Turn off </a:t>
            </a:r>
            <a:r>
              <a:rPr lang="en-US" b="1" dirty="0"/>
              <a:t>Link to Previous</a:t>
            </a:r>
            <a:r>
              <a:rPr lang="en-US" dirty="0"/>
              <a:t>.</a:t>
            </a:r>
          </a:p>
          <a:p>
            <a:pPr marL="457200" lvl="1" indent="0" fontAlgn="t">
              <a:buNone/>
            </a:pPr>
            <a:r>
              <a:rPr lang="en-US" b="1" dirty="0"/>
              <a:t>Insert → Page Number</a:t>
            </a:r>
            <a:endParaRPr lang="en-US" dirty="0"/>
          </a:p>
          <a:p>
            <a:pPr marL="457200" lvl="1" indent="0" fontAlgn="t">
              <a:buNone/>
            </a:pPr>
            <a:r>
              <a:rPr lang="en-US" b="1" dirty="0"/>
              <a:t>Page Number → Format Page Numbers</a:t>
            </a:r>
            <a:endParaRPr lang="en-US" dirty="0"/>
          </a:p>
          <a:p>
            <a:pPr marL="457200" lvl="1" indent="0" fontAlgn="t">
              <a:buNone/>
            </a:pPr>
            <a:r>
              <a:rPr lang="en-US" dirty="0"/>
              <a:t>Select </a:t>
            </a:r>
            <a:r>
              <a:rPr lang="en-US" b="1" dirty="0"/>
              <a:t>Start at: 1</a:t>
            </a:r>
            <a:endParaRPr lang="en-US" dirty="0"/>
          </a:p>
          <a:p>
            <a:pPr marL="0" indent="0" fontAlgn="t">
              <a:buNone/>
            </a:pPr>
            <a:r>
              <a:rPr lang="en-US" b="1" dirty="0"/>
              <a:t>Result:</a:t>
            </a:r>
          </a:p>
          <a:p>
            <a:pPr marL="0" indent="0" fontAlgn="t">
              <a:buNone/>
            </a:pPr>
            <a:r>
              <a:rPr lang="en-US" dirty="0"/>
              <a:t>Cover Page = no number</a:t>
            </a:r>
          </a:p>
          <a:p>
            <a:pPr marL="0" indent="0" fontAlgn="t">
              <a:buNone/>
            </a:pPr>
            <a:r>
              <a:rPr lang="en-US" dirty="0"/>
              <a:t>Abstract = 1</a:t>
            </a:r>
          </a:p>
          <a:p>
            <a:pPr marL="0" indent="0" fontAlgn="t">
              <a:buNone/>
            </a:pPr>
            <a:r>
              <a:rPr lang="en-US" dirty="0"/>
              <a:t>TOC = 2</a:t>
            </a:r>
          </a:p>
          <a:p>
            <a:pPr marL="0" indent="0" fontAlgn="t">
              <a:buNone/>
            </a:pPr>
            <a:r>
              <a:rPr lang="en-US" dirty="0"/>
              <a:t>Introduction = 3</a:t>
            </a:r>
          </a:p>
          <a:p>
            <a:pPr marL="0" indent="0" fontAlgn="t">
              <a:buNone/>
            </a:pPr>
            <a:r>
              <a:rPr lang="en-US" dirty="0"/>
              <a:t>This is the method used in many dissertations and reports because the cover page is completely outside the numbering sequence.</a:t>
            </a:r>
          </a:p>
          <a:p>
            <a:pPr marL="0" indent="0" fontAlgn="t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771856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21D1E-3722-F8DA-27BD-27EDF1466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D1F5A9B-5294-AC3A-AEE5-DC52DA30474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Step 1: Remove Any Existing Page Numbers</a:t>
            </a:r>
          </a:p>
          <a:p>
            <a:pPr lvl="1"/>
            <a:r>
              <a:rPr lang="en-US" dirty="0"/>
              <a:t>Double-click in the footer area.</a:t>
            </a:r>
          </a:p>
          <a:p>
            <a:pPr lvl="1"/>
            <a:r>
              <a:rPr lang="en-US" dirty="0"/>
              <a:t>Go to Header &amp; Footer </a:t>
            </a:r>
            <a:r>
              <a:rPr lang="en-US" dirty="0" err="1"/>
              <a:t>tab.Click</a:t>
            </a:r>
            <a:r>
              <a:rPr lang="en-US" dirty="0"/>
              <a:t> Page Number → Remove Page Numbers.</a:t>
            </a:r>
          </a:p>
          <a:p>
            <a:pPr lvl="1"/>
            <a:r>
              <a:rPr lang="en-US" dirty="0"/>
              <a:t>Close Header &amp; Footer.</a:t>
            </a:r>
          </a:p>
          <a:p>
            <a:r>
              <a:rPr lang="en-US" b="1" dirty="0"/>
              <a:t>Step 2: Create a Separate Section After the Cover Page</a:t>
            </a:r>
          </a:p>
          <a:p>
            <a:pPr lvl="1"/>
            <a:r>
              <a:rPr lang="en-US" dirty="0"/>
              <a:t>Place the cursor at the very end of the Cover Page.</a:t>
            </a:r>
          </a:p>
          <a:p>
            <a:pPr lvl="1"/>
            <a:r>
              <a:rPr lang="en-US" dirty="0"/>
              <a:t>Go to Layout → Breaks.</a:t>
            </a:r>
          </a:p>
          <a:p>
            <a:pPr lvl="1"/>
            <a:r>
              <a:rPr lang="en-US" dirty="0"/>
              <a:t>Under Section Breaks, select Next Page.</a:t>
            </a:r>
          </a:p>
        </p:txBody>
      </p:sp>
    </p:spTree>
    <p:extLst>
      <p:ext uri="{BB962C8B-B14F-4D97-AF65-F5344CB8AC3E}">
        <p14:creationId xmlns:p14="http://schemas.microsoft.com/office/powerpoint/2010/main" val="201669890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53B9F-7B0A-76E8-0422-72E58F0E8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8F9A9-84F2-7735-C331-25F9D665E6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Step 3: Open the Footer on Page 2</a:t>
            </a:r>
          </a:p>
          <a:p>
            <a:pPr lvl="1"/>
            <a:r>
              <a:rPr lang="en-US" dirty="0"/>
              <a:t>Go to Page 2.</a:t>
            </a:r>
          </a:p>
          <a:p>
            <a:pPr lvl="1"/>
            <a:r>
              <a:rPr lang="en-US" dirty="0"/>
              <a:t>Double-click the footer area.</a:t>
            </a:r>
          </a:p>
          <a:p>
            <a:pPr lvl="1"/>
            <a:r>
              <a:rPr lang="en-US" dirty="0"/>
              <a:t>You should see "Section 2" displayed.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Step 4: Break the Link to Section 1In the Header &amp; Footer tab, click Link to Previous.</a:t>
            </a:r>
          </a:p>
          <a:p>
            <a:pPr lvl="1"/>
            <a:r>
              <a:rPr lang="en-US" dirty="0"/>
              <a:t>Make sure it is NOT highlighted.</a:t>
            </a:r>
          </a:p>
          <a:p>
            <a:pPr lvl="1"/>
            <a:r>
              <a:rPr lang="en-US" dirty="0"/>
              <a:t>This is important.</a:t>
            </a:r>
          </a:p>
        </p:txBody>
      </p:sp>
    </p:spTree>
    <p:extLst>
      <p:ext uri="{BB962C8B-B14F-4D97-AF65-F5344CB8AC3E}">
        <p14:creationId xmlns:p14="http://schemas.microsoft.com/office/powerpoint/2010/main" val="118104206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937C9-DA4A-04F1-29D8-B4D74A96D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2531C9-3BFF-D98F-2FD3-AA8E7F7C87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Step 5: Insert the Page Number</a:t>
            </a:r>
          </a:p>
          <a:p>
            <a:pPr lvl="1"/>
            <a:r>
              <a:rPr lang="en-US" dirty="0"/>
              <a:t>While still in the footer on Page 2:</a:t>
            </a:r>
          </a:p>
          <a:p>
            <a:pPr lvl="1"/>
            <a:r>
              <a:rPr lang="en-US" dirty="0"/>
              <a:t>Insert → Page Number → Bottom of Page → Plain Number 2 (or any style you like)</a:t>
            </a:r>
          </a:p>
          <a:p>
            <a:pPr lvl="1"/>
            <a:r>
              <a:rPr lang="en-US" dirty="0"/>
              <a:t>A page number will appear.</a:t>
            </a:r>
          </a:p>
          <a:p>
            <a:pPr marL="0" indent="0">
              <a:buNone/>
            </a:pPr>
            <a:r>
              <a:rPr lang="en-US" b="1" dirty="0"/>
              <a:t>Step 6: Start Numbering at 1</a:t>
            </a:r>
          </a:p>
          <a:p>
            <a:pPr marL="457200" lvl="1" indent="0">
              <a:buNone/>
            </a:pPr>
            <a:r>
              <a:rPr lang="en-US" dirty="0"/>
              <a:t>Click on the page number.</a:t>
            </a:r>
          </a:p>
          <a:p>
            <a:pPr marL="457200" lvl="1" indent="0">
              <a:buNone/>
            </a:pPr>
            <a:r>
              <a:rPr lang="en-US" dirty="0"/>
              <a:t>Go to: Page Number → Format Page Numbers</a:t>
            </a:r>
          </a:p>
          <a:p>
            <a:pPr marL="457200" lvl="1" indent="0">
              <a:buNone/>
            </a:pPr>
            <a:r>
              <a:rPr lang="en-US" dirty="0" err="1"/>
              <a:t>Select:Start</a:t>
            </a:r>
            <a:r>
              <a:rPr lang="en-US" dirty="0"/>
              <a:t> at: 1</a:t>
            </a:r>
          </a:p>
          <a:p>
            <a:pPr marL="457200" lvl="1" indent="0">
              <a:buNone/>
            </a:pPr>
            <a:r>
              <a:rPr lang="en-US" dirty="0"/>
              <a:t>Click OK.</a:t>
            </a:r>
          </a:p>
        </p:txBody>
      </p:sp>
    </p:spTree>
    <p:extLst>
      <p:ext uri="{BB962C8B-B14F-4D97-AF65-F5344CB8AC3E}">
        <p14:creationId xmlns:p14="http://schemas.microsoft.com/office/powerpoint/2010/main" val="263425002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67CFA-CBDE-BA11-545C-1F54A88C5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1077E3-1859-29C4-CADF-4EA0A75673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 7: Remove Number From Cover Page</a:t>
            </a:r>
          </a:p>
          <a:p>
            <a:r>
              <a:rPr lang="en-US" dirty="0"/>
              <a:t>Go to the Cover Page (Page 1).</a:t>
            </a:r>
          </a:p>
          <a:p>
            <a:r>
              <a:rPr lang="en-US" dirty="0"/>
              <a:t>Double-click its footer.</a:t>
            </a:r>
          </a:p>
          <a:p>
            <a:r>
              <a:rPr lang="en-US" dirty="0"/>
              <a:t>Delete any page number if it exists.</a:t>
            </a:r>
          </a:p>
          <a:p>
            <a:r>
              <a:rPr lang="en-US" dirty="0"/>
              <a:t>Because Section 2 is no longer linked, the numbering on Page 2 will stay.</a:t>
            </a:r>
          </a:p>
        </p:txBody>
      </p:sp>
    </p:spTree>
    <p:extLst>
      <p:ext uri="{BB962C8B-B14F-4D97-AF65-F5344CB8AC3E}">
        <p14:creationId xmlns:p14="http://schemas.microsoft.com/office/powerpoint/2010/main" val="29450453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792FC-8E23-64AA-9E66-9D00E37AC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Today's Practical Activity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055EDF-2189-D35E-B78C-67AA57FD33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Students will create:</a:t>
            </a:r>
          </a:p>
          <a:p>
            <a:pPr lvl="1"/>
            <a:r>
              <a:rPr lang="en-US" dirty="0"/>
              <a:t>Cover Page</a:t>
            </a:r>
          </a:p>
          <a:p>
            <a:pPr lvl="1"/>
            <a:r>
              <a:rPr lang="en-US" dirty="0"/>
              <a:t> Student Information Page</a:t>
            </a:r>
          </a:p>
          <a:p>
            <a:pPr lvl="1"/>
            <a:r>
              <a:rPr lang="en-US" dirty="0"/>
              <a:t>Table of Contents Page</a:t>
            </a:r>
          </a:p>
          <a:p>
            <a:pPr lvl="1"/>
            <a:r>
              <a:rPr lang="en-US" dirty="0"/>
              <a:t>Header</a:t>
            </a:r>
          </a:p>
          <a:p>
            <a:pPr lvl="1"/>
            <a:r>
              <a:rPr lang="en-US" dirty="0"/>
              <a:t> Footer</a:t>
            </a:r>
          </a:p>
          <a:p>
            <a:pPr lvl="1"/>
            <a:r>
              <a:rPr lang="en-US" dirty="0"/>
              <a:t> Page Numbering</a:t>
            </a:r>
          </a:p>
          <a:p>
            <a:pPr lvl="1"/>
            <a:r>
              <a:rPr lang="en-US" dirty="0"/>
              <a:t> Basic Report Template</a:t>
            </a:r>
          </a:p>
        </p:txBody>
      </p:sp>
    </p:spTree>
    <p:extLst>
      <p:ext uri="{BB962C8B-B14F-4D97-AF65-F5344CB8AC3E}">
        <p14:creationId xmlns:p14="http://schemas.microsoft.com/office/powerpoint/2010/main" val="30807099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634c330b-3c51-42a1-b13e-90ea1ac015c2}" enabled="1" method="Privileged" siteId="{3b07dc1f-22e7-4be1-ac66-a88bf3550222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2540</Words>
  <Application>Microsoft Office PowerPoint</Application>
  <PresentationFormat>Widescreen</PresentationFormat>
  <Paragraphs>545</Paragraphs>
  <Slides>49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5" baseType="lpstr">
      <vt:lpstr>Aptos</vt:lpstr>
      <vt:lpstr>Aptos Display</vt:lpstr>
      <vt:lpstr>Arial</vt:lpstr>
      <vt:lpstr>Courier New</vt:lpstr>
      <vt:lpstr>Segoe UI</vt:lpstr>
      <vt:lpstr>Office Theme</vt:lpstr>
      <vt:lpstr>Introduction to Report Writing &amp; Project Setup</vt:lpstr>
      <vt:lpstr>What is a Report?</vt:lpstr>
      <vt:lpstr>Purpose of a Report</vt:lpstr>
      <vt:lpstr>Common Types of Reports</vt:lpstr>
      <vt:lpstr>Common Types of Reports</vt:lpstr>
      <vt:lpstr>Characteristics of a Good Report</vt:lpstr>
      <vt:lpstr>Difference Between Essay and Report</vt:lpstr>
      <vt:lpstr>Formal Writing</vt:lpstr>
      <vt:lpstr>Formal Writing Examples</vt:lpstr>
      <vt:lpstr>Structured Writing</vt:lpstr>
      <vt:lpstr>Benefits of Structure</vt:lpstr>
      <vt:lpstr>Evidence-Based Writing</vt:lpstr>
      <vt:lpstr>Evidence-Based Writing</vt:lpstr>
      <vt:lpstr>Objective Writing</vt:lpstr>
      <vt:lpstr>Benefits of Objectivity</vt:lpstr>
      <vt:lpstr>Summary</vt:lpstr>
      <vt:lpstr>Day 2: Document Setup and Professional Layout</vt:lpstr>
      <vt:lpstr>Day 2: Document Setup and Professional Layout</vt:lpstr>
      <vt:lpstr>Day 2: Document Setup and Professional Layout</vt:lpstr>
      <vt:lpstr>Day 2: Components of a Professional Report Layout</vt:lpstr>
      <vt:lpstr>Day 2: Page Size</vt:lpstr>
      <vt:lpstr>Margins</vt:lpstr>
      <vt:lpstr>Orientation</vt:lpstr>
      <vt:lpstr>Sections in a Report</vt:lpstr>
      <vt:lpstr>Headers</vt:lpstr>
      <vt:lpstr>Footers</vt:lpstr>
      <vt:lpstr>Page Numbers</vt:lpstr>
      <vt:lpstr>Heading Hierarchy</vt:lpstr>
      <vt:lpstr>Chapter 1 Structure</vt:lpstr>
      <vt:lpstr>Writing Good Objectives</vt:lpstr>
      <vt:lpstr>Common Mistakes</vt:lpstr>
      <vt:lpstr>Recommended Report Settings</vt:lpstr>
      <vt:lpstr>Recommended Font Format</vt:lpstr>
      <vt:lpstr>Paragraph Formatting </vt:lpstr>
      <vt:lpstr>Custom Header Only on Page 3</vt:lpstr>
      <vt:lpstr>Custom Header Only on Page 3</vt:lpstr>
      <vt:lpstr>Set Paper Size Format</vt:lpstr>
      <vt:lpstr>Set Margins </vt:lpstr>
      <vt:lpstr>Set Orientation </vt:lpstr>
      <vt:lpstr>Add Header </vt:lpstr>
      <vt:lpstr>Add Footer </vt:lpstr>
      <vt:lpstr>Page Number</vt:lpstr>
      <vt:lpstr>Remove Page Number from Cover Page </vt:lpstr>
      <vt:lpstr>Page Number -&gt; Cover Page Formatting </vt:lpstr>
      <vt:lpstr>PowerPoint Presentation</vt:lpstr>
      <vt:lpstr>PowerPoint Presentation</vt:lpstr>
      <vt:lpstr>PowerPoint Presentation</vt:lpstr>
      <vt:lpstr>PowerPoint Presentation</vt:lpstr>
      <vt:lpstr>Today's Practical Activity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Rai, Upama</dc:creator>
  <cp:lastModifiedBy>Rai, Upama</cp:lastModifiedBy>
  <cp:revision>24</cp:revision>
  <dcterms:created xsi:type="dcterms:W3CDTF">2026-08-19T01:19:16Z</dcterms:created>
  <dcterms:modified xsi:type="dcterms:W3CDTF">2026-08-21T06:10:59Z</dcterms:modified>
</cp:coreProperties>
</file>